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atrick Hand" panose="020B0604020202020204" charset="0"/>
      <p:regular r:id="rId17"/>
    </p:embeddedFont>
  </p:embeddedFontLst>
  <p:defaultTextStyle>
    <a:defPPr>
      <a:defRPr lang="kk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-264" y="260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k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57100-BC4F-418B-9D7D-9A3D83B9AEB2}" type="datetimeFigureOut">
              <a:rPr lang="kk-KZ" smtClean="0"/>
              <a:t>18.04.2026</a:t>
            </a:fld>
            <a:endParaRPr lang="kk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k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kk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k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F0C6F-2396-4090-8946-E06D1C59551D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1286526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hyperlink" Target="https://phet.colorado.edu/sims/html/balancing-act/latest/balancing-act_all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29" y="181094"/>
            <a:ext cx="5244941" cy="7867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52473" y="2053709"/>
            <a:ext cx="5524500" cy="60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№9 Зертханалық жұмыс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52473" y="3019782"/>
            <a:ext cx="7211854" cy="1666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Иіндіктің тепе-теңдік шарттарын анықтау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452473" y="5048488"/>
            <a:ext cx="7211854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7-сынып | Физика | Оқу мақсаттары: </a:t>
            </a:r>
            <a:r>
              <a:rPr lang="en-US" sz="1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7.2.4.5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және </a:t>
            </a:r>
            <a:r>
              <a:rPr lang="en-US" sz="1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7.1.3.3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52473" y="5714286"/>
            <a:ext cx="2431852" cy="453866"/>
          </a:xfrm>
          <a:prstGeom prst="roundRect">
            <a:avLst>
              <a:gd name="adj" fmla="val 17881"/>
            </a:avLst>
          </a:prstGeom>
          <a:solidFill>
            <a:srgbClr val="E6E6E6"/>
          </a:solidFill>
          <a:ln/>
        </p:spPr>
      </p:sp>
      <p:sp>
        <p:nvSpPr>
          <p:cNvPr id="8" name="Text 5"/>
          <p:cNvSpPr/>
          <p:nvPr/>
        </p:nvSpPr>
        <p:spPr>
          <a:xfrm>
            <a:off x="6597372" y="5786676"/>
            <a:ext cx="2142053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ЗЕРТХАНАЛЫҚ ЖҰМЫС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005054" y="5706666"/>
            <a:ext cx="2224921" cy="469106"/>
          </a:xfrm>
          <a:prstGeom prst="roundRect">
            <a:avLst>
              <a:gd name="adj" fmla="val 17300"/>
            </a:avLst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57573" y="5786676"/>
            <a:ext cx="1919883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ЖҰПТЫҚ ТАПСЫРМА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52" y="674846"/>
            <a:ext cx="10903625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Сабақтың мақсаттары мен күтілетін нәтижелер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779740" y="1620203"/>
            <a:ext cx="6416635" cy="5934432"/>
          </a:xfrm>
          <a:prstGeom prst="roundRect">
            <a:avLst>
              <a:gd name="adj" fmla="val 2885"/>
            </a:avLst>
          </a:prstGeom>
          <a:solidFill>
            <a:srgbClr val="1C9770"/>
          </a:solidFill>
          <a:ln/>
        </p:spPr>
      </p:sp>
      <p:sp>
        <p:nvSpPr>
          <p:cNvPr id="4" name="Text 2"/>
          <p:cNvSpPr/>
          <p:nvPr/>
        </p:nvSpPr>
        <p:spPr>
          <a:xfrm>
            <a:off x="1017389" y="1854160"/>
            <a:ext cx="237755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Оқу мақсаттары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1017389" y="2545318"/>
            <a:ext cx="118824" cy="118824"/>
          </a:xfrm>
          <a:prstGeom prst="roundRect">
            <a:avLst>
              <a:gd name="adj" fmla="val 384771"/>
            </a:avLst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1370171" y="2414588"/>
            <a:ext cx="5588556" cy="75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7.2.4.5</a:t>
            </a:r>
            <a:r>
              <a:rPr lang="en-US" sz="1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– Тәжірибеде иіндіктің тепе-теңдік шарттарын анықтау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1017389" y="3768209"/>
            <a:ext cx="118824" cy="118824"/>
          </a:xfrm>
          <a:prstGeom prst="roundRect">
            <a:avLst>
              <a:gd name="adj" fmla="val 384771"/>
            </a:avLst>
          </a:prstGeom>
          <a:solidFill>
            <a:srgbClr val="CCCCCC"/>
          </a:solidFill>
          <a:ln/>
        </p:spPr>
      </p:sp>
      <p:sp>
        <p:nvSpPr>
          <p:cNvPr id="8" name="Text 6"/>
          <p:cNvSpPr/>
          <p:nvPr/>
        </p:nvSpPr>
        <p:spPr>
          <a:xfrm>
            <a:off x="1370171" y="3637478"/>
            <a:ext cx="5588556" cy="75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7.1.3.3</a:t>
            </a:r>
            <a:r>
              <a:rPr lang="en-US" sz="1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– Физика кабинетінде қауіпсіздік ережелерін білу және сақтау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12856" y="1854160"/>
            <a:ext cx="264735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Сабақ соңында оқушы: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2856" y="2385298"/>
            <a:ext cx="6074212" cy="3265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Иіндіктің тепе-теңдік шартын тәжірибе арқылы анықтайды</a:t>
            </a:r>
            <a:endParaRPr lang="en-US" sz="1850" dirty="0"/>
          </a:p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Күш моментін иін ұзындығы және күш шамасымен байланыстырады</a:t>
            </a:r>
            <a:endParaRPr lang="en-US" sz="1850" dirty="0"/>
          </a:p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Тәжірибе нәтижесін кестеге түсіріп, қорытынды жасайды</a:t>
            </a:r>
            <a:endParaRPr lang="en-US" sz="1850" dirty="0"/>
          </a:p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Физика кабинетіндегі қауіпсіздік ережелерін сақтайды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612856" y="5913715"/>
            <a:ext cx="6074212" cy="1377672"/>
          </a:xfrm>
          <a:prstGeom prst="roundRect">
            <a:avLst>
              <a:gd name="adj" fmla="val 7249"/>
            </a:avLst>
          </a:prstGeom>
          <a:solidFill>
            <a:srgbClr val="D9D9D9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505" y="6277094"/>
            <a:ext cx="297180" cy="23764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85334" y="6207085"/>
            <a:ext cx="5064085" cy="75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«Кішкентай іске де жауапкершілікпен қара!»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0223" y="658058"/>
            <a:ext cx="7712392" cy="518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Ұйымдастыру кезеңі — Білімді жаңарту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830223" y="1533644"/>
            <a:ext cx="1348145" cy="379214"/>
          </a:xfrm>
          <a:prstGeom prst="roundRect">
            <a:avLst>
              <a:gd name="adj" fmla="val 18392"/>
            </a:avLst>
          </a:prstGeom>
          <a:solidFill>
            <a:srgbClr val="E6E6E6"/>
          </a:solidFill>
          <a:ln/>
        </p:spPr>
      </p:sp>
      <p:sp>
        <p:nvSpPr>
          <p:cNvPr id="4" name="Text 2"/>
          <p:cNvSpPr/>
          <p:nvPr/>
        </p:nvSpPr>
        <p:spPr>
          <a:xfrm>
            <a:off x="954762" y="1595914"/>
            <a:ext cx="1099066" cy="25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⏱</a:t>
            </a: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3+5 минут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30223" y="2113478"/>
            <a:ext cx="12969954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Сабақты бастамас бұрын өткен тақырыптың негізгі ұғымдарын еске түсіреміз. Төмендегі сұрақтарға жауап бер: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0223" y="2622709"/>
            <a:ext cx="6395799" cy="1729145"/>
          </a:xfrm>
          <a:prstGeom prst="roundRect">
            <a:avLst>
              <a:gd name="adj" fmla="val 5042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3083" y="2645569"/>
            <a:ext cx="6350079" cy="622697"/>
          </a:xfrm>
          <a:prstGeom prst="roundRect">
            <a:avLst>
              <a:gd name="adj" fmla="val 9595"/>
            </a:avLst>
          </a:prstGeom>
          <a:solidFill>
            <a:srgbClr val="E6E6E6"/>
          </a:solidFill>
          <a:ln/>
        </p:spPr>
      </p:sp>
      <p:sp>
        <p:nvSpPr>
          <p:cNvPr id="8" name="Text 6"/>
          <p:cNvSpPr/>
          <p:nvPr/>
        </p:nvSpPr>
        <p:spPr>
          <a:xfrm>
            <a:off x="3872389" y="2758559"/>
            <a:ext cx="311348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1060609" y="3446621"/>
            <a:ext cx="2639854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Күш моменті дегеніміз не?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0609" y="3812858"/>
            <a:ext cx="593502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Денені айналдыру әсерін сипаттайтын физикалық шама.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04378" y="2622709"/>
            <a:ext cx="6395799" cy="1729145"/>
          </a:xfrm>
          <a:prstGeom prst="roundRect">
            <a:avLst>
              <a:gd name="adj" fmla="val 5042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27238" y="2645569"/>
            <a:ext cx="6350079" cy="622697"/>
          </a:xfrm>
          <a:prstGeom prst="roundRect">
            <a:avLst>
              <a:gd name="adj" fmla="val 9595"/>
            </a:avLst>
          </a:prstGeom>
          <a:solidFill>
            <a:srgbClr val="E6E6E6"/>
          </a:solidFill>
          <a:ln/>
        </p:spPr>
      </p:sp>
      <p:sp>
        <p:nvSpPr>
          <p:cNvPr id="13" name="Text 11"/>
          <p:cNvSpPr/>
          <p:nvPr/>
        </p:nvSpPr>
        <p:spPr>
          <a:xfrm>
            <a:off x="10446544" y="2758559"/>
            <a:ext cx="311348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7634764" y="3446621"/>
            <a:ext cx="288202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Күш моментінің формуласы?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4764" y="3812858"/>
            <a:ext cx="593502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 = F · l</a:t>
            </a: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күш пен иін ұзындығының көбейтіндісі.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0223" y="4530209"/>
            <a:ext cx="6395799" cy="2037755"/>
          </a:xfrm>
          <a:prstGeom prst="roundRect">
            <a:avLst>
              <a:gd name="adj" fmla="val 4278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3083" y="4553069"/>
            <a:ext cx="6350079" cy="622697"/>
          </a:xfrm>
          <a:prstGeom prst="roundRect">
            <a:avLst>
              <a:gd name="adj" fmla="val 9595"/>
            </a:avLst>
          </a:prstGeom>
          <a:solidFill>
            <a:srgbClr val="E6E6E6"/>
          </a:solidFill>
          <a:ln/>
        </p:spPr>
      </p:sp>
      <p:sp>
        <p:nvSpPr>
          <p:cNvPr id="18" name="Text 16"/>
          <p:cNvSpPr/>
          <p:nvPr/>
        </p:nvSpPr>
        <p:spPr>
          <a:xfrm>
            <a:off x="3872389" y="4666059"/>
            <a:ext cx="311348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450" dirty="0"/>
          </a:p>
        </p:txBody>
      </p:sp>
      <p:sp>
        <p:nvSpPr>
          <p:cNvPr id="19" name="Text 17"/>
          <p:cNvSpPr/>
          <p:nvPr/>
        </p:nvSpPr>
        <p:spPr>
          <a:xfrm>
            <a:off x="1060609" y="5354122"/>
            <a:ext cx="207561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Иіндік дегеніміз не?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0609" y="5720358"/>
            <a:ext cx="593502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Қозғалмайтын тірек нүктесі бар қатты дене.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04378" y="4530209"/>
            <a:ext cx="6395799" cy="2037755"/>
          </a:xfrm>
          <a:prstGeom prst="roundRect">
            <a:avLst>
              <a:gd name="adj" fmla="val 4278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27238" y="4553069"/>
            <a:ext cx="6350079" cy="622697"/>
          </a:xfrm>
          <a:prstGeom prst="roundRect">
            <a:avLst>
              <a:gd name="adj" fmla="val 9595"/>
            </a:avLst>
          </a:prstGeom>
          <a:solidFill>
            <a:srgbClr val="E6E6E6"/>
          </a:solidFill>
          <a:ln/>
        </p:spPr>
      </p:sp>
      <p:sp>
        <p:nvSpPr>
          <p:cNvPr id="23" name="Text 21"/>
          <p:cNvSpPr/>
          <p:nvPr/>
        </p:nvSpPr>
        <p:spPr>
          <a:xfrm>
            <a:off x="10446544" y="4666059"/>
            <a:ext cx="311348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2450" dirty="0"/>
          </a:p>
        </p:txBody>
      </p:sp>
      <p:sp>
        <p:nvSpPr>
          <p:cNvPr id="24" name="Text 22"/>
          <p:cNvSpPr/>
          <p:nvPr/>
        </p:nvSpPr>
        <p:spPr>
          <a:xfrm>
            <a:off x="7634764" y="5354122"/>
            <a:ext cx="2761655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Иін ұзындығы дегеніміз не?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34764" y="5720358"/>
            <a:ext cx="593502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Тірек нүктесінен күштің әсер ету сызығына дейінгі ең қысқа қашықтық.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0223" y="6768584"/>
            <a:ext cx="12969954" cy="802958"/>
          </a:xfrm>
          <a:prstGeom prst="roundRect">
            <a:avLst>
              <a:gd name="adj" fmla="val 10857"/>
            </a:avLst>
          </a:prstGeom>
          <a:solidFill>
            <a:srgbClr val="B6D6FC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749" y="7074813"/>
            <a:ext cx="259437" cy="20752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504712" y="6998732"/>
            <a:ext cx="12087939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Егер күш артса — момент өседі. Иін ұзарса — момент та өседі. </a:t>
            </a:r>
            <a:r>
              <a:rPr lang="en-US" sz="160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Бағалау: 2 балл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3028" y="597098"/>
            <a:ext cx="8106132" cy="471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Жаңа білімді меңгеру — Теориялық конспект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1363028" y="1363623"/>
            <a:ext cx="1143714" cy="335756"/>
          </a:xfrm>
          <a:prstGeom prst="roundRect">
            <a:avLst>
              <a:gd name="adj" fmla="val 18884"/>
            </a:avLst>
          </a:prstGeom>
          <a:solidFill>
            <a:srgbClr val="E6E6E6"/>
          </a:solidFill>
          <a:ln/>
        </p:spPr>
      </p:sp>
      <p:sp>
        <p:nvSpPr>
          <p:cNvPr id="4" name="Text 2"/>
          <p:cNvSpPr/>
          <p:nvPr/>
        </p:nvSpPr>
        <p:spPr>
          <a:xfrm>
            <a:off x="1476137" y="1420178"/>
            <a:ext cx="9174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⏱</a:t>
            </a: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10 минут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363028" y="2012513"/>
            <a:ext cx="1887022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Негізгі ұғымдар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340168" y="2391251"/>
            <a:ext cx="45720" cy="96666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5"/>
          <p:cNvSpPr/>
          <p:nvPr/>
        </p:nvSpPr>
        <p:spPr>
          <a:xfrm>
            <a:off x="1597343" y="2414111"/>
            <a:ext cx="1887022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Иіндік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97343" y="2797373"/>
            <a:ext cx="5487710" cy="53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Қозғалмайтын тірек нүктесі бар қатты дене. Мысалы: қайшы, тістеуік, ара.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340168" y="3606998"/>
            <a:ext cx="45720" cy="6978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Text 8"/>
          <p:cNvSpPr/>
          <p:nvPr/>
        </p:nvSpPr>
        <p:spPr>
          <a:xfrm>
            <a:off x="1597343" y="3629858"/>
            <a:ext cx="1887022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Тірек нүктесі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97343" y="4013121"/>
            <a:ext cx="5487710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Иіндік айналатын орталық нүкте.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340168" y="4553902"/>
            <a:ext cx="45720" cy="96666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Text 11"/>
          <p:cNvSpPr/>
          <p:nvPr/>
        </p:nvSpPr>
        <p:spPr>
          <a:xfrm>
            <a:off x="1597343" y="4576762"/>
            <a:ext cx="1887022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Күш иіні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597343" y="4960025"/>
            <a:ext cx="5487710" cy="53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Тірек нүктесінен күштің әсер ету сызығына дейінгі ең қысқа қашықтық.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340168" y="5769650"/>
            <a:ext cx="45720" cy="6978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" name="Text 14"/>
          <p:cNvSpPr/>
          <p:nvPr/>
        </p:nvSpPr>
        <p:spPr>
          <a:xfrm>
            <a:off x="1597343" y="5792510"/>
            <a:ext cx="1887022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Күш моменті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597343" y="6175772"/>
            <a:ext cx="5487710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Денені айналдыру әсерін сипаттайтын шама. </a:t>
            </a:r>
            <a:r>
              <a:rPr lang="en-US" sz="14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 = F · 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552968" y="2012513"/>
            <a:ext cx="1887022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Тепе-теңдік шарты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835979" y="2414111"/>
            <a:ext cx="5439013" cy="80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Иіндік тепе-теңдікте болуы үшін — сағат тілі бағытымен және сағат тіліне қарсы бағыттағы моменттер </a:t>
            </a:r>
            <a:r>
              <a:rPr lang="en-US" sz="14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тең</a:t>
            </a: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болуы керек.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552968" y="2414111"/>
            <a:ext cx="22860" cy="806529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Shape 19"/>
          <p:cNvSpPr/>
          <p:nvPr/>
        </p:nvSpPr>
        <p:spPr>
          <a:xfrm>
            <a:off x="7552968" y="3386376"/>
            <a:ext cx="5722025" cy="1228011"/>
          </a:xfrm>
          <a:prstGeom prst="roundRect">
            <a:avLst>
              <a:gd name="adj" fmla="val 6454"/>
            </a:avLst>
          </a:prstGeom>
          <a:solidFill>
            <a:srgbClr val="B6FCB8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563" y="3655219"/>
            <a:ext cx="235863" cy="18859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166021" y="3580924"/>
            <a:ext cx="4920377" cy="80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F₁ · l₁ = F₂ · l₂</a:t>
            </a:r>
            <a:r>
              <a:rPr lang="en-US" sz="14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Бір жақтағы күш аз болса, ұзын иін арқылы теңестіруге болады!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552968" y="4780121"/>
            <a:ext cx="1887022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Өмірдегі қолданысы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552968" y="5163383"/>
            <a:ext cx="5722025" cy="909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Таразы, әткеншек, қайшы, тістеуік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Лом, шеге суырғыш, арба кілті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Құдық шығыршығы, есік тұтқасы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7552968" y="6238756"/>
            <a:ext cx="5722025" cy="1228011"/>
          </a:xfrm>
          <a:prstGeom prst="roundRect">
            <a:avLst>
              <a:gd name="adj" fmla="val 6454"/>
            </a:avLst>
          </a:prstGeom>
          <a:solidFill>
            <a:srgbClr val="D9D9D9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563" y="6507599"/>
            <a:ext cx="235863" cy="18859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166021" y="6433304"/>
            <a:ext cx="4920377" cy="80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Неліктен есікті тұтқасынан ашу оңай, ал ілгекке жақын жерінен ашу қиын? </a:t>
            </a:r>
            <a:r>
              <a:rPr lang="en-US" sz="1450" i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(Тұтқа тіректен алыс → иін үлкен → аз күшпен үлкен момент туады)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3" y="144304"/>
            <a:ext cx="5293995" cy="79409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258" y="573762"/>
            <a:ext cx="7604284" cy="962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Қауіпсіздік ережелері — Зертханаға кіріспес бұрын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832878" y="1832134"/>
            <a:ext cx="2142173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Жүктерді ақырын іліңіз</a:t>
            </a:r>
            <a:endParaRPr lang="en-US" sz="1500" b="1" dirty="0"/>
          </a:p>
        </p:txBody>
      </p:sp>
      <p:sp>
        <p:nvSpPr>
          <p:cNvPr id="7" name="Text 3"/>
          <p:cNvSpPr/>
          <p:nvPr/>
        </p:nvSpPr>
        <p:spPr>
          <a:xfrm>
            <a:off x="6832878" y="2164675"/>
            <a:ext cx="7027664" cy="55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Жүктерді иіндікке кенеттен іліп немесе алып тастамаңыз — иіндік күрт ауытқуы мүмкін.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832878" y="3090863"/>
            <a:ext cx="3118485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Серіктеспен келісіп жұмыс істеңіз</a:t>
            </a:r>
            <a:endParaRPr lang="en-US" sz="1500" b="1" dirty="0"/>
          </a:p>
        </p:txBody>
      </p:sp>
      <p:sp>
        <p:nvSpPr>
          <p:cNvPr id="10" name="Text 5"/>
          <p:cNvSpPr/>
          <p:nvPr/>
        </p:nvSpPr>
        <p:spPr>
          <a:xfrm>
            <a:off x="6832878" y="3423404"/>
            <a:ext cx="7027664" cy="55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Барлық өлшеулер мен өзгерістерді жұптасып, бір-бірімен келісе отырып орындаңыз.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6832878" y="4349591"/>
            <a:ext cx="3532823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Құралдарды орнымен пайдаланыңыз</a:t>
            </a:r>
            <a:endParaRPr lang="en-US" sz="1500" b="1" dirty="0"/>
          </a:p>
        </p:txBody>
      </p:sp>
      <p:sp>
        <p:nvSpPr>
          <p:cNvPr id="13" name="Text 7"/>
          <p:cNvSpPr/>
          <p:nvPr/>
        </p:nvSpPr>
        <p:spPr>
          <a:xfrm>
            <a:off x="6832878" y="4682133"/>
            <a:ext cx="7027664" cy="55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Зертханалық құралдарды тек мақсатына сай қолданып, жұмыс аяқталған соң орнына қойыңыз.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6832878" y="5608320"/>
            <a:ext cx="2535912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Иіндікті бірден босатпаңыз</a:t>
            </a:r>
            <a:endParaRPr lang="en-US" sz="1500" b="1" dirty="0"/>
          </a:p>
        </p:txBody>
      </p:sp>
      <p:sp>
        <p:nvSpPr>
          <p:cNvPr id="16" name="Text 9"/>
          <p:cNvSpPr/>
          <p:nvPr/>
        </p:nvSpPr>
        <p:spPr>
          <a:xfrm>
            <a:off x="6832878" y="5940862"/>
            <a:ext cx="7027664" cy="55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Жүк іліп болған соң иіндікті ақырын жіберіңіз, кенеттен жіберу жарақатқа әкелуі мүмкін.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6256258" y="6666786"/>
            <a:ext cx="7604284" cy="989052"/>
          </a:xfrm>
          <a:prstGeom prst="roundRect">
            <a:avLst>
              <a:gd name="adj" fmla="val 8174"/>
            </a:avLst>
          </a:prstGeom>
          <a:solidFill>
            <a:srgbClr val="FCF2B5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663" y="6944678"/>
            <a:ext cx="240506" cy="19240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81574" y="6868239"/>
            <a:ext cx="6786563" cy="55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Физика кабинетіндегі қауіпсіздік ережелерін бұзу — бағаны төмендетеді және жарақатқа әкелуі мүмкін!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9158" y="485299"/>
            <a:ext cx="9336048" cy="43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Практикалық тапсырма 1 — Жұптық зертханалық жұмыс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39158" y="1176457"/>
            <a:ext cx="1048941" cy="294918"/>
          </a:xfrm>
          <a:prstGeom prst="roundRect">
            <a:avLst>
              <a:gd name="adj" fmla="val 19779"/>
            </a:avLst>
          </a:prstGeom>
          <a:solidFill>
            <a:srgbClr val="E6E6E6"/>
          </a:solidFill>
          <a:ln/>
        </p:spPr>
      </p:sp>
      <p:sp>
        <p:nvSpPr>
          <p:cNvPr id="4" name="Text 2"/>
          <p:cNvSpPr/>
          <p:nvPr/>
        </p:nvSpPr>
        <p:spPr>
          <a:xfrm>
            <a:off x="1943219" y="1228487"/>
            <a:ext cx="840819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⏱</a:t>
            </a: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15 минут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74896" y="1168837"/>
            <a:ext cx="1361361" cy="310158"/>
          </a:xfrm>
          <a:prstGeom prst="roundRect">
            <a:avLst>
              <a:gd name="adj" fmla="val 18807"/>
            </a:avLst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86576" y="1228487"/>
            <a:ext cx="1137999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ЖҰПТЫҚ ЖҰМЫС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39158" y="1744147"/>
            <a:ext cx="1736050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Жұмыс барысы: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839158" y="2101453"/>
            <a:ext cx="347186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01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839158" y="2373511"/>
            <a:ext cx="5264348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Text 8"/>
          <p:cNvSpPr/>
          <p:nvPr/>
        </p:nvSpPr>
        <p:spPr>
          <a:xfrm>
            <a:off x="1839158" y="2506028"/>
            <a:ext cx="526434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Құралдарды тексеріп, иіндікті тірекке орналастыру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39158" y="2999542"/>
            <a:ext cx="347186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02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839158" y="3271599"/>
            <a:ext cx="5264348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Text 11"/>
          <p:cNvSpPr/>
          <p:nvPr/>
        </p:nvSpPr>
        <p:spPr>
          <a:xfrm>
            <a:off x="1839158" y="3404116"/>
            <a:ext cx="526434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Бір жағына белгілі жүк ілу (F₁ мәнін жазу)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39158" y="3897630"/>
            <a:ext cx="347186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03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839158" y="4169688"/>
            <a:ext cx="5264348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" name="Text 14"/>
          <p:cNvSpPr/>
          <p:nvPr/>
        </p:nvSpPr>
        <p:spPr>
          <a:xfrm>
            <a:off x="1839158" y="4302204"/>
            <a:ext cx="5264348" cy="47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Екінші жағына жүкті әртүрлі қашықтыққа іліп тепе-теңдікке келтіру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39158" y="5034320"/>
            <a:ext cx="347186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04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839158" y="5306378"/>
            <a:ext cx="5264348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" name="Text 17"/>
          <p:cNvSpPr/>
          <p:nvPr/>
        </p:nvSpPr>
        <p:spPr>
          <a:xfrm>
            <a:off x="1839158" y="5438894"/>
            <a:ext cx="526434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Әр тәжірибеде күш пен иінді өлшеп, кестеге жазу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839158" y="5932408"/>
            <a:ext cx="347186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05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839158" y="6204466"/>
            <a:ext cx="5264348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Text 20"/>
          <p:cNvSpPr/>
          <p:nvPr/>
        </p:nvSpPr>
        <p:spPr>
          <a:xfrm>
            <a:off x="1839158" y="6336983"/>
            <a:ext cx="526434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Екі жақтың моменттерін есептеу: M₁ = F₁·l₁ және M₂ = F₂·l₂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839158" y="6830497"/>
            <a:ext cx="347186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06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839158" y="7102554"/>
            <a:ext cx="5264348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23"/>
          <p:cNvSpPr/>
          <p:nvPr/>
        </p:nvSpPr>
        <p:spPr>
          <a:xfrm>
            <a:off x="1839158" y="7235071"/>
            <a:ext cx="526434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Нәтижелерді салыстырып, қорытынды шығару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34513" y="1744147"/>
            <a:ext cx="426874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Кесте үлгісі — нәтижелерді осы форматта жазыңыз: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534513" y="2101453"/>
            <a:ext cx="5264348" cy="1651635"/>
          </a:xfrm>
          <a:prstGeom prst="roundRect">
            <a:avLst>
              <a:gd name="adj" fmla="val 441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6202" y="2191464"/>
            <a:ext cx="6881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№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39827" y="2191464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F₁ (Н)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084588" y="2191464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l₁ (м)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029349" y="2191464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F₂ (Н)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974110" y="2191464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l₂ (м)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1918871" y="2191464"/>
            <a:ext cx="69877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M₁=M₂?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716202" y="2602468"/>
            <a:ext cx="6881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139827" y="2602468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084588" y="2602468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029349" y="2602468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974110" y="2602468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1918871" y="2602468"/>
            <a:ext cx="69877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716202" y="3013472"/>
            <a:ext cx="6881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139827" y="3013472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084588" y="3013472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029349" y="3013472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974110" y="3013472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1918871" y="3013472"/>
            <a:ext cx="69877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716202" y="3424476"/>
            <a:ext cx="6881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139827" y="3424476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9084588" y="3424476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029349" y="3424476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0974110" y="3424476"/>
            <a:ext cx="5899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1918871" y="3424476"/>
            <a:ext cx="69877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7534513" y="3893463"/>
            <a:ext cx="5264348" cy="844391"/>
          </a:xfrm>
          <a:prstGeom prst="roundRect">
            <a:avLst>
              <a:gd name="adj" fmla="val 8635"/>
            </a:avLst>
          </a:prstGeom>
          <a:solidFill>
            <a:srgbClr val="B6FCB8"/>
          </a:solidFill>
          <a:ln/>
        </p:spPr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106" y="4141351"/>
            <a:ext cx="216932" cy="173593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8098631" y="4061579"/>
            <a:ext cx="4526637" cy="47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Күтілетін қорытынды: иіндік тепе-теңдікте болғанда </a:t>
            </a:r>
            <a:r>
              <a:rPr lang="en-US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F₁·l₁ = F₂·l₂</a:t>
            </a:r>
            <a:r>
              <a:rPr lang="en-US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орындалады!</a:t>
            </a:r>
            <a:endParaRPr lang="en-US" dirty="0"/>
          </a:p>
        </p:txBody>
      </p:sp>
      <p:pic>
        <p:nvPicPr>
          <p:cNvPr id="55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513" y="4878229"/>
            <a:ext cx="2074902" cy="4773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32219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393" y="139898"/>
            <a:ext cx="5301615" cy="7952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2058" y="478369"/>
            <a:ext cx="11057149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Практикалық тапсырма 2 — Функционалдық сауаттылық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73166" y="1253549"/>
            <a:ext cx="1056561" cy="319683"/>
          </a:xfrm>
          <a:prstGeom prst="roundRect">
            <a:avLst>
              <a:gd name="adj" fmla="val 19437"/>
            </a:avLst>
          </a:prstGeom>
          <a:solidFill>
            <a:srgbClr val="E6E6E6"/>
          </a:solidFill>
          <a:ln/>
        </p:spPr>
      </p:sp>
      <p:sp>
        <p:nvSpPr>
          <p:cNvPr id="6" name="Text 3"/>
          <p:cNvSpPr/>
          <p:nvPr/>
        </p:nvSpPr>
        <p:spPr>
          <a:xfrm>
            <a:off x="684013" y="1308913"/>
            <a:ext cx="83486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⏱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4 минут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722119" y="1253549"/>
            <a:ext cx="1727835" cy="319683"/>
          </a:xfrm>
          <a:prstGeom prst="roundRect">
            <a:avLst>
              <a:gd name="adj" fmla="val 19437"/>
            </a:avLst>
          </a:prstGeom>
          <a:solidFill>
            <a:srgbClr val="E6E6E6"/>
          </a:solidFill>
          <a:ln/>
        </p:spPr>
      </p:sp>
      <p:sp>
        <p:nvSpPr>
          <p:cNvPr id="8" name="Text 5"/>
          <p:cNvSpPr/>
          <p:nvPr/>
        </p:nvSpPr>
        <p:spPr>
          <a:xfrm>
            <a:off x="1832967" y="1308913"/>
            <a:ext cx="150614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3-ТАПСЫРМА: 2 БАЛЛ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0463" y="1891605"/>
            <a:ext cx="7387471" cy="78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«Құрылысшы ұзын темірді пайдаланып ауыр тасты көтермек болды. Бірінші жағдайда ол </a:t>
            </a: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қысқа темір</a:t>
            </a: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қолданды, екінші жағдайда </a:t>
            </a: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ұзын темір</a:t>
            </a: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қолданды. Қай жағдайда жұмысы жеңілдейді? Неліктен?»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3166" y="1732418"/>
            <a:ext cx="22860" cy="110168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Shape 8"/>
          <p:cNvSpPr/>
          <p:nvPr/>
        </p:nvSpPr>
        <p:spPr>
          <a:xfrm>
            <a:off x="440054" y="2993290"/>
            <a:ext cx="3873103" cy="4338757"/>
          </a:xfrm>
          <a:prstGeom prst="roundRect">
            <a:avLst>
              <a:gd name="adj" fmla="val 3438"/>
            </a:avLst>
          </a:prstGeom>
          <a:solidFill>
            <a:srgbClr val="1C9770"/>
          </a:solidFill>
          <a:ln/>
        </p:spPr>
      </p:sp>
      <p:sp>
        <p:nvSpPr>
          <p:cNvPr id="12" name="Text 9"/>
          <p:cNvSpPr/>
          <p:nvPr/>
        </p:nvSpPr>
        <p:spPr>
          <a:xfrm>
            <a:off x="624958" y="3134855"/>
            <a:ext cx="1849279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Талдау: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4958" y="3507521"/>
            <a:ext cx="3503295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Ұзын темір қолданғанда иін </a:t>
            </a:r>
            <a:r>
              <a:rPr lang="en-US" sz="160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</a:t>
            </a:r>
            <a:r>
              <a:rPr lang="en-US" sz="16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өседі. </a:t>
            </a:r>
            <a:r>
              <a:rPr lang="en-US" sz="160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 = F · l</a:t>
            </a:r>
            <a:r>
              <a:rPr lang="en-US" sz="16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формуласы бойынша — иін ұзарса, аз күшпен үлкен момент туады. Демек, ауыр тасты көтеруге </a:t>
            </a:r>
            <a:r>
              <a:rPr lang="en-US" sz="160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аз күш жұмсалады</a:t>
            </a:r>
            <a:r>
              <a:rPr lang="en-US" sz="16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38674" y="3134855"/>
            <a:ext cx="1849279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Өмірмен байланыс:</a:t>
            </a:r>
            <a:endParaRPr lang="en-US" sz="1600" b="1" dirty="0"/>
          </a:p>
        </p:txBody>
      </p:sp>
      <p:sp>
        <p:nvSpPr>
          <p:cNvPr id="15" name="Text 12"/>
          <p:cNvSpPr/>
          <p:nvPr/>
        </p:nvSpPr>
        <p:spPr>
          <a:xfrm>
            <a:off x="4638674" y="3507521"/>
            <a:ext cx="3606879" cy="1143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Құрылысшы — ұзын лом пайдаланады</a:t>
            </a:r>
            <a:endParaRPr lang="en-US" sz="16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Механик — ұзын кілт таңдайды</a:t>
            </a:r>
            <a:endParaRPr lang="en-US" sz="16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Жөндеуші — ұзын бұрауыш алады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38674" y="4778394"/>
            <a:ext cx="3606879" cy="78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Құрал ұзындығын дұрыс таңдаса: еңбек жеңілдейді, уақыт үнемделеді, қауіпсіздік артады.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38674" y="5720893"/>
            <a:ext cx="3606879" cy="1451967"/>
          </a:xfrm>
          <a:prstGeom prst="roundRect">
            <a:avLst>
              <a:gd name="adj" fmla="val 5349"/>
            </a:avLst>
          </a:prstGeom>
          <a:solidFill>
            <a:srgbClr val="D9D9D9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578" y="5980687"/>
            <a:ext cx="231100" cy="1849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9583" y="5908654"/>
            <a:ext cx="2821067" cy="104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Бағалау критерийі:</a:t>
            </a:r>
            <a:r>
              <a:rPr lang="en-US" sz="16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физикалық заңдылықты өмірлік жағдаятпен байланыстырады.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1971" y="539710"/>
            <a:ext cx="10312122" cy="462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Практикалық тапсырма 3 — Ұлттық мазмұндағы тапсырма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1481971" y="1285042"/>
            <a:ext cx="1067395" cy="319683"/>
          </a:xfrm>
          <a:prstGeom prst="roundRect">
            <a:avLst>
              <a:gd name="adj" fmla="val 19437"/>
            </a:avLst>
          </a:prstGeom>
          <a:solidFill>
            <a:srgbClr val="E6E6E6"/>
          </a:solidFill>
          <a:ln/>
        </p:spPr>
      </p:sp>
      <p:sp>
        <p:nvSpPr>
          <p:cNvPr id="4" name="Text 2"/>
          <p:cNvSpPr/>
          <p:nvPr/>
        </p:nvSpPr>
        <p:spPr>
          <a:xfrm>
            <a:off x="1592818" y="1340406"/>
            <a:ext cx="84570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⏱</a:t>
            </a: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3 минут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641759" y="1285042"/>
            <a:ext cx="1701522" cy="319683"/>
          </a:xfrm>
          <a:prstGeom prst="roundRect">
            <a:avLst>
              <a:gd name="adj" fmla="val 19437"/>
            </a:avLst>
          </a:prstGeom>
          <a:solidFill>
            <a:srgbClr val="E6E6E6"/>
          </a:solidFill>
          <a:ln/>
        </p:spPr>
      </p:sp>
      <p:sp>
        <p:nvSpPr>
          <p:cNvPr id="6" name="Text 4"/>
          <p:cNvSpPr/>
          <p:nvPr/>
        </p:nvSpPr>
        <p:spPr>
          <a:xfrm>
            <a:off x="2752606" y="1340406"/>
            <a:ext cx="147982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4-ТАПСЫРМА: 1 БАЛЛ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36223" y="1365242"/>
            <a:ext cx="230451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Тапсырма — Алтыбақан: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413520" y="1755529"/>
            <a:ext cx="5759869" cy="78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«Алтыбақан тебу кезінде неге адамдар орындарын тең бөліп, салмақ пен арақашықтықты ескереді? Бұл жерде иіндіктің тепе-теңдік шарты қалай көрінеді?»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7136222" y="1755529"/>
            <a:ext cx="45719" cy="78331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Text 8"/>
          <p:cNvSpPr/>
          <p:nvPr/>
        </p:nvSpPr>
        <p:spPr>
          <a:xfrm>
            <a:off x="7136223" y="2698028"/>
            <a:ext cx="1998309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Жауап: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136222" y="3070694"/>
            <a:ext cx="6059513" cy="104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Алтыбақанның екі жағындағы күштер мен иін ұзындықтарының </a:t>
            </a:r>
            <a:r>
              <a:rPr lang="en-US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моменттері тең болуы</a:t>
            </a: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керек: </a:t>
            </a:r>
            <a:r>
              <a:rPr lang="en-US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F₁·l₁ = F₂·l₂</a:t>
            </a: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Тепе-теңдік сақталмаса, қозғалыс ыңғайсыз немесе қауіпті болады.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7136222" y="4274296"/>
            <a:ext cx="6059513" cy="1190863"/>
          </a:xfrm>
          <a:prstGeom prst="roundRect">
            <a:avLst>
              <a:gd name="adj" fmla="val 6522"/>
            </a:avLst>
          </a:prstGeom>
          <a:solidFill>
            <a:srgbClr val="B6FCB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127" y="4534091"/>
            <a:ext cx="249724" cy="184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37132" y="4462058"/>
            <a:ext cx="5210373" cy="78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Дәстүрлі ойындарда да тәртіп, өзара сыйластық, қауіпсіздік және жауапкершілік маңызды — бұл қазақтың ұлттық құндылықтары!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7136222" y="5624346"/>
            <a:ext cx="6059513" cy="929759"/>
          </a:xfrm>
          <a:prstGeom prst="roundRect">
            <a:avLst>
              <a:gd name="adj" fmla="val 8354"/>
            </a:avLst>
          </a:prstGeom>
          <a:solidFill>
            <a:srgbClr val="D9D9D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127" y="5884140"/>
            <a:ext cx="249724" cy="18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37132" y="5812108"/>
            <a:ext cx="5210373" cy="52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Бағалау критерийі:</a:t>
            </a:r>
            <a:r>
              <a:rPr lang="en-US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ұлттық тұрмыс пен физикалық заңдылық арасындағы байланысты түсіндіреді.</a:t>
            </a:r>
            <a:endParaRPr lang="en-US" dirty="0"/>
          </a:p>
        </p:txBody>
      </p:sp>
      <p:pic>
        <p:nvPicPr>
          <p:cNvPr id="19" name="Рисунок 18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7" y="1755529"/>
            <a:ext cx="5462375" cy="47985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467" y="689253"/>
            <a:ext cx="8498443" cy="547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Практикалық тапсырма 4 — Есеп шығару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75467" y="1633180"/>
            <a:ext cx="1263610" cy="405884"/>
          </a:xfrm>
          <a:prstGeom prst="roundRect">
            <a:avLst>
              <a:gd name="adj" fmla="val 18121"/>
            </a:avLst>
          </a:prstGeom>
          <a:solidFill>
            <a:srgbClr val="E6E6E6"/>
          </a:solidFill>
          <a:ln/>
        </p:spPr>
      </p:sp>
      <p:sp>
        <p:nvSpPr>
          <p:cNvPr id="4" name="Text 2"/>
          <p:cNvSpPr/>
          <p:nvPr/>
        </p:nvSpPr>
        <p:spPr>
          <a:xfrm>
            <a:off x="1006793" y="1698784"/>
            <a:ext cx="100095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⏱</a:t>
            </a:r>
            <a:r>
              <a:rPr lang="en-US" sz="1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3 минут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248495" y="1636990"/>
            <a:ext cx="2022515" cy="398264"/>
          </a:xfrm>
          <a:prstGeom prst="roundRect">
            <a:avLst>
              <a:gd name="adj" fmla="val 18467"/>
            </a:avLst>
          </a:prstGeom>
          <a:solidFill>
            <a:srgbClr val="E6E6E6"/>
          </a:solidFill>
          <a:ln/>
        </p:spPr>
      </p:sp>
      <p:sp>
        <p:nvSpPr>
          <p:cNvPr id="6" name="Text 4"/>
          <p:cNvSpPr/>
          <p:nvPr/>
        </p:nvSpPr>
        <p:spPr>
          <a:xfrm>
            <a:off x="2379821" y="1702594"/>
            <a:ext cx="1759863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5-ТАПСЫРМА: 1 БАЛЛ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5467" y="2118360"/>
            <a:ext cx="2188845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Есеп шарты: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5467" y="2689384"/>
            <a:ext cx="12879467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Иіндіктің бір жағында </a:t>
            </a:r>
            <a:r>
              <a:rPr lang="en-US" sz="17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20 Н</a:t>
            </a: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күш тіректен </a:t>
            </a:r>
            <a:r>
              <a:rPr lang="en-US" sz="17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0,4 м</a:t>
            </a: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қашықтықта әсер етеді. Екінші жағында иін ұзындығы </a:t>
            </a:r>
            <a:r>
              <a:rPr lang="en-US" sz="17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0,2 м</a:t>
            </a: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болса, тепе-теңдік үшін қандай күш қажет?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5467" y="3654147"/>
            <a:ext cx="2188845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Шешу: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75467" y="4225171"/>
            <a:ext cx="437674" cy="273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75467" y="4566642"/>
            <a:ext cx="6340554" cy="30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Text 10"/>
          <p:cNvSpPr/>
          <p:nvPr/>
        </p:nvSpPr>
        <p:spPr>
          <a:xfrm>
            <a:off x="875467" y="4737021"/>
            <a:ext cx="6340554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Берілгені:</a:t>
            </a: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F₁ = 20 Н, l₁ = 0,4 м, l₂ = 0,2 м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14379" y="4225171"/>
            <a:ext cx="437674" cy="273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14379" y="4566642"/>
            <a:ext cx="6340554" cy="30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/>
          <p:nvPr/>
        </p:nvSpPr>
        <p:spPr>
          <a:xfrm>
            <a:off x="7414379" y="4737021"/>
            <a:ext cx="6340554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Формула:</a:t>
            </a: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F₁ · l₁ = F₂ · l₂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75467" y="5433060"/>
            <a:ext cx="437674" cy="273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75467" y="5774531"/>
            <a:ext cx="6340554" cy="30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6"/>
          <p:cNvSpPr/>
          <p:nvPr/>
        </p:nvSpPr>
        <p:spPr>
          <a:xfrm>
            <a:off x="875467" y="5944910"/>
            <a:ext cx="6340554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Есептеу:</a:t>
            </a: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20 · 0,4 = F₂ · 0,2 → 8 = 0,2 · F₂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14379" y="5433060"/>
            <a:ext cx="437674" cy="273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414379" y="5774531"/>
            <a:ext cx="6340554" cy="30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7414379" y="5944910"/>
            <a:ext cx="6340554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Жауап:</a:t>
            </a: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F₂ = 8 ÷ 0,2 = </a:t>
            </a:r>
            <a:r>
              <a:rPr lang="en-US" sz="1700" b="1" dirty="0">
                <a:solidFill>
                  <a:srgbClr val="1C977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40 Н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75467" y="6665714"/>
            <a:ext cx="12879467" cy="874514"/>
          </a:xfrm>
          <a:prstGeom prst="roundRect">
            <a:avLst>
              <a:gd name="adj" fmla="val 10513"/>
            </a:avLst>
          </a:prstGeom>
          <a:solidFill>
            <a:srgbClr val="D9D9D9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303" y="6991469"/>
            <a:ext cx="273606" cy="21883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86746" y="6918722"/>
            <a:ext cx="11949351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Бағалау критерийі:</a:t>
            </a:r>
            <a:r>
              <a:rPr lang="en-US" sz="17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иіндіктің тепе-теңдік шартын есепте дұрыс қолданады.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344" y="769858"/>
            <a:ext cx="6599753" cy="528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Рефлексия және Үй тапсырмасы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845344" y="1667947"/>
            <a:ext cx="1347788" cy="380286"/>
          </a:xfrm>
          <a:prstGeom prst="roundRect">
            <a:avLst>
              <a:gd name="adj" fmla="val 18673"/>
            </a:avLst>
          </a:prstGeom>
          <a:solidFill>
            <a:srgbClr val="E6E6E6"/>
          </a:solidFill>
          <a:ln/>
        </p:spPr>
      </p:sp>
      <p:sp>
        <p:nvSpPr>
          <p:cNvPr id="4" name="Text 2"/>
          <p:cNvSpPr/>
          <p:nvPr/>
        </p:nvSpPr>
        <p:spPr>
          <a:xfrm>
            <a:off x="972145" y="1731288"/>
            <a:ext cx="1094184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⏱</a:t>
            </a: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1+1 минут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5344" y="2441138"/>
            <a:ext cx="3238738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🪞</a:t>
            </a: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Рефлексия — сөйлемді аяқта: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45344" y="2920841"/>
            <a:ext cx="6212086" cy="785336"/>
          </a:xfrm>
          <a:prstGeom prst="roundRect">
            <a:avLst>
              <a:gd name="adj" fmla="val 13972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484" y="2920841"/>
            <a:ext cx="91440" cy="785336"/>
          </a:xfrm>
          <a:prstGeom prst="roundRect">
            <a:avLst>
              <a:gd name="adj" fmla="val 97076"/>
            </a:avLst>
          </a:prstGeom>
          <a:solidFill>
            <a:srgbClr val="CCCCCC"/>
          </a:solidFill>
          <a:ln/>
        </p:spPr>
      </p:sp>
      <p:sp>
        <p:nvSpPr>
          <p:cNvPr id="8" name="Text 6"/>
          <p:cNvSpPr/>
          <p:nvPr/>
        </p:nvSpPr>
        <p:spPr>
          <a:xfrm>
            <a:off x="1148120" y="3155037"/>
            <a:ext cx="5675114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💡</a:t>
            </a: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16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«Мен бүгін білдім...»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45344" y="3891082"/>
            <a:ext cx="6212086" cy="785336"/>
          </a:xfrm>
          <a:prstGeom prst="roundRect">
            <a:avLst>
              <a:gd name="adj" fmla="val 13972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484" y="3891082"/>
            <a:ext cx="91440" cy="785336"/>
          </a:xfrm>
          <a:prstGeom prst="roundRect">
            <a:avLst>
              <a:gd name="adj" fmla="val 97076"/>
            </a:avLst>
          </a:prstGeom>
          <a:solidFill>
            <a:srgbClr val="CCCCCC"/>
          </a:solidFill>
          <a:ln/>
        </p:spPr>
      </p:sp>
      <p:sp>
        <p:nvSpPr>
          <p:cNvPr id="11" name="Text 9"/>
          <p:cNvSpPr/>
          <p:nvPr/>
        </p:nvSpPr>
        <p:spPr>
          <a:xfrm>
            <a:off x="1148120" y="4125278"/>
            <a:ext cx="5675114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🤔</a:t>
            </a: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16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«Маған қиын болғаны...»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45344" y="4861322"/>
            <a:ext cx="6212086" cy="785336"/>
          </a:xfrm>
          <a:prstGeom prst="roundRect">
            <a:avLst>
              <a:gd name="adj" fmla="val 13972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484" y="4861322"/>
            <a:ext cx="91440" cy="785336"/>
          </a:xfrm>
          <a:prstGeom prst="roundRect">
            <a:avLst>
              <a:gd name="adj" fmla="val 97076"/>
            </a:avLst>
          </a:prstGeom>
          <a:solidFill>
            <a:srgbClr val="CCCCCC"/>
          </a:solidFill>
          <a:ln/>
        </p:spPr>
      </p:sp>
      <p:sp>
        <p:nvSpPr>
          <p:cNvPr id="14" name="Text 12"/>
          <p:cNvSpPr/>
          <p:nvPr/>
        </p:nvSpPr>
        <p:spPr>
          <a:xfrm>
            <a:off x="1148120" y="5095518"/>
            <a:ext cx="5675114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🔬</a:t>
            </a: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16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«Мен тәжірибеде үйрендім...»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80590" y="2441138"/>
            <a:ext cx="3617952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📚</a:t>
            </a: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Үй тапсырмасы (бағаланбайды):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267343" y="2920841"/>
            <a:ext cx="5525333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Күнделікті өмірден иіндікке </a:t>
            </a:r>
            <a:r>
              <a:rPr lang="en-US" sz="16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 мысал</a:t>
            </a: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табу: тірек нүктесін, күш түсетін орынды, күш иінін көрсету.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8267343" y="3935135"/>
            <a:ext cx="5525333" cy="9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ChatGPT</a:t>
            </a: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немесе ЖИ құралымен «Иіндік заңдылығының тұрмыста қолданылуы» тақырыбында зерттеу — кемінде 5 мысал, кесте түрінде.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267343" y="5255776"/>
            <a:ext cx="5525333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«Неліктен есік тұтқасы ілгектен алыс орналасады?» деген сұраққа </a:t>
            </a:r>
            <a:r>
              <a:rPr lang="en-US" sz="16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4–5 сөйлеммен</a:t>
            </a: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ғылыми жауап жазу.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7580590" y="6108263"/>
            <a:ext cx="6212086" cy="1143476"/>
          </a:xfrm>
          <a:prstGeom prst="roundRect">
            <a:avLst>
              <a:gd name="adj" fmla="val 7763"/>
            </a:avLst>
          </a:prstGeom>
          <a:solidFill>
            <a:srgbClr val="B6D6F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926" y="6415921"/>
            <a:ext cx="264081" cy="211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67343" y="6345912"/>
            <a:ext cx="5313998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Еңбекқорлық, дәлдік, жауапкершілік — бүгінгі сабақтың негізгі құндылықтары!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1011</Words>
  <Application>Microsoft Office PowerPoint</Application>
  <PresentationFormat>Произвольный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Patrick Hand Light</vt:lpstr>
      <vt:lpstr>Patrick Hand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Пользователь</cp:lastModifiedBy>
  <cp:revision>3</cp:revision>
  <dcterms:created xsi:type="dcterms:W3CDTF">2026-04-18T14:09:29Z</dcterms:created>
  <dcterms:modified xsi:type="dcterms:W3CDTF">2026-04-18T16:57:25Z</dcterms:modified>
</cp:coreProperties>
</file>