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4630400" cy="8229600"/>
  <p:notesSz cx="8229600" cy="14630400"/>
  <p:embeddedFontLst>
    <p:embeddedFont>
      <p:font typeface="Raleway"/>
      <p:regular r:id="rId20"/>
    </p:embeddedFont>
    <p:embeddedFont>
      <p:font typeface="Raleway"/>
      <p:regular r:id="rId21"/>
    </p:embeddedFont>
    <p:embeddedFont>
      <p:font typeface="Raleway"/>
      <p:regular r:id="rId22"/>
    </p:embeddedFont>
    <p:embeddedFont>
      <p:font typeface="Raleway"/>
      <p:regular r:id="rId23"/>
    </p:embeddedFont>
    <p:embeddedFont>
      <p:font typeface="Roboto"/>
      <p:regular r:id="rId24"/>
    </p:embeddedFont>
    <p:embeddedFont>
      <p:font typeface="Roboto"/>
      <p:regular r:id="rId25"/>
    </p:embeddedFont>
    <p:embeddedFont>
      <p:font typeface="Roboto"/>
      <p:regular r:id="rId26"/>
    </p:embeddedFont>
    <p:embeddedFont>
      <p:font typeface="Roboto"/>
      <p:regular r:id="rId27"/>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font" Target="fonts/font1.fntdata"/><Relationship Id="rId21" Type="http://schemas.openxmlformats.org/officeDocument/2006/relationships/font" Target="fonts/font2.fntdata"/><Relationship Id="rId22" Type="http://schemas.openxmlformats.org/officeDocument/2006/relationships/font" Target="fonts/font3.fntdata"/><Relationship Id="rId23" Type="http://schemas.openxmlformats.org/officeDocument/2006/relationships/font" Target="fonts/font4.fntdata"/><Relationship Id="rId24" Type="http://schemas.openxmlformats.org/officeDocument/2006/relationships/font" Target="fonts/font5.fntdata"/><Relationship Id="rId25" Type="http://schemas.openxmlformats.org/officeDocument/2006/relationships/font" Target="fonts/font6.fntdata"/><Relationship Id="rId26" Type="http://schemas.openxmlformats.org/officeDocument/2006/relationships/font" Target="fonts/font7.fntdata"/><Relationship Id="rId27"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image" Target="../media/image-5-7.png"/><Relationship Id="rId8" Type="http://schemas.openxmlformats.org/officeDocument/2006/relationships/slideLayout" Target="../slideLayouts/slideLayout6.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image" Target="../media/image-7-7.png"/><Relationship Id="rId8" Type="http://schemas.openxmlformats.org/officeDocument/2006/relationships/image" Target="../media/image-7-8.svg"/><Relationship Id="rId9" Type="http://schemas.openxmlformats.org/officeDocument/2006/relationships/image" Target="../media/image-7-9.png"/><Relationship Id="rId10" Type="http://schemas.openxmlformats.org/officeDocument/2006/relationships/image" Target="../media/image-7-10.svg"/><Relationship Id="rId11" Type="http://schemas.openxmlformats.org/officeDocument/2006/relationships/image" Target="../media/image-7-11.png"/><Relationship Id="rId12" Type="http://schemas.openxmlformats.org/officeDocument/2006/relationships/image" Target="../media/image-7-12.svg"/><Relationship Id="rId13" Type="http://schemas.openxmlformats.org/officeDocument/2006/relationships/image" Target="../media/image-7-13.png"/><Relationship Id="rId14" Type="http://schemas.openxmlformats.org/officeDocument/2006/relationships/image" Target="../media/image-7-14.svg"/><Relationship Id="rId15" Type="http://schemas.openxmlformats.org/officeDocument/2006/relationships/image" Target="../media/image-7-15.png"/><Relationship Id="rId16" Type="http://schemas.openxmlformats.org/officeDocument/2006/relationships/image" Target="../media/image-7-16.svg"/><Relationship Id="rId17" Type="http://schemas.openxmlformats.org/officeDocument/2006/relationships/slideLayout" Target="../slideLayouts/slideLayout8.xml"/><Relationship Id="rId1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4.xml"/><Relationship Id="rId7"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1632704"/>
            <a:ext cx="9618583" cy="620078"/>
          </a:xfrm>
          <a:prstGeom prst="rect">
            <a:avLst/>
          </a:prstGeom>
          <a:noFill/>
          <a:ln/>
        </p:spPr>
        <p:txBody>
          <a:bodyPr wrap="none" lIns="0" tIns="0" rIns="0" bIns="0" rtlCol="0" anchor="t"/>
          <a:lstStyle/>
          <a:p>
            <a:pPr algn="l" indent="0" marL="0">
              <a:lnSpc>
                <a:spcPts val="4850"/>
              </a:lnSpc>
              <a:buNone/>
            </a:pPr>
            <a:r>
              <a:rPr lang="en-US" sz="3900" dirty="0">
                <a:solidFill>
                  <a:srgbClr val="1B1B27"/>
                </a:solidFill>
                <a:latin typeface="Raleway" pitchFamily="34" charset="0"/>
                <a:ea typeface="Raleway" pitchFamily="34" charset="-122"/>
                <a:cs typeface="Raleway" pitchFamily="34" charset="-120"/>
              </a:rPr>
              <a:t>Үйкеліс күші. Техникада үйкелісті ескеру</a:t>
            </a:r>
            <a:endParaRPr lang="en-US" sz="3900" dirty="0"/>
          </a:p>
        </p:txBody>
      </p:sp>
      <p:pic>
        <p:nvPicPr>
          <p:cNvPr id="3" name="Image 0" descr="preencoded.png">    </p:cNvPr>
          <p:cNvPicPr>
            <a:picLocks noChangeAspect="1"/>
          </p:cNvPicPr>
          <p:nvPr/>
        </p:nvPicPr>
        <p:blipFill>
          <a:blip r:embed="rId1"/>
          <a:stretch>
            <a:fillRect/>
          </a:stretch>
        </p:blipFill>
        <p:spPr>
          <a:xfrm>
            <a:off x="793790" y="2773680"/>
            <a:ext cx="2626995" cy="3599855"/>
          </a:xfrm>
          <a:prstGeom prst="rect">
            <a:avLst/>
          </a:prstGeom>
        </p:spPr>
      </p:pic>
      <p:sp>
        <p:nvSpPr>
          <p:cNvPr id="4" name="Text 1"/>
          <p:cNvSpPr/>
          <p:nvPr/>
        </p:nvSpPr>
        <p:spPr>
          <a:xfrm>
            <a:off x="3912513" y="2729032"/>
            <a:ext cx="9931598" cy="1270159"/>
          </a:xfrm>
          <a:prstGeom prst="rect">
            <a:avLst/>
          </a:prstGeom>
          <a:noFill/>
          <a:ln/>
        </p:spPr>
        <p:txBody>
          <a:bodyPr wrap="square" lIns="0" tIns="0" rIns="0" bIns="0" rtlCol="0" anchor="t"/>
          <a:lstStyle/>
          <a:p>
            <a:pPr algn="l" indent="0" marL="0">
              <a:lnSpc>
                <a:spcPts val="2500"/>
              </a:lnSpc>
              <a:buNone/>
            </a:pPr>
            <a:r>
              <a:rPr lang="en-US" sz="1550" dirty="0">
                <a:solidFill>
                  <a:srgbClr val="3C3939"/>
                </a:solidFill>
                <a:latin typeface="Roboto" pitchFamily="34" charset="0"/>
                <a:ea typeface="Roboto" pitchFamily="34" charset="-122"/>
                <a:cs typeface="Roboto" pitchFamily="34" charset="-120"/>
              </a:rPr>
              <a:t>Бүгінгі сабақта біз үйкеліс күшінің құпияларын ашамыз. Сіздер үйкеліс дегеніміз не екенін, оның қандай түрлері бар екенін білесіздер. Күнделікті өміріміздегі және техникадағы үйкеліс қашан көмектесетінін, қашан кедергі келтіретінін түсінесіздер. Сонымен қатар, үйкеліс күшіне байланысты қарапайым есептерді шығаруды үйренесіздер.</a:t>
            </a:r>
            <a:endParaRPr lang="en-US" sz="1550" dirty="0"/>
          </a:p>
        </p:txBody>
      </p:sp>
      <p:sp>
        <p:nvSpPr>
          <p:cNvPr id="5" name="Text 2"/>
          <p:cNvSpPr/>
          <p:nvPr/>
        </p:nvSpPr>
        <p:spPr>
          <a:xfrm>
            <a:off x="3912513" y="4177784"/>
            <a:ext cx="9931598" cy="635079"/>
          </a:xfrm>
          <a:prstGeom prst="rect">
            <a:avLst/>
          </a:prstGeom>
          <a:noFill/>
          <a:ln/>
        </p:spPr>
        <p:txBody>
          <a:bodyPr wrap="square" lIns="0" tIns="0" rIns="0" bIns="0" rtlCol="0" anchor="t"/>
          <a:lstStyle/>
          <a:p>
            <a:pPr algn="l" indent="0" marL="0">
              <a:lnSpc>
                <a:spcPts val="2500"/>
              </a:lnSpc>
              <a:buNone/>
            </a:pPr>
            <a:r>
              <a:rPr lang="en-US" sz="1550" b="1" dirty="0">
                <a:solidFill>
                  <a:srgbClr val="3C3939"/>
                </a:solidFill>
                <a:latin typeface="Roboto" pitchFamily="34" charset="0"/>
                <a:ea typeface="Roboto" pitchFamily="34" charset="-122"/>
                <a:cs typeface="Roboto" pitchFamily="34" charset="-120"/>
              </a:rPr>
              <a:t>Оқу мақсаты:</a:t>
            </a:r>
            <a:pPr algn="l" indent="0" marL="0">
              <a:lnSpc>
                <a:spcPts val="2500"/>
              </a:lnSpc>
              <a:buNone/>
            </a:pPr>
            <a:r>
              <a:rPr lang="en-US" sz="1550" dirty="0">
                <a:solidFill>
                  <a:srgbClr val="3C3939"/>
                </a:solidFill>
                <a:latin typeface="Roboto" pitchFamily="34" charset="0"/>
                <a:ea typeface="Roboto" pitchFamily="34" charset="-122"/>
                <a:cs typeface="Roboto" pitchFamily="34" charset="-120"/>
              </a:rPr>
              <a:t> Тыныштық, домалау және сырғанау үйкелістерін сипаттау, олардың техникадағы маңызын түсіну.</a:t>
            </a:r>
            <a:endParaRPr lang="en-US" sz="1550" dirty="0"/>
          </a:p>
        </p:txBody>
      </p:sp>
      <p:sp>
        <p:nvSpPr>
          <p:cNvPr id="6" name="Shape 3"/>
          <p:cNvSpPr/>
          <p:nvPr/>
        </p:nvSpPr>
        <p:spPr>
          <a:xfrm>
            <a:off x="3912513" y="5036106"/>
            <a:ext cx="9931598" cy="1160740"/>
          </a:xfrm>
          <a:prstGeom prst="roundRect">
            <a:avLst>
              <a:gd name="adj" fmla="val 7182"/>
            </a:avLst>
          </a:prstGeom>
          <a:solidFill>
            <a:srgbClr val="D2D2E0"/>
          </a:solidFill>
          <a:ln/>
        </p:spPr>
      </p:sp>
      <p:pic>
        <p:nvPicPr>
          <p:cNvPr id="7" name="Image 1" descr="preencoded.png">    </p:cNvPr>
          <p:cNvPicPr>
            <a:picLocks noChangeAspect="1"/>
          </p:cNvPicPr>
          <p:nvPr/>
        </p:nvPicPr>
        <p:blipFill>
          <a:blip r:embed="rId2"/>
          <a:stretch>
            <a:fillRect/>
          </a:stretch>
        </p:blipFill>
        <p:spPr>
          <a:xfrm>
            <a:off x="4110871" y="5331381"/>
            <a:ext cx="248007" cy="198358"/>
          </a:xfrm>
          <a:prstGeom prst="rect">
            <a:avLst/>
          </a:prstGeom>
        </p:spPr>
      </p:pic>
      <p:sp>
        <p:nvSpPr>
          <p:cNvPr id="8" name="Text 4"/>
          <p:cNvSpPr/>
          <p:nvPr/>
        </p:nvSpPr>
        <p:spPr>
          <a:xfrm>
            <a:off x="4557236" y="5283994"/>
            <a:ext cx="9088517" cy="635079"/>
          </a:xfrm>
          <a:prstGeom prst="rect">
            <a:avLst/>
          </a:prstGeom>
          <a:noFill/>
          <a:ln/>
        </p:spPr>
        <p:txBody>
          <a:bodyPr wrap="square" lIns="0" tIns="0" rIns="0" bIns="0" rtlCol="0" anchor="t"/>
          <a:lstStyle/>
          <a:p>
            <a:pPr algn="l" indent="0" marL="0">
              <a:lnSpc>
                <a:spcPts val="2500"/>
              </a:lnSpc>
              <a:buNone/>
            </a:pPr>
            <a:r>
              <a:rPr lang="en-US" sz="1550" b="1" dirty="0">
                <a:solidFill>
                  <a:srgbClr val="000000"/>
                </a:solidFill>
                <a:latin typeface="Roboto" pitchFamily="34" charset="0"/>
                <a:ea typeface="Roboto" pitchFamily="34" charset="-122"/>
                <a:cs typeface="Roboto" pitchFamily="34" charset="-120"/>
              </a:rPr>
              <a:t>Апта дәйексөзі:</a:t>
            </a:r>
            <a:pPr algn="l" indent="0" marL="0">
              <a:lnSpc>
                <a:spcPts val="2500"/>
              </a:lnSpc>
              <a:buNone/>
            </a:pPr>
            <a:r>
              <a:rPr lang="en-US" sz="1550" dirty="0">
                <a:solidFill>
                  <a:srgbClr val="000000"/>
                </a:solidFill>
                <a:latin typeface="Roboto" pitchFamily="34" charset="0"/>
                <a:ea typeface="Roboto" pitchFamily="34" charset="-122"/>
                <a:cs typeface="Roboto" pitchFamily="34" charset="-120"/>
              </a:rPr>
              <a:t> «Бірлік түбі – береке.» Бұл дәйексөз бүгінгі сабақта топтық жұмыс кезінде біздің нұсқаулығымыз болады.</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525548"/>
            <a:ext cx="6148149" cy="620078"/>
          </a:xfrm>
          <a:prstGeom prst="rect">
            <a:avLst/>
          </a:prstGeom>
          <a:noFill/>
          <a:ln/>
        </p:spPr>
        <p:txBody>
          <a:bodyPr wrap="none" lIns="0" tIns="0" rIns="0" bIns="0" rtlCol="0" anchor="t"/>
          <a:lstStyle/>
          <a:p>
            <a:pPr algn="l" indent="0" marL="0">
              <a:lnSpc>
                <a:spcPts val="4850"/>
              </a:lnSpc>
              <a:buNone/>
            </a:pPr>
            <a:r>
              <a:rPr lang="en-US" sz="3900" dirty="0">
                <a:solidFill>
                  <a:srgbClr val="1B1B27"/>
                </a:solidFill>
                <a:latin typeface="Raleway" pitchFamily="34" charset="0"/>
                <a:ea typeface="Raleway" pitchFamily="34" charset="-122"/>
                <a:cs typeface="Raleway" pitchFamily="34" charset="-120"/>
              </a:rPr>
              <a:t>Үйкеліс күші дегеніміз не?</a:t>
            </a:r>
            <a:endParaRPr lang="en-US" sz="3900" dirty="0"/>
          </a:p>
        </p:txBody>
      </p:sp>
      <p:sp>
        <p:nvSpPr>
          <p:cNvPr id="3" name="Text 1"/>
          <p:cNvSpPr/>
          <p:nvPr/>
        </p:nvSpPr>
        <p:spPr>
          <a:xfrm>
            <a:off x="793790" y="2621875"/>
            <a:ext cx="7632025" cy="952619"/>
          </a:xfrm>
          <a:prstGeom prst="rect">
            <a:avLst/>
          </a:prstGeom>
          <a:noFill/>
          <a:ln/>
        </p:spPr>
        <p:txBody>
          <a:bodyPr wrap="square" lIns="0" tIns="0" rIns="0" bIns="0" rtlCol="0" anchor="t"/>
          <a:lstStyle/>
          <a:p>
            <a:pPr algn="l" indent="0" marL="0">
              <a:lnSpc>
                <a:spcPts val="2500"/>
              </a:lnSpc>
              <a:buNone/>
            </a:pPr>
            <a:r>
              <a:rPr lang="en-US" sz="1550" dirty="0">
                <a:solidFill>
                  <a:srgbClr val="3C3939"/>
                </a:solidFill>
                <a:latin typeface="Roboto" pitchFamily="34" charset="0"/>
                <a:ea typeface="Roboto" pitchFamily="34" charset="-122"/>
                <a:cs typeface="Roboto" pitchFamily="34" charset="-120"/>
              </a:rPr>
              <a:t>Үйкеліс – бұл екі дене жанасқан кезде және біреуі екіншісінің бетімен қозғалуға тырысқан кезде пайда болатын күш. Үйкеліс күші әрқашан дененің қозғалысына қарсы бағытталады.</a:t>
            </a:r>
            <a:endParaRPr lang="en-US" sz="1550" dirty="0"/>
          </a:p>
        </p:txBody>
      </p:sp>
      <p:sp>
        <p:nvSpPr>
          <p:cNvPr id="4" name="Text 2"/>
          <p:cNvSpPr/>
          <p:nvPr/>
        </p:nvSpPr>
        <p:spPr>
          <a:xfrm>
            <a:off x="793790" y="3753088"/>
            <a:ext cx="7632025" cy="635079"/>
          </a:xfrm>
          <a:prstGeom prst="rect">
            <a:avLst/>
          </a:prstGeom>
          <a:noFill/>
          <a:ln/>
        </p:spPr>
        <p:txBody>
          <a:bodyPr wrap="square" lIns="0" tIns="0" rIns="0" bIns="0" rtlCol="0" anchor="t"/>
          <a:lstStyle/>
          <a:p>
            <a:pPr algn="l" indent="0" marL="0">
              <a:lnSpc>
                <a:spcPts val="2500"/>
              </a:lnSpc>
              <a:buNone/>
            </a:pPr>
            <a:r>
              <a:rPr lang="en-US" sz="1550" dirty="0">
                <a:solidFill>
                  <a:srgbClr val="3C3939"/>
                </a:solidFill>
                <a:latin typeface="Roboto" pitchFamily="34" charset="0"/>
                <a:ea typeface="Roboto" pitchFamily="34" charset="-122"/>
                <a:cs typeface="Roboto" pitchFamily="34" charset="-120"/>
              </a:rPr>
              <a:t>Үйкелісті көзге көрінбейтін </a:t>
            </a:r>
            <a:pPr algn="l" indent="0" marL="0">
              <a:lnSpc>
                <a:spcPts val="2500"/>
              </a:lnSpc>
              <a:buNone/>
            </a:pPr>
            <a:r>
              <a:rPr lang="en-US" sz="1550" b="1" dirty="0">
                <a:solidFill>
                  <a:srgbClr val="3C3939"/>
                </a:solidFill>
                <a:latin typeface="Roboto" pitchFamily="34" charset="0"/>
                <a:ea typeface="Roboto" pitchFamily="34" charset="-122"/>
                <a:cs typeface="Roboto" pitchFamily="34" charset="-120"/>
              </a:rPr>
              <a:t>«қорғаушы»</a:t>
            </a:r>
            <a:pPr algn="l" indent="0" marL="0">
              <a:lnSpc>
                <a:spcPts val="2500"/>
              </a:lnSpc>
              <a:buNone/>
            </a:pPr>
            <a:r>
              <a:rPr lang="en-US" sz="1550" dirty="0">
                <a:solidFill>
                  <a:srgbClr val="3C3939"/>
                </a:solidFill>
                <a:latin typeface="Roboto" pitchFamily="34" charset="0"/>
                <a:ea typeface="Roboto" pitchFamily="34" charset="-122"/>
                <a:cs typeface="Roboto" pitchFamily="34" charset="-120"/>
              </a:rPr>
              <a:t> деп елестетуге болады. Ол сізге: </a:t>
            </a:r>
            <a:pPr algn="l" indent="0" marL="0">
              <a:lnSpc>
                <a:spcPts val="2500"/>
              </a:lnSpc>
              <a:buNone/>
            </a:pPr>
            <a:r>
              <a:rPr lang="en-US" sz="1550" i="1" dirty="0">
                <a:solidFill>
                  <a:srgbClr val="3C3939"/>
                </a:solidFill>
                <a:latin typeface="Roboto" pitchFamily="34" charset="0"/>
                <a:ea typeface="Roboto" pitchFamily="34" charset="-122"/>
                <a:cs typeface="Roboto" pitchFamily="34" charset="-120"/>
              </a:rPr>
              <a:t>«Тоқта! Қайда асығасың? Мен сәл тежеп қояйын!»</a:t>
            </a:r>
            <a:pPr algn="l" indent="0" marL="0">
              <a:lnSpc>
                <a:spcPts val="2500"/>
              </a:lnSpc>
              <a:buNone/>
            </a:pPr>
            <a:r>
              <a:rPr lang="en-US" sz="1550" dirty="0">
                <a:solidFill>
                  <a:srgbClr val="3C3939"/>
                </a:solidFill>
                <a:latin typeface="Roboto" pitchFamily="34" charset="0"/>
                <a:ea typeface="Roboto" pitchFamily="34" charset="-122"/>
                <a:cs typeface="Roboto" pitchFamily="34" charset="-120"/>
              </a:rPr>
              <a:t> деп айтады.</a:t>
            </a:r>
            <a:endParaRPr lang="en-US" sz="1550" dirty="0"/>
          </a:p>
        </p:txBody>
      </p:sp>
      <p:sp>
        <p:nvSpPr>
          <p:cNvPr id="5" name="Text 3"/>
          <p:cNvSpPr/>
          <p:nvPr/>
        </p:nvSpPr>
        <p:spPr>
          <a:xfrm>
            <a:off x="793790" y="4566761"/>
            <a:ext cx="7632025" cy="952619"/>
          </a:xfrm>
          <a:prstGeom prst="rect">
            <a:avLst/>
          </a:prstGeom>
          <a:noFill/>
          <a:ln/>
        </p:spPr>
        <p:txBody>
          <a:bodyPr wrap="square" lIns="0" tIns="0" rIns="0" bIns="0" rtlCol="0" anchor="t"/>
          <a:lstStyle/>
          <a:p>
            <a:pPr algn="l" indent="0" marL="0">
              <a:lnSpc>
                <a:spcPts val="2500"/>
              </a:lnSpc>
              <a:buNone/>
            </a:pPr>
            <a:r>
              <a:rPr lang="en-US" sz="1550" dirty="0">
                <a:solidFill>
                  <a:srgbClr val="3C3939"/>
                </a:solidFill>
                <a:latin typeface="Roboto" pitchFamily="34" charset="0"/>
                <a:ea typeface="Roboto" pitchFamily="34" charset="-122"/>
                <a:cs typeface="Roboto" pitchFamily="34" charset="-120"/>
              </a:rPr>
              <a:t>Үйкеліссіз өмір мұз айдынындай болар еді – бәрі тайып, біз тұра да алмас едік. Үйкеліс күші біздің қауіпсіз қозғалуымызды, көптеген механизмдердің жұмыс істеуін қамтамасыз етеді.</a:t>
            </a:r>
            <a:endParaRPr lang="en-US" sz="1550" dirty="0"/>
          </a:p>
        </p:txBody>
      </p:sp>
      <p:pic>
        <p:nvPicPr>
          <p:cNvPr id="6" name="Image 0" descr="preencoded.png">    </p:cNvPr>
          <p:cNvPicPr>
            <a:picLocks noChangeAspect="1"/>
          </p:cNvPicPr>
          <p:nvPr/>
        </p:nvPicPr>
        <p:blipFill>
          <a:blip r:embed="rId1"/>
          <a:stretch>
            <a:fillRect/>
          </a:stretch>
        </p:blipFill>
        <p:spPr>
          <a:xfrm>
            <a:off x="8917543" y="2666524"/>
            <a:ext cx="4926568" cy="2955846"/>
          </a:xfrm>
          <a:prstGeom prst="rect">
            <a:avLst/>
          </a:prstGeom>
        </p:spPr>
      </p:pic>
      <p:sp>
        <p:nvSpPr>
          <p:cNvPr id="7" name="Text 4"/>
          <p:cNvSpPr/>
          <p:nvPr/>
        </p:nvSpPr>
        <p:spPr>
          <a:xfrm>
            <a:off x="793790" y="6068854"/>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3C3939"/>
                </a:solidFill>
                <a:latin typeface="Roboto" pitchFamily="34" charset="0"/>
                <a:ea typeface="Roboto" pitchFamily="34" charset="-122"/>
                <a:cs typeface="Roboto" pitchFamily="34" charset="-120"/>
              </a:rPr>
              <a:t>Үйкеліс күші екі негізгі факторға байланысты: </a:t>
            </a:r>
            <a:pPr algn="l" indent="0" marL="0">
              <a:lnSpc>
                <a:spcPts val="2500"/>
              </a:lnSpc>
              <a:buNone/>
            </a:pPr>
            <a:r>
              <a:rPr lang="en-US" sz="1550" b="1" dirty="0">
                <a:solidFill>
                  <a:srgbClr val="3C3939"/>
                </a:solidFill>
                <a:latin typeface="Roboto" pitchFamily="34" charset="0"/>
                <a:ea typeface="Roboto" pitchFamily="34" charset="-122"/>
                <a:cs typeface="Roboto" pitchFamily="34" charset="-120"/>
              </a:rPr>
              <a:t>беттердің кедір-бұдырлығына</a:t>
            </a:r>
            <a:pPr algn="l" indent="0" marL="0">
              <a:lnSpc>
                <a:spcPts val="2500"/>
              </a:lnSpc>
              <a:buNone/>
            </a:pPr>
            <a:r>
              <a:rPr lang="en-US" sz="1550" dirty="0">
                <a:solidFill>
                  <a:srgbClr val="3C3939"/>
                </a:solidFill>
                <a:latin typeface="Roboto" pitchFamily="34" charset="0"/>
                <a:ea typeface="Roboto" pitchFamily="34" charset="-122"/>
                <a:cs typeface="Roboto" pitchFamily="34" charset="-120"/>
              </a:rPr>
              <a:t> және </a:t>
            </a:r>
            <a:pPr algn="l" indent="0" marL="0">
              <a:lnSpc>
                <a:spcPts val="2500"/>
              </a:lnSpc>
              <a:buNone/>
            </a:pPr>
            <a:r>
              <a:rPr lang="en-US" sz="1550" b="1" dirty="0">
                <a:solidFill>
                  <a:srgbClr val="3C3939"/>
                </a:solidFill>
                <a:latin typeface="Roboto" pitchFamily="34" charset="0"/>
                <a:ea typeface="Roboto" pitchFamily="34" charset="-122"/>
                <a:cs typeface="Roboto" pitchFamily="34" charset="-120"/>
              </a:rPr>
              <a:t>денелердің бір-біріне қаншалықты қатты басылуына</a:t>
            </a:r>
            <a:pPr algn="l" indent="0" marL="0">
              <a:lnSpc>
                <a:spcPts val="2500"/>
              </a:lnSpc>
              <a:buNone/>
            </a:pPr>
            <a:r>
              <a:rPr lang="en-US" sz="1550" dirty="0">
                <a:solidFill>
                  <a:srgbClr val="3C3939"/>
                </a:solidFill>
                <a:latin typeface="Roboto" pitchFamily="34" charset="0"/>
                <a:ea typeface="Roboto" pitchFamily="34" charset="-122"/>
                <a:cs typeface="Roboto" pitchFamily="34" charset="-120"/>
              </a:rPr>
              <a:t> (нормаль күш).</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910715"/>
            <a:ext cx="7835979" cy="620078"/>
          </a:xfrm>
          <a:prstGeom prst="rect">
            <a:avLst/>
          </a:prstGeom>
          <a:noFill/>
          <a:ln/>
        </p:spPr>
        <p:txBody>
          <a:bodyPr wrap="none" lIns="0" tIns="0" rIns="0" bIns="0" rtlCol="0" anchor="t"/>
          <a:lstStyle/>
          <a:p>
            <a:pPr algn="l" indent="0" marL="0">
              <a:lnSpc>
                <a:spcPts val="4850"/>
              </a:lnSpc>
              <a:buNone/>
            </a:pPr>
            <a:r>
              <a:rPr lang="en-US" sz="3900" dirty="0">
                <a:solidFill>
                  <a:srgbClr val="1B1B27"/>
                </a:solidFill>
                <a:latin typeface="Raleway" pitchFamily="34" charset="0"/>
                <a:ea typeface="Raleway" pitchFamily="34" charset="-122"/>
                <a:cs typeface="Raleway" pitchFamily="34" charset="-120"/>
              </a:rPr>
              <a:t>Үйкеліс күші қашан көмектеседі?</a:t>
            </a:r>
            <a:endParaRPr lang="en-US" sz="3900" dirty="0"/>
          </a:p>
        </p:txBody>
      </p:sp>
      <p:sp>
        <p:nvSpPr>
          <p:cNvPr id="3" name="Text 1"/>
          <p:cNvSpPr/>
          <p:nvPr/>
        </p:nvSpPr>
        <p:spPr>
          <a:xfrm>
            <a:off x="793790" y="2927628"/>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3C3939"/>
                </a:solidFill>
                <a:latin typeface="Roboto" pitchFamily="34" charset="0"/>
                <a:ea typeface="Roboto" pitchFamily="34" charset="-122"/>
                <a:cs typeface="Roboto" pitchFamily="34" charset="-120"/>
              </a:rPr>
              <a:t>Үйкеліс күші біздің күнделікті өміріміздің ажырамас бөлігі. Көптеген жағдайда ол бізге үлкен көмек көрсетеді және қауіпсіздігімізді қамтамасыз етеді.</a:t>
            </a:r>
            <a:endParaRPr lang="en-US" sz="1550" dirty="0"/>
          </a:p>
        </p:txBody>
      </p:sp>
      <p:sp>
        <p:nvSpPr>
          <p:cNvPr id="4" name="Text 2"/>
          <p:cNvSpPr/>
          <p:nvPr/>
        </p:nvSpPr>
        <p:spPr>
          <a:xfrm>
            <a:off x="793790" y="398430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3C3939"/>
                </a:solidFill>
                <a:latin typeface="Raleway" pitchFamily="34" charset="0"/>
                <a:ea typeface="Raleway" pitchFamily="34" charset="-122"/>
                <a:cs typeface="Raleway" pitchFamily="34" charset="-120"/>
              </a:rPr>
              <a:t>Жүру және жүгіру</a:t>
            </a:r>
            <a:endParaRPr lang="en-US" sz="1950" dirty="0"/>
          </a:p>
        </p:txBody>
      </p:sp>
      <p:sp>
        <p:nvSpPr>
          <p:cNvPr id="5" name="Text 3"/>
          <p:cNvSpPr/>
          <p:nvPr/>
        </p:nvSpPr>
        <p:spPr>
          <a:xfrm>
            <a:off x="793790" y="4413528"/>
            <a:ext cx="3074670" cy="1905238"/>
          </a:xfrm>
          <a:prstGeom prst="rect">
            <a:avLst/>
          </a:prstGeom>
          <a:noFill/>
          <a:ln/>
        </p:spPr>
        <p:txBody>
          <a:bodyPr wrap="square" lIns="0" tIns="0" rIns="0" bIns="0" rtlCol="0" anchor="t"/>
          <a:lstStyle/>
          <a:p>
            <a:pPr algn="l" indent="0" marL="0">
              <a:lnSpc>
                <a:spcPts val="2500"/>
              </a:lnSpc>
              <a:buNone/>
            </a:pPr>
            <a:r>
              <a:rPr lang="en-US" sz="1550" dirty="0">
                <a:solidFill>
                  <a:srgbClr val="3C3939"/>
                </a:solidFill>
                <a:latin typeface="Roboto" pitchFamily="34" charset="0"/>
                <a:ea typeface="Roboto" pitchFamily="34" charset="-122"/>
                <a:cs typeface="Roboto" pitchFamily="34" charset="-120"/>
              </a:rPr>
              <a:t>Аяқ киіміміздің табаны мен жер арасындағы үйкеліс бізге сырғанаусыз қауіпсіз жүруге мүмкіндік береді. Үйкеліссіз біз әр қадамда тайып жығылар едік.</a:t>
            </a:r>
            <a:endParaRPr lang="en-US" sz="1550" dirty="0"/>
          </a:p>
        </p:txBody>
      </p:sp>
      <p:sp>
        <p:nvSpPr>
          <p:cNvPr id="6" name="Text 4"/>
          <p:cNvSpPr/>
          <p:nvPr/>
        </p:nvSpPr>
        <p:spPr>
          <a:xfrm>
            <a:off x="4116467" y="398430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3C3939"/>
                </a:solidFill>
                <a:latin typeface="Raleway" pitchFamily="34" charset="0"/>
                <a:ea typeface="Raleway" pitchFamily="34" charset="-122"/>
                <a:cs typeface="Raleway" pitchFamily="34" charset="-120"/>
              </a:rPr>
              <a:t>Көліктің тежелуі</a:t>
            </a:r>
            <a:endParaRPr lang="en-US" sz="1950" dirty="0"/>
          </a:p>
        </p:txBody>
      </p:sp>
      <p:sp>
        <p:nvSpPr>
          <p:cNvPr id="7" name="Text 5"/>
          <p:cNvSpPr/>
          <p:nvPr/>
        </p:nvSpPr>
        <p:spPr>
          <a:xfrm>
            <a:off x="4116467" y="4413528"/>
            <a:ext cx="3074670" cy="1905238"/>
          </a:xfrm>
          <a:prstGeom prst="rect">
            <a:avLst/>
          </a:prstGeom>
          <a:noFill/>
          <a:ln/>
        </p:spPr>
        <p:txBody>
          <a:bodyPr wrap="square" lIns="0" tIns="0" rIns="0" bIns="0" rtlCol="0" anchor="t"/>
          <a:lstStyle/>
          <a:p>
            <a:pPr algn="l" indent="0" marL="0">
              <a:lnSpc>
                <a:spcPts val="2500"/>
              </a:lnSpc>
              <a:buNone/>
            </a:pPr>
            <a:r>
              <a:rPr lang="en-US" sz="1550" dirty="0">
                <a:solidFill>
                  <a:srgbClr val="3C3939"/>
                </a:solidFill>
                <a:latin typeface="Roboto" pitchFamily="34" charset="0"/>
                <a:ea typeface="Roboto" pitchFamily="34" charset="-122"/>
                <a:cs typeface="Roboto" pitchFamily="34" charset="-120"/>
              </a:rPr>
              <a:t>Автомобиль дөңгелегі мен жол арасындағы үйкеліс машинаның тоқтауына көмектеседі. Бұл жол қауіпсіздігінің маңызды факторы.</a:t>
            </a:r>
            <a:endParaRPr lang="en-US" sz="1550" dirty="0"/>
          </a:p>
        </p:txBody>
      </p:sp>
      <p:sp>
        <p:nvSpPr>
          <p:cNvPr id="8" name="Text 6"/>
          <p:cNvSpPr/>
          <p:nvPr/>
        </p:nvSpPr>
        <p:spPr>
          <a:xfrm>
            <a:off x="7439144" y="398430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3C3939"/>
                </a:solidFill>
                <a:latin typeface="Raleway" pitchFamily="34" charset="0"/>
                <a:ea typeface="Raleway" pitchFamily="34" charset="-122"/>
                <a:cs typeface="Raleway" pitchFamily="34" charset="-120"/>
              </a:rPr>
              <a:t>Жазу процесі</a:t>
            </a:r>
            <a:endParaRPr lang="en-US" sz="1950" dirty="0"/>
          </a:p>
        </p:txBody>
      </p:sp>
      <p:sp>
        <p:nvSpPr>
          <p:cNvPr id="9" name="Text 7"/>
          <p:cNvSpPr/>
          <p:nvPr/>
        </p:nvSpPr>
        <p:spPr>
          <a:xfrm>
            <a:off x="7439144" y="4413528"/>
            <a:ext cx="3074670" cy="1587698"/>
          </a:xfrm>
          <a:prstGeom prst="rect">
            <a:avLst/>
          </a:prstGeom>
          <a:noFill/>
          <a:ln/>
        </p:spPr>
        <p:txBody>
          <a:bodyPr wrap="square" lIns="0" tIns="0" rIns="0" bIns="0" rtlCol="0" anchor="t"/>
          <a:lstStyle/>
          <a:p>
            <a:pPr algn="l" indent="0" marL="0">
              <a:lnSpc>
                <a:spcPts val="2500"/>
              </a:lnSpc>
              <a:buNone/>
            </a:pPr>
            <a:r>
              <a:rPr lang="en-US" sz="1550" dirty="0">
                <a:solidFill>
                  <a:srgbClr val="3C3939"/>
                </a:solidFill>
                <a:latin typeface="Roboto" pitchFamily="34" charset="0"/>
                <a:ea typeface="Roboto" pitchFamily="34" charset="-122"/>
                <a:cs typeface="Roboto" pitchFamily="34" charset="-120"/>
              </a:rPr>
              <a:t>Қарындаш немесе қаламның ұшы мен қағаз арасындағы үйкеліс із қалдыруға мүмкіндік береді. Үйкеліссіз жазу мүмкін болмас еді.</a:t>
            </a:r>
            <a:endParaRPr lang="en-US" sz="1550" dirty="0"/>
          </a:p>
        </p:txBody>
      </p:sp>
      <p:sp>
        <p:nvSpPr>
          <p:cNvPr id="10" name="Text 8"/>
          <p:cNvSpPr/>
          <p:nvPr/>
        </p:nvSpPr>
        <p:spPr>
          <a:xfrm>
            <a:off x="10761821" y="3984308"/>
            <a:ext cx="2512100" cy="310158"/>
          </a:xfrm>
          <a:prstGeom prst="rect">
            <a:avLst/>
          </a:prstGeom>
          <a:noFill/>
          <a:ln/>
        </p:spPr>
        <p:txBody>
          <a:bodyPr wrap="none" lIns="0" tIns="0" rIns="0" bIns="0" rtlCol="0" anchor="t"/>
          <a:lstStyle/>
          <a:p>
            <a:pPr algn="l" indent="0" marL="0">
              <a:lnSpc>
                <a:spcPts val="2400"/>
              </a:lnSpc>
              <a:buNone/>
            </a:pPr>
            <a:r>
              <a:rPr lang="en-US" sz="1950" dirty="0">
                <a:solidFill>
                  <a:srgbClr val="3C3939"/>
                </a:solidFill>
                <a:latin typeface="Raleway" pitchFamily="34" charset="0"/>
                <a:ea typeface="Raleway" pitchFamily="34" charset="-122"/>
                <a:cs typeface="Raleway" pitchFamily="34" charset="-120"/>
              </a:rPr>
              <a:t>Құрылыс жұмыстары</a:t>
            </a:r>
            <a:endParaRPr lang="en-US" sz="1950" dirty="0"/>
          </a:p>
        </p:txBody>
      </p:sp>
      <p:sp>
        <p:nvSpPr>
          <p:cNvPr id="11" name="Text 9"/>
          <p:cNvSpPr/>
          <p:nvPr/>
        </p:nvSpPr>
        <p:spPr>
          <a:xfrm>
            <a:off x="10761821" y="4413528"/>
            <a:ext cx="3074789" cy="1905238"/>
          </a:xfrm>
          <a:prstGeom prst="rect">
            <a:avLst/>
          </a:prstGeom>
          <a:noFill/>
          <a:ln/>
        </p:spPr>
        <p:txBody>
          <a:bodyPr wrap="square" lIns="0" tIns="0" rIns="0" bIns="0" rtlCol="0" anchor="t"/>
          <a:lstStyle/>
          <a:p>
            <a:pPr algn="l" indent="0" marL="0">
              <a:lnSpc>
                <a:spcPts val="2500"/>
              </a:lnSpc>
              <a:buNone/>
            </a:pPr>
            <a:r>
              <a:rPr lang="en-US" sz="1550" dirty="0">
                <a:solidFill>
                  <a:srgbClr val="3C3939"/>
                </a:solidFill>
                <a:latin typeface="Roboto" pitchFamily="34" charset="0"/>
                <a:ea typeface="Roboto" pitchFamily="34" charset="-122"/>
                <a:cs typeface="Roboto" pitchFamily="34" charset="-120"/>
              </a:rPr>
              <a:t>Шегелер мен бұрандалардың материалмен берік ұсталуы үйкеліс күшінің арқасында мүмкін болады. Бұл құрылымдардың берік болуын қамтамасыз етеді.</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455539"/>
            <a:ext cx="8927544" cy="620078"/>
          </a:xfrm>
          <a:prstGeom prst="rect">
            <a:avLst/>
          </a:prstGeom>
          <a:noFill/>
          <a:ln/>
        </p:spPr>
        <p:txBody>
          <a:bodyPr wrap="none" lIns="0" tIns="0" rIns="0" bIns="0" rtlCol="0" anchor="t"/>
          <a:lstStyle/>
          <a:p>
            <a:pPr algn="l" indent="0" marL="0">
              <a:lnSpc>
                <a:spcPts val="4850"/>
              </a:lnSpc>
              <a:buNone/>
            </a:pPr>
            <a:r>
              <a:rPr lang="en-US" sz="3900" dirty="0">
                <a:solidFill>
                  <a:srgbClr val="1B1B27"/>
                </a:solidFill>
                <a:latin typeface="Raleway" pitchFamily="34" charset="0"/>
                <a:ea typeface="Raleway" pitchFamily="34" charset="-122"/>
                <a:cs typeface="Raleway" pitchFamily="34" charset="-120"/>
              </a:rPr>
              <a:t>Үйкеліс күші қашан кедергі келтіреді?</a:t>
            </a:r>
            <a:endParaRPr lang="en-US" sz="3900" dirty="0"/>
          </a:p>
        </p:txBody>
      </p:sp>
      <p:sp>
        <p:nvSpPr>
          <p:cNvPr id="3" name="Text 1"/>
          <p:cNvSpPr/>
          <p:nvPr/>
        </p:nvSpPr>
        <p:spPr>
          <a:xfrm>
            <a:off x="793790" y="2472452"/>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3C3939"/>
                </a:solidFill>
                <a:latin typeface="Roboto" pitchFamily="34" charset="0"/>
                <a:ea typeface="Roboto" pitchFamily="34" charset="-122"/>
                <a:cs typeface="Roboto" pitchFamily="34" charset="-120"/>
              </a:rPr>
              <a:t>Кейбір жағдайларда үйкеліс күші қалаусыз салдарларға әкеледі. Техникада және күнделікті өмірде үйкелісті азайту үшін түрлі әдістер қолданылады.</a:t>
            </a:r>
            <a:endParaRPr lang="en-US" sz="1550" dirty="0"/>
          </a:p>
        </p:txBody>
      </p:sp>
      <p:sp>
        <p:nvSpPr>
          <p:cNvPr id="4" name="Text 2"/>
          <p:cNvSpPr/>
          <p:nvPr/>
        </p:nvSpPr>
        <p:spPr>
          <a:xfrm>
            <a:off x="793790" y="3529132"/>
            <a:ext cx="2772728" cy="310158"/>
          </a:xfrm>
          <a:prstGeom prst="rect">
            <a:avLst/>
          </a:prstGeom>
          <a:noFill/>
          <a:ln/>
        </p:spPr>
        <p:txBody>
          <a:bodyPr wrap="none" lIns="0" tIns="0" rIns="0" bIns="0" rtlCol="0" anchor="t"/>
          <a:lstStyle/>
          <a:p>
            <a:pPr algn="l" indent="0" marL="0">
              <a:lnSpc>
                <a:spcPts val="2400"/>
              </a:lnSpc>
              <a:buNone/>
            </a:pPr>
            <a:r>
              <a:rPr lang="en-US" sz="1950" dirty="0">
                <a:solidFill>
                  <a:srgbClr val="1B1B27"/>
                </a:solidFill>
                <a:latin typeface="Raleway" pitchFamily="34" charset="0"/>
                <a:ea typeface="Raleway" pitchFamily="34" charset="-122"/>
                <a:cs typeface="Raleway" pitchFamily="34" charset="-120"/>
              </a:rPr>
              <a:t>Механизмдердің қызуы</a:t>
            </a:r>
            <a:endParaRPr lang="en-US" sz="1950" dirty="0"/>
          </a:p>
        </p:txBody>
      </p:sp>
      <p:sp>
        <p:nvSpPr>
          <p:cNvPr id="5" name="Text 3"/>
          <p:cNvSpPr/>
          <p:nvPr/>
        </p:nvSpPr>
        <p:spPr>
          <a:xfrm>
            <a:off x="793790" y="4037648"/>
            <a:ext cx="3979664" cy="635079"/>
          </a:xfrm>
          <a:prstGeom prst="rect">
            <a:avLst/>
          </a:prstGeom>
          <a:noFill/>
          <a:ln/>
        </p:spPr>
        <p:txBody>
          <a:bodyPr wrap="square" lIns="0" tIns="0" rIns="0" bIns="0" rtlCol="0" anchor="t"/>
          <a:lstStyle/>
          <a:p>
            <a:pPr algn="l" indent="0" marL="0">
              <a:lnSpc>
                <a:spcPts val="2500"/>
              </a:lnSpc>
              <a:buNone/>
            </a:pPr>
            <a:r>
              <a:rPr lang="en-US" sz="1550" dirty="0">
                <a:solidFill>
                  <a:srgbClr val="3C3939"/>
                </a:solidFill>
                <a:latin typeface="Roboto" pitchFamily="34" charset="0"/>
                <a:ea typeface="Roboto" pitchFamily="34" charset="-122"/>
                <a:cs typeface="Roboto" pitchFamily="34" charset="-120"/>
              </a:rPr>
              <a:t>Қозғалтқыш бөліктерінің үйкелісі олардың қызуына және тозуына әкеледі.</a:t>
            </a:r>
            <a:endParaRPr lang="en-US" sz="1550" dirty="0"/>
          </a:p>
        </p:txBody>
      </p:sp>
      <p:sp>
        <p:nvSpPr>
          <p:cNvPr id="6" name="Text 4"/>
          <p:cNvSpPr/>
          <p:nvPr/>
        </p:nvSpPr>
        <p:spPr>
          <a:xfrm>
            <a:off x="5265182" y="3529132"/>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1B1B27"/>
                </a:solidFill>
                <a:latin typeface="Raleway" pitchFamily="34" charset="0"/>
                <a:ea typeface="Raleway" pitchFamily="34" charset="-122"/>
                <a:cs typeface="Raleway" pitchFamily="34" charset="-120"/>
              </a:rPr>
              <a:t>Аяқ киімнің тозуы</a:t>
            </a:r>
            <a:endParaRPr lang="en-US" sz="1950" dirty="0"/>
          </a:p>
        </p:txBody>
      </p:sp>
      <p:sp>
        <p:nvSpPr>
          <p:cNvPr id="7" name="Text 5"/>
          <p:cNvSpPr/>
          <p:nvPr/>
        </p:nvSpPr>
        <p:spPr>
          <a:xfrm>
            <a:off x="5265182" y="4037648"/>
            <a:ext cx="3979664" cy="635079"/>
          </a:xfrm>
          <a:prstGeom prst="rect">
            <a:avLst/>
          </a:prstGeom>
          <a:noFill/>
          <a:ln/>
        </p:spPr>
        <p:txBody>
          <a:bodyPr wrap="square" lIns="0" tIns="0" rIns="0" bIns="0" rtlCol="0" anchor="t"/>
          <a:lstStyle/>
          <a:p>
            <a:pPr algn="l" indent="0" marL="0">
              <a:lnSpc>
                <a:spcPts val="2500"/>
              </a:lnSpc>
              <a:buNone/>
            </a:pPr>
            <a:r>
              <a:rPr lang="en-US" sz="1550" dirty="0">
                <a:solidFill>
                  <a:srgbClr val="3C3939"/>
                </a:solidFill>
                <a:latin typeface="Roboto" pitchFamily="34" charset="0"/>
                <a:ea typeface="Roboto" pitchFamily="34" charset="-122"/>
                <a:cs typeface="Roboto" pitchFamily="34" charset="-120"/>
              </a:rPr>
              <a:t>Аяқ киімнің табаны мен жер арасындағы үйкеліс оның тез тозуына себеп болады.</a:t>
            </a:r>
            <a:endParaRPr lang="en-US" sz="1550" dirty="0"/>
          </a:p>
        </p:txBody>
      </p:sp>
      <p:sp>
        <p:nvSpPr>
          <p:cNvPr id="8" name="Text 6"/>
          <p:cNvSpPr/>
          <p:nvPr/>
        </p:nvSpPr>
        <p:spPr>
          <a:xfrm>
            <a:off x="9736574" y="3529132"/>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1B1B27"/>
                </a:solidFill>
                <a:latin typeface="Raleway" pitchFamily="34" charset="0"/>
                <a:ea typeface="Raleway" pitchFamily="34" charset="-122"/>
                <a:cs typeface="Raleway" pitchFamily="34" charset="-120"/>
              </a:rPr>
              <a:t>Қозғалыс қиындығы</a:t>
            </a:r>
            <a:endParaRPr lang="en-US" sz="1950" dirty="0"/>
          </a:p>
        </p:txBody>
      </p:sp>
      <p:sp>
        <p:nvSpPr>
          <p:cNvPr id="9" name="Text 7"/>
          <p:cNvSpPr/>
          <p:nvPr/>
        </p:nvSpPr>
        <p:spPr>
          <a:xfrm>
            <a:off x="9736574" y="4037648"/>
            <a:ext cx="4115038" cy="635079"/>
          </a:xfrm>
          <a:prstGeom prst="rect">
            <a:avLst/>
          </a:prstGeom>
          <a:noFill/>
          <a:ln/>
        </p:spPr>
        <p:txBody>
          <a:bodyPr wrap="square" lIns="0" tIns="0" rIns="0" bIns="0" rtlCol="0" anchor="t"/>
          <a:lstStyle/>
          <a:p>
            <a:pPr algn="l" indent="0" marL="0">
              <a:lnSpc>
                <a:spcPts val="2500"/>
              </a:lnSpc>
              <a:buNone/>
            </a:pPr>
            <a:r>
              <a:rPr lang="en-US" sz="1550" dirty="0">
                <a:solidFill>
                  <a:srgbClr val="3C3939"/>
                </a:solidFill>
                <a:latin typeface="Roboto" pitchFamily="34" charset="0"/>
                <a:ea typeface="Roboto" pitchFamily="34" charset="-122"/>
                <a:cs typeface="Roboto" pitchFamily="34" charset="-120"/>
              </a:rPr>
              <a:t>Велосипедтің айналу бөліктеріндегі үйкеліс оны жүргізуді қиындатады.</a:t>
            </a:r>
            <a:endParaRPr lang="en-US" sz="1550" dirty="0"/>
          </a:p>
        </p:txBody>
      </p:sp>
      <p:sp>
        <p:nvSpPr>
          <p:cNvPr id="10" name="Shape 8"/>
          <p:cNvSpPr/>
          <p:nvPr/>
        </p:nvSpPr>
        <p:spPr>
          <a:xfrm>
            <a:off x="793790" y="5179993"/>
            <a:ext cx="99179" cy="99179"/>
          </a:xfrm>
          <a:prstGeom prst="roundRect">
            <a:avLst>
              <a:gd name="adj" fmla="val 460985"/>
            </a:avLst>
          </a:prstGeom>
          <a:solidFill>
            <a:srgbClr val="1B1B27"/>
          </a:solidFill>
          <a:ln/>
        </p:spPr>
      </p:sp>
      <p:sp>
        <p:nvSpPr>
          <p:cNvPr id="11" name="Text 9"/>
          <p:cNvSpPr/>
          <p:nvPr/>
        </p:nvSpPr>
        <p:spPr>
          <a:xfrm>
            <a:off x="1091327" y="5074563"/>
            <a:ext cx="2845713" cy="310158"/>
          </a:xfrm>
          <a:prstGeom prst="rect">
            <a:avLst/>
          </a:prstGeom>
          <a:noFill/>
          <a:ln/>
        </p:spPr>
        <p:txBody>
          <a:bodyPr wrap="none" lIns="0" tIns="0" rIns="0" bIns="0" rtlCol="0" anchor="t"/>
          <a:lstStyle/>
          <a:p>
            <a:pPr algn="l" indent="0" marL="0">
              <a:lnSpc>
                <a:spcPts val="2400"/>
              </a:lnSpc>
              <a:buNone/>
            </a:pPr>
            <a:r>
              <a:rPr lang="en-US" sz="1950" dirty="0">
                <a:solidFill>
                  <a:srgbClr val="3C3939"/>
                </a:solidFill>
                <a:latin typeface="Raleway" pitchFamily="34" charset="0"/>
                <a:ea typeface="Raleway" pitchFamily="34" charset="-122"/>
                <a:cs typeface="Raleway" pitchFamily="34" charset="-120"/>
              </a:rPr>
              <a:t>Шестернялардың тозуы</a:t>
            </a:r>
            <a:endParaRPr lang="en-US" sz="1950" dirty="0"/>
          </a:p>
        </p:txBody>
      </p:sp>
      <p:sp>
        <p:nvSpPr>
          <p:cNvPr id="12" name="Text 10"/>
          <p:cNvSpPr/>
          <p:nvPr/>
        </p:nvSpPr>
        <p:spPr>
          <a:xfrm>
            <a:off x="1091327" y="5503783"/>
            <a:ext cx="3884652" cy="1270159"/>
          </a:xfrm>
          <a:prstGeom prst="rect">
            <a:avLst/>
          </a:prstGeom>
          <a:noFill/>
          <a:ln/>
        </p:spPr>
        <p:txBody>
          <a:bodyPr wrap="square" lIns="0" tIns="0" rIns="0" bIns="0" rtlCol="0" anchor="t"/>
          <a:lstStyle/>
          <a:p>
            <a:pPr algn="l" indent="0" marL="0">
              <a:lnSpc>
                <a:spcPts val="2500"/>
              </a:lnSpc>
              <a:buNone/>
            </a:pPr>
            <a:r>
              <a:rPr lang="en-US" sz="1550" dirty="0">
                <a:solidFill>
                  <a:srgbClr val="3C3939"/>
                </a:solidFill>
                <a:latin typeface="Roboto" pitchFamily="34" charset="0"/>
                <a:ea typeface="Roboto" pitchFamily="34" charset="-122"/>
                <a:cs typeface="Roboto" pitchFamily="34" charset="-120"/>
              </a:rPr>
              <a:t>Тісті дөңгелектердің үйкелісі олардың қызуына және тез тозуына себеп болады, бұл механизмнің қызмет ету мерзімін қысқартады.</a:t>
            </a:r>
            <a:endParaRPr lang="en-US" sz="1550" dirty="0"/>
          </a:p>
        </p:txBody>
      </p:sp>
      <p:sp>
        <p:nvSpPr>
          <p:cNvPr id="13" name="Shape 11"/>
          <p:cNvSpPr/>
          <p:nvPr/>
        </p:nvSpPr>
        <p:spPr>
          <a:xfrm>
            <a:off x="5223986" y="5179993"/>
            <a:ext cx="99179" cy="99179"/>
          </a:xfrm>
          <a:prstGeom prst="roundRect">
            <a:avLst>
              <a:gd name="adj" fmla="val 460985"/>
            </a:avLst>
          </a:prstGeom>
          <a:solidFill>
            <a:srgbClr val="1B1B27"/>
          </a:solidFill>
          <a:ln/>
        </p:spPr>
      </p:sp>
      <p:sp>
        <p:nvSpPr>
          <p:cNvPr id="14" name="Text 12"/>
          <p:cNvSpPr/>
          <p:nvPr/>
        </p:nvSpPr>
        <p:spPr>
          <a:xfrm>
            <a:off x="5521523" y="5074563"/>
            <a:ext cx="2691170" cy="310158"/>
          </a:xfrm>
          <a:prstGeom prst="rect">
            <a:avLst/>
          </a:prstGeom>
          <a:noFill/>
          <a:ln/>
        </p:spPr>
        <p:txBody>
          <a:bodyPr wrap="none" lIns="0" tIns="0" rIns="0" bIns="0" rtlCol="0" anchor="t"/>
          <a:lstStyle/>
          <a:p>
            <a:pPr algn="l" indent="0" marL="0">
              <a:lnSpc>
                <a:spcPts val="2400"/>
              </a:lnSpc>
              <a:buNone/>
            </a:pPr>
            <a:r>
              <a:rPr lang="en-US" sz="1950" dirty="0">
                <a:solidFill>
                  <a:srgbClr val="3C3939"/>
                </a:solidFill>
                <a:latin typeface="Raleway" pitchFamily="34" charset="0"/>
                <a:ea typeface="Raleway" pitchFamily="34" charset="-122"/>
                <a:cs typeface="Raleway" pitchFamily="34" charset="-120"/>
              </a:rPr>
              <a:t>Есіктердің шықырлауы</a:t>
            </a:r>
            <a:endParaRPr lang="en-US" sz="1950" dirty="0"/>
          </a:p>
        </p:txBody>
      </p:sp>
      <p:sp>
        <p:nvSpPr>
          <p:cNvPr id="15" name="Text 13"/>
          <p:cNvSpPr/>
          <p:nvPr/>
        </p:nvSpPr>
        <p:spPr>
          <a:xfrm>
            <a:off x="5521523" y="5503783"/>
            <a:ext cx="3884771" cy="952619"/>
          </a:xfrm>
          <a:prstGeom prst="rect">
            <a:avLst/>
          </a:prstGeom>
          <a:noFill/>
          <a:ln/>
        </p:spPr>
        <p:txBody>
          <a:bodyPr wrap="square" lIns="0" tIns="0" rIns="0" bIns="0" rtlCol="0" anchor="t"/>
          <a:lstStyle/>
          <a:p>
            <a:pPr algn="l" indent="0" marL="0">
              <a:lnSpc>
                <a:spcPts val="2500"/>
              </a:lnSpc>
              <a:buNone/>
            </a:pPr>
            <a:r>
              <a:rPr lang="en-US" sz="1550" dirty="0">
                <a:solidFill>
                  <a:srgbClr val="3C3939"/>
                </a:solidFill>
                <a:latin typeface="Roboto" pitchFamily="34" charset="0"/>
                <a:ea typeface="Roboto" pitchFamily="34" charset="-122"/>
                <a:cs typeface="Roboto" pitchFamily="34" charset="-120"/>
              </a:rPr>
              <a:t>Ілмектердегі үйкеліс есіктердің ашылу-жабылуын қиындатып, олардың шықырлауына әкеледі.</a:t>
            </a:r>
            <a:endParaRPr lang="en-US" sz="1550" dirty="0"/>
          </a:p>
        </p:txBody>
      </p:sp>
      <p:sp>
        <p:nvSpPr>
          <p:cNvPr id="16" name="Shape 14"/>
          <p:cNvSpPr/>
          <p:nvPr/>
        </p:nvSpPr>
        <p:spPr>
          <a:xfrm>
            <a:off x="9654302" y="5179993"/>
            <a:ext cx="99179" cy="99179"/>
          </a:xfrm>
          <a:prstGeom prst="roundRect">
            <a:avLst>
              <a:gd name="adj" fmla="val 460985"/>
            </a:avLst>
          </a:prstGeom>
          <a:solidFill>
            <a:srgbClr val="1B1B27"/>
          </a:solidFill>
          <a:ln/>
        </p:spPr>
      </p:sp>
      <p:sp>
        <p:nvSpPr>
          <p:cNvPr id="17" name="Text 15"/>
          <p:cNvSpPr/>
          <p:nvPr/>
        </p:nvSpPr>
        <p:spPr>
          <a:xfrm>
            <a:off x="9951839" y="5074563"/>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3C3939"/>
                </a:solidFill>
                <a:latin typeface="Raleway" pitchFamily="34" charset="0"/>
                <a:ea typeface="Raleway" pitchFamily="34" charset="-122"/>
                <a:cs typeface="Raleway" pitchFamily="34" charset="-120"/>
              </a:rPr>
              <a:t>Энергия шығыны</a:t>
            </a:r>
            <a:endParaRPr lang="en-US" sz="1950" dirty="0"/>
          </a:p>
        </p:txBody>
      </p:sp>
      <p:sp>
        <p:nvSpPr>
          <p:cNvPr id="18" name="Text 16"/>
          <p:cNvSpPr/>
          <p:nvPr/>
        </p:nvSpPr>
        <p:spPr>
          <a:xfrm>
            <a:off x="9951839" y="5503783"/>
            <a:ext cx="3884771" cy="952619"/>
          </a:xfrm>
          <a:prstGeom prst="rect">
            <a:avLst/>
          </a:prstGeom>
          <a:noFill/>
          <a:ln/>
        </p:spPr>
        <p:txBody>
          <a:bodyPr wrap="square" lIns="0" tIns="0" rIns="0" bIns="0" rtlCol="0" anchor="t"/>
          <a:lstStyle/>
          <a:p>
            <a:pPr algn="l" indent="0" marL="0">
              <a:lnSpc>
                <a:spcPts val="2500"/>
              </a:lnSpc>
              <a:buNone/>
            </a:pPr>
            <a:r>
              <a:rPr lang="en-US" sz="1550" dirty="0">
                <a:solidFill>
                  <a:srgbClr val="3C3939"/>
                </a:solidFill>
                <a:latin typeface="Roboto" pitchFamily="34" charset="0"/>
                <a:ea typeface="Roboto" pitchFamily="34" charset="-122"/>
                <a:cs typeface="Roboto" pitchFamily="34" charset="-120"/>
              </a:rPr>
              <a:t>Үйкеліс қозғалыс энергиясының бір бөлігін жылуға айналдырады, бұл тиімділікті төмендетеді.</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770578"/>
            <a:ext cx="4166116" cy="465177"/>
          </a:xfrm>
          <a:prstGeom prst="rect">
            <a:avLst/>
          </a:prstGeom>
          <a:noFill/>
          <a:ln/>
        </p:spPr>
        <p:txBody>
          <a:bodyPr wrap="none" lIns="0" tIns="0" rIns="0" bIns="0" rtlCol="0" anchor="t"/>
          <a:lstStyle/>
          <a:p>
            <a:pPr algn="l" indent="0" marL="0">
              <a:lnSpc>
                <a:spcPts val="3650"/>
              </a:lnSpc>
              <a:buNone/>
            </a:pPr>
            <a:r>
              <a:rPr lang="en-US" sz="2900" dirty="0">
                <a:solidFill>
                  <a:srgbClr val="1B1B27"/>
                </a:solidFill>
                <a:latin typeface="Raleway" pitchFamily="34" charset="0"/>
                <a:ea typeface="Raleway" pitchFamily="34" charset="-122"/>
                <a:cs typeface="Raleway" pitchFamily="34" charset="-120"/>
              </a:rPr>
              <a:t>Үйкеліс күшінің түрлері</a:t>
            </a:r>
            <a:endParaRPr lang="en-US" sz="2900" dirty="0"/>
          </a:p>
        </p:txBody>
      </p:sp>
      <p:sp>
        <p:nvSpPr>
          <p:cNvPr id="3" name="Text 1"/>
          <p:cNvSpPr/>
          <p:nvPr/>
        </p:nvSpPr>
        <p:spPr>
          <a:xfrm>
            <a:off x="793790" y="2458998"/>
            <a:ext cx="13042821" cy="238125"/>
          </a:xfrm>
          <a:prstGeom prst="rect">
            <a:avLst/>
          </a:prstGeom>
          <a:noFill/>
          <a:ln/>
        </p:spPr>
        <p:txBody>
          <a:bodyPr wrap="none" lIns="0" tIns="0" rIns="0" bIns="0" rtlCol="0" anchor="t"/>
          <a:lstStyle/>
          <a:p>
            <a:pPr algn="l" indent="0" marL="0">
              <a:lnSpc>
                <a:spcPts val="1850"/>
              </a:lnSpc>
              <a:buNone/>
            </a:pPr>
            <a:r>
              <a:rPr lang="en-US" sz="1150" dirty="0">
                <a:solidFill>
                  <a:srgbClr val="3C3939"/>
                </a:solidFill>
                <a:latin typeface="Roboto" pitchFamily="34" charset="0"/>
                <a:ea typeface="Roboto" pitchFamily="34" charset="-122"/>
                <a:cs typeface="Roboto" pitchFamily="34" charset="-120"/>
              </a:rPr>
              <a:t>Физикада үйкеліс күшінің үш негізгі түрі бар. Олардың әрқайсысы әртүрлі жағдайларда пайда болады және әртүрлі қасиеттерге ие.</a:t>
            </a:r>
            <a:endParaRPr lang="en-US" sz="1150" dirty="0"/>
          </a:p>
        </p:txBody>
      </p:sp>
      <p:sp>
        <p:nvSpPr>
          <p:cNvPr id="4" name="Shape 2"/>
          <p:cNvSpPr/>
          <p:nvPr/>
        </p:nvSpPr>
        <p:spPr>
          <a:xfrm>
            <a:off x="793790" y="2864525"/>
            <a:ext cx="4248388" cy="2794516"/>
          </a:xfrm>
          <a:prstGeom prst="roundRect">
            <a:avLst>
              <a:gd name="adj" fmla="val 2237"/>
            </a:avLst>
          </a:prstGeom>
          <a:solidFill>
            <a:srgbClr val="E1E1EA"/>
          </a:solidFill>
          <a:ln w="7620">
            <a:solidFill>
              <a:srgbClr val="1B1B27"/>
            </a:solidFill>
            <a:prstDash val="solid"/>
          </a:ln>
        </p:spPr>
      </p:sp>
      <p:sp>
        <p:nvSpPr>
          <p:cNvPr id="5" name="Shape 3"/>
          <p:cNvSpPr/>
          <p:nvPr/>
        </p:nvSpPr>
        <p:spPr>
          <a:xfrm>
            <a:off x="950238" y="3020973"/>
            <a:ext cx="446484" cy="446484"/>
          </a:xfrm>
          <a:prstGeom prst="roundRect">
            <a:avLst>
              <a:gd name="adj" fmla="val 20477969"/>
            </a:avLst>
          </a:prstGeom>
          <a:solidFill>
            <a:srgbClr val="1B1B27"/>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72991" y="3143726"/>
            <a:ext cx="200858" cy="200858"/>
          </a:xfrm>
          <a:prstGeom prst="rect">
            <a:avLst/>
          </a:prstGeom>
        </p:spPr>
      </p:pic>
      <p:sp>
        <p:nvSpPr>
          <p:cNvPr id="7" name="Text 4"/>
          <p:cNvSpPr/>
          <p:nvPr/>
        </p:nvSpPr>
        <p:spPr>
          <a:xfrm>
            <a:off x="950238" y="3616285"/>
            <a:ext cx="2232779" cy="278963"/>
          </a:xfrm>
          <a:prstGeom prst="rect">
            <a:avLst/>
          </a:prstGeom>
          <a:noFill/>
          <a:ln/>
        </p:spPr>
        <p:txBody>
          <a:bodyPr wrap="none" lIns="0" tIns="0" rIns="0" bIns="0" rtlCol="0" anchor="t"/>
          <a:lstStyle/>
          <a:p>
            <a:pPr algn="l" indent="0" marL="0">
              <a:lnSpc>
                <a:spcPts val="2150"/>
              </a:lnSpc>
              <a:buNone/>
            </a:pPr>
            <a:r>
              <a:rPr lang="en-US" sz="1750" dirty="0">
                <a:solidFill>
                  <a:srgbClr val="3C3939"/>
                </a:solidFill>
                <a:latin typeface="Raleway" pitchFamily="34" charset="0"/>
                <a:ea typeface="Raleway" pitchFamily="34" charset="-122"/>
                <a:cs typeface="Raleway" pitchFamily="34" charset="-120"/>
              </a:rPr>
              <a:t>Тыныштық үйкелісі</a:t>
            </a:r>
            <a:endParaRPr lang="en-US" sz="1750" dirty="0"/>
          </a:p>
        </p:txBody>
      </p:sp>
      <p:sp>
        <p:nvSpPr>
          <p:cNvPr id="8" name="Text 5"/>
          <p:cNvSpPr/>
          <p:nvPr/>
        </p:nvSpPr>
        <p:spPr>
          <a:xfrm>
            <a:off x="950238" y="3984546"/>
            <a:ext cx="3935492" cy="714375"/>
          </a:xfrm>
          <a:prstGeom prst="rect">
            <a:avLst/>
          </a:prstGeom>
          <a:noFill/>
          <a:ln/>
        </p:spPr>
        <p:txBody>
          <a:bodyPr wrap="square" lIns="0" tIns="0" rIns="0" bIns="0" rtlCol="0" anchor="t"/>
          <a:lstStyle/>
          <a:p>
            <a:pPr algn="l" indent="0" marL="0">
              <a:lnSpc>
                <a:spcPts val="1850"/>
              </a:lnSpc>
              <a:buNone/>
            </a:pPr>
            <a:r>
              <a:rPr lang="en-US" sz="1150" dirty="0">
                <a:solidFill>
                  <a:srgbClr val="3C3939"/>
                </a:solidFill>
                <a:latin typeface="Roboto" pitchFamily="34" charset="0"/>
                <a:ea typeface="Roboto" pitchFamily="34" charset="-122"/>
                <a:cs typeface="Roboto" pitchFamily="34" charset="-120"/>
              </a:rPr>
              <a:t>Дене тыныштықта тұрған кезде әрекет ететін күш. Ол дененің қозғалысқа түсуіне кедергі жасайды. Бұл үйкеліс түрі </a:t>
            </a:r>
            <a:pPr algn="l" indent="0" marL="0">
              <a:lnSpc>
                <a:spcPts val="1850"/>
              </a:lnSpc>
              <a:buNone/>
            </a:pPr>
            <a:r>
              <a:rPr lang="en-US" sz="1150" b="1" dirty="0">
                <a:solidFill>
                  <a:srgbClr val="3C3939"/>
                </a:solidFill>
                <a:latin typeface="Roboto" pitchFamily="34" charset="0"/>
                <a:ea typeface="Roboto" pitchFamily="34" charset="-122"/>
                <a:cs typeface="Roboto" pitchFamily="34" charset="-120"/>
              </a:rPr>
              <a:t>ең күшті</a:t>
            </a:r>
            <a:pPr algn="l" indent="0" marL="0">
              <a:lnSpc>
                <a:spcPts val="1850"/>
              </a:lnSpc>
              <a:buNone/>
            </a:pPr>
            <a:r>
              <a:rPr lang="en-US" sz="1150" dirty="0">
                <a:solidFill>
                  <a:srgbClr val="3C3939"/>
                </a:solidFill>
                <a:latin typeface="Roboto" pitchFamily="34" charset="0"/>
                <a:ea typeface="Roboto" pitchFamily="34" charset="-122"/>
                <a:cs typeface="Roboto" pitchFamily="34" charset="-120"/>
              </a:rPr>
              <a:t> болып табылады.</a:t>
            </a:r>
            <a:endParaRPr lang="en-US" sz="1150" dirty="0"/>
          </a:p>
        </p:txBody>
      </p:sp>
      <p:sp>
        <p:nvSpPr>
          <p:cNvPr id="9" name="Text 6"/>
          <p:cNvSpPr/>
          <p:nvPr/>
        </p:nvSpPr>
        <p:spPr>
          <a:xfrm>
            <a:off x="950238" y="4788218"/>
            <a:ext cx="3935492" cy="476250"/>
          </a:xfrm>
          <a:prstGeom prst="rect">
            <a:avLst/>
          </a:prstGeom>
          <a:noFill/>
          <a:ln/>
        </p:spPr>
        <p:txBody>
          <a:bodyPr wrap="square" lIns="0" tIns="0" rIns="0" bIns="0" rtlCol="0" anchor="t"/>
          <a:lstStyle/>
          <a:p>
            <a:pPr algn="l" indent="0" marL="0">
              <a:lnSpc>
                <a:spcPts val="1850"/>
              </a:lnSpc>
              <a:buNone/>
            </a:pPr>
            <a:r>
              <a:rPr lang="en-US" sz="1150" i="1" dirty="0">
                <a:solidFill>
                  <a:srgbClr val="3C3939"/>
                </a:solidFill>
                <a:latin typeface="Roboto" pitchFamily="34" charset="0"/>
                <a:ea typeface="Roboto" pitchFamily="34" charset="-122"/>
                <a:cs typeface="Roboto" pitchFamily="34" charset="-120"/>
              </a:rPr>
              <a:t>Мысал:</a:t>
            </a:r>
            <a:pPr algn="l" indent="0" marL="0">
              <a:lnSpc>
                <a:spcPts val="1850"/>
              </a:lnSpc>
              <a:buNone/>
            </a:pPr>
            <a:r>
              <a:rPr lang="en-US" sz="1150" dirty="0">
                <a:solidFill>
                  <a:srgbClr val="3C3939"/>
                </a:solidFill>
                <a:latin typeface="Roboto" pitchFamily="34" charset="0"/>
                <a:ea typeface="Roboto" pitchFamily="34" charset="-122"/>
                <a:cs typeface="Roboto" pitchFamily="34" charset="-120"/>
              </a:rPr>
              <a:t> Үстелде тұрған кітапты қозғау үшін қолданған күш.</a:t>
            </a:r>
            <a:endParaRPr lang="en-US" sz="1150" dirty="0"/>
          </a:p>
        </p:txBody>
      </p:sp>
      <p:sp>
        <p:nvSpPr>
          <p:cNvPr id="10" name="Shape 7"/>
          <p:cNvSpPr/>
          <p:nvPr/>
        </p:nvSpPr>
        <p:spPr>
          <a:xfrm>
            <a:off x="5191006" y="2864525"/>
            <a:ext cx="4248388" cy="2794516"/>
          </a:xfrm>
          <a:prstGeom prst="roundRect">
            <a:avLst>
              <a:gd name="adj" fmla="val 2237"/>
            </a:avLst>
          </a:prstGeom>
          <a:solidFill>
            <a:srgbClr val="E1E1EA"/>
          </a:solidFill>
          <a:ln w="7620">
            <a:solidFill>
              <a:srgbClr val="1B1B27"/>
            </a:solidFill>
            <a:prstDash val="solid"/>
          </a:ln>
        </p:spPr>
      </p:sp>
      <p:sp>
        <p:nvSpPr>
          <p:cNvPr id="11" name="Shape 8"/>
          <p:cNvSpPr/>
          <p:nvPr/>
        </p:nvSpPr>
        <p:spPr>
          <a:xfrm>
            <a:off x="5347454" y="3020973"/>
            <a:ext cx="446484" cy="446484"/>
          </a:xfrm>
          <a:prstGeom prst="roundRect">
            <a:avLst>
              <a:gd name="adj" fmla="val 20477969"/>
            </a:avLst>
          </a:prstGeom>
          <a:solidFill>
            <a:srgbClr val="1B1B27"/>
          </a:solidFill>
          <a:ln/>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70207" y="3143726"/>
            <a:ext cx="200858" cy="200858"/>
          </a:xfrm>
          <a:prstGeom prst="rect">
            <a:avLst/>
          </a:prstGeom>
        </p:spPr>
      </p:pic>
      <p:sp>
        <p:nvSpPr>
          <p:cNvPr id="13" name="Text 9"/>
          <p:cNvSpPr/>
          <p:nvPr/>
        </p:nvSpPr>
        <p:spPr>
          <a:xfrm>
            <a:off x="5347454" y="3616285"/>
            <a:ext cx="2232779" cy="278963"/>
          </a:xfrm>
          <a:prstGeom prst="rect">
            <a:avLst/>
          </a:prstGeom>
          <a:noFill/>
          <a:ln/>
        </p:spPr>
        <p:txBody>
          <a:bodyPr wrap="none" lIns="0" tIns="0" rIns="0" bIns="0" rtlCol="0" anchor="t"/>
          <a:lstStyle/>
          <a:p>
            <a:pPr algn="l" indent="0" marL="0">
              <a:lnSpc>
                <a:spcPts val="2150"/>
              </a:lnSpc>
              <a:buNone/>
            </a:pPr>
            <a:r>
              <a:rPr lang="en-US" sz="1750" dirty="0">
                <a:solidFill>
                  <a:srgbClr val="3C3939"/>
                </a:solidFill>
                <a:latin typeface="Raleway" pitchFamily="34" charset="0"/>
                <a:ea typeface="Raleway" pitchFamily="34" charset="-122"/>
                <a:cs typeface="Raleway" pitchFamily="34" charset="-120"/>
              </a:rPr>
              <a:t>Сырғанау үйкелісі</a:t>
            </a:r>
            <a:endParaRPr lang="en-US" sz="1750" dirty="0"/>
          </a:p>
        </p:txBody>
      </p:sp>
      <p:sp>
        <p:nvSpPr>
          <p:cNvPr id="14" name="Text 10"/>
          <p:cNvSpPr/>
          <p:nvPr/>
        </p:nvSpPr>
        <p:spPr>
          <a:xfrm>
            <a:off x="5347454" y="3984546"/>
            <a:ext cx="3935492" cy="952500"/>
          </a:xfrm>
          <a:prstGeom prst="rect">
            <a:avLst/>
          </a:prstGeom>
          <a:noFill/>
          <a:ln/>
        </p:spPr>
        <p:txBody>
          <a:bodyPr wrap="square" lIns="0" tIns="0" rIns="0" bIns="0" rtlCol="0" anchor="t"/>
          <a:lstStyle/>
          <a:p>
            <a:pPr algn="l" indent="0" marL="0">
              <a:lnSpc>
                <a:spcPts val="1850"/>
              </a:lnSpc>
              <a:buNone/>
            </a:pPr>
            <a:r>
              <a:rPr lang="en-US" sz="1150" dirty="0">
                <a:solidFill>
                  <a:srgbClr val="3C3939"/>
                </a:solidFill>
                <a:latin typeface="Roboto" pitchFamily="34" charset="0"/>
                <a:ea typeface="Roboto" pitchFamily="34" charset="-122"/>
                <a:cs typeface="Roboto" pitchFamily="34" charset="-120"/>
              </a:rPr>
              <a:t>Дене бет бойымен </a:t>
            </a:r>
            <a:pPr algn="l" indent="0" marL="0">
              <a:lnSpc>
                <a:spcPts val="1850"/>
              </a:lnSpc>
              <a:buNone/>
            </a:pPr>
            <a:r>
              <a:rPr lang="en-US" sz="1150" b="1" dirty="0">
                <a:solidFill>
                  <a:srgbClr val="3C3939"/>
                </a:solidFill>
                <a:latin typeface="Roboto" pitchFamily="34" charset="0"/>
                <a:ea typeface="Roboto" pitchFamily="34" charset="-122"/>
                <a:cs typeface="Roboto" pitchFamily="34" charset="-120"/>
              </a:rPr>
              <a:t>сырғанап қозғалған</a:t>
            </a:r>
            <a:pPr algn="l" indent="0" marL="0">
              <a:lnSpc>
                <a:spcPts val="1850"/>
              </a:lnSpc>
              <a:buNone/>
            </a:pPr>
            <a:r>
              <a:rPr lang="en-US" sz="1150" dirty="0">
                <a:solidFill>
                  <a:srgbClr val="3C3939"/>
                </a:solidFill>
                <a:latin typeface="Roboto" pitchFamily="34" charset="0"/>
                <a:ea typeface="Roboto" pitchFamily="34" charset="-122"/>
                <a:cs typeface="Roboto" pitchFamily="34" charset="-120"/>
              </a:rPr>
              <a:t> кезде пайда болады. Ол тыныштық үйкелісінен әлсіз, сондықтан денені қозғалысқа келтіргеннен кейін жалғастыру оңайырақ.</a:t>
            </a:r>
            <a:endParaRPr lang="en-US" sz="1150" dirty="0"/>
          </a:p>
        </p:txBody>
      </p:sp>
      <p:sp>
        <p:nvSpPr>
          <p:cNvPr id="15" name="Text 11"/>
          <p:cNvSpPr/>
          <p:nvPr/>
        </p:nvSpPr>
        <p:spPr>
          <a:xfrm>
            <a:off x="5347454" y="5026343"/>
            <a:ext cx="3935492" cy="476250"/>
          </a:xfrm>
          <a:prstGeom prst="rect">
            <a:avLst/>
          </a:prstGeom>
          <a:noFill/>
          <a:ln/>
        </p:spPr>
        <p:txBody>
          <a:bodyPr wrap="square" lIns="0" tIns="0" rIns="0" bIns="0" rtlCol="0" anchor="t"/>
          <a:lstStyle/>
          <a:p>
            <a:pPr algn="l" indent="0" marL="0">
              <a:lnSpc>
                <a:spcPts val="1850"/>
              </a:lnSpc>
              <a:buNone/>
            </a:pPr>
            <a:r>
              <a:rPr lang="en-US" sz="1150" i="1" dirty="0">
                <a:solidFill>
                  <a:srgbClr val="3C3939"/>
                </a:solidFill>
                <a:latin typeface="Roboto" pitchFamily="34" charset="0"/>
                <a:ea typeface="Roboto" pitchFamily="34" charset="-122"/>
                <a:cs typeface="Roboto" pitchFamily="34" charset="-120"/>
              </a:rPr>
              <a:t>Мысал:</a:t>
            </a:r>
            <a:pPr algn="l" indent="0" marL="0">
              <a:lnSpc>
                <a:spcPts val="1850"/>
              </a:lnSpc>
              <a:buNone/>
            </a:pPr>
            <a:r>
              <a:rPr lang="en-US" sz="1150" dirty="0">
                <a:solidFill>
                  <a:srgbClr val="3C3939"/>
                </a:solidFill>
                <a:latin typeface="Roboto" pitchFamily="34" charset="0"/>
                <a:ea typeface="Roboto" pitchFamily="34" charset="-122"/>
                <a:cs typeface="Roboto" pitchFamily="34" charset="-120"/>
              </a:rPr>
              <a:t> Шанамен қардың үстімен сырғанау, еденмен жылжитын жиһаз.</a:t>
            </a:r>
            <a:endParaRPr lang="en-US" sz="1150" dirty="0"/>
          </a:p>
        </p:txBody>
      </p:sp>
      <p:sp>
        <p:nvSpPr>
          <p:cNvPr id="16" name="Shape 12"/>
          <p:cNvSpPr/>
          <p:nvPr/>
        </p:nvSpPr>
        <p:spPr>
          <a:xfrm>
            <a:off x="9588222" y="2864525"/>
            <a:ext cx="4248388" cy="2794516"/>
          </a:xfrm>
          <a:prstGeom prst="roundRect">
            <a:avLst>
              <a:gd name="adj" fmla="val 2237"/>
            </a:avLst>
          </a:prstGeom>
          <a:solidFill>
            <a:srgbClr val="E1E1EA"/>
          </a:solidFill>
          <a:ln w="7620">
            <a:solidFill>
              <a:srgbClr val="1B1B27"/>
            </a:solidFill>
            <a:prstDash val="solid"/>
          </a:ln>
        </p:spPr>
      </p:sp>
      <p:sp>
        <p:nvSpPr>
          <p:cNvPr id="17" name="Shape 13"/>
          <p:cNvSpPr/>
          <p:nvPr/>
        </p:nvSpPr>
        <p:spPr>
          <a:xfrm>
            <a:off x="9744670" y="3020973"/>
            <a:ext cx="446484" cy="446484"/>
          </a:xfrm>
          <a:prstGeom prst="roundRect">
            <a:avLst>
              <a:gd name="adj" fmla="val 20477969"/>
            </a:avLst>
          </a:prstGeom>
          <a:solidFill>
            <a:srgbClr val="1B1B27"/>
          </a:solidFill>
          <a:ln/>
        </p:spPr>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867424" y="3143726"/>
            <a:ext cx="200858" cy="200858"/>
          </a:xfrm>
          <a:prstGeom prst="rect">
            <a:avLst/>
          </a:prstGeom>
        </p:spPr>
      </p:pic>
      <p:sp>
        <p:nvSpPr>
          <p:cNvPr id="19" name="Text 14"/>
          <p:cNvSpPr/>
          <p:nvPr/>
        </p:nvSpPr>
        <p:spPr>
          <a:xfrm>
            <a:off x="9744670" y="3616285"/>
            <a:ext cx="2232779" cy="278963"/>
          </a:xfrm>
          <a:prstGeom prst="rect">
            <a:avLst/>
          </a:prstGeom>
          <a:noFill/>
          <a:ln/>
        </p:spPr>
        <p:txBody>
          <a:bodyPr wrap="none" lIns="0" tIns="0" rIns="0" bIns="0" rtlCol="0" anchor="t"/>
          <a:lstStyle/>
          <a:p>
            <a:pPr algn="l" indent="0" marL="0">
              <a:lnSpc>
                <a:spcPts val="2150"/>
              </a:lnSpc>
              <a:buNone/>
            </a:pPr>
            <a:r>
              <a:rPr lang="en-US" sz="1750" dirty="0">
                <a:solidFill>
                  <a:srgbClr val="3C3939"/>
                </a:solidFill>
                <a:latin typeface="Raleway" pitchFamily="34" charset="0"/>
                <a:ea typeface="Raleway" pitchFamily="34" charset="-122"/>
                <a:cs typeface="Raleway" pitchFamily="34" charset="-120"/>
              </a:rPr>
              <a:t>Домалау үйкелісі</a:t>
            </a:r>
            <a:endParaRPr lang="en-US" sz="1750" dirty="0"/>
          </a:p>
        </p:txBody>
      </p:sp>
      <p:sp>
        <p:nvSpPr>
          <p:cNvPr id="20" name="Text 15"/>
          <p:cNvSpPr/>
          <p:nvPr/>
        </p:nvSpPr>
        <p:spPr>
          <a:xfrm>
            <a:off x="9744670" y="3984546"/>
            <a:ext cx="3935492" cy="714375"/>
          </a:xfrm>
          <a:prstGeom prst="rect">
            <a:avLst/>
          </a:prstGeom>
          <a:noFill/>
          <a:ln/>
        </p:spPr>
        <p:txBody>
          <a:bodyPr wrap="square" lIns="0" tIns="0" rIns="0" bIns="0" rtlCol="0" anchor="t"/>
          <a:lstStyle/>
          <a:p>
            <a:pPr algn="l" indent="0" marL="0">
              <a:lnSpc>
                <a:spcPts val="1850"/>
              </a:lnSpc>
              <a:buNone/>
            </a:pPr>
            <a:r>
              <a:rPr lang="en-US" sz="1150" dirty="0">
                <a:solidFill>
                  <a:srgbClr val="3C3939"/>
                </a:solidFill>
                <a:latin typeface="Roboto" pitchFamily="34" charset="0"/>
                <a:ea typeface="Roboto" pitchFamily="34" charset="-122"/>
                <a:cs typeface="Roboto" pitchFamily="34" charset="-120"/>
              </a:rPr>
              <a:t>Дене сырғанаудың орнына </a:t>
            </a:r>
            <a:pPr algn="l" indent="0" marL="0">
              <a:lnSpc>
                <a:spcPts val="1850"/>
              </a:lnSpc>
              <a:buNone/>
            </a:pPr>
            <a:r>
              <a:rPr lang="en-US" sz="1150" b="1" dirty="0">
                <a:solidFill>
                  <a:srgbClr val="3C3939"/>
                </a:solidFill>
                <a:latin typeface="Roboto" pitchFamily="34" charset="0"/>
                <a:ea typeface="Roboto" pitchFamily="34" charset="-122"/>
                <a:cs typeface="Roboto" pitchFamily="34" charset="-120"/>
              </a:rPr>
              <a:t>домалап</a:t>
            </a:r>
            <a:pPr algn="l" indent="0" marL="0">
              <a:lnSpc>
                <a:spcPts val="1850"/>
              </a:lnSpc>
              <a:buNone/>
            </a:pPr>
            <a:r>
              <a:rPr lang="en-US" sz="1150" dirty="0">
                <a:solidFill>
                  <a:srgbClr val="3C3939"/>
                </a:solidFill>
                <a:latin typeface="Roboto" pitchFamily="34" charset="0"/>
                <a:ea typeface="Roboto" pitchFamily="34" charset="-122"/>
                <a:cs typeface="Roboto" pitchFamily="34" charset="-120"/>
              </a:rPr>
              <a:t> қозғалған кезде туындайды. Бұл үйкеліс түрі </a:t>
            </a:r>
            <a:pPr algn="l" indent="0" marL="0">
              <a:lnSpc>
                <a:spcPts val="1850"/>
              </a:lnSpc>
              <a:buNone/>
            </a:pPr>
            <a:r>
              <a:rPr lang="en-US" sz="1150" b="1" dirty="0">
                <a:solidFill>
                  <a:srgbClr val="3C3939"/>
                </a:solidFill>
                <a:latin typeface="Roboto" pitchFamily="34" charset="0"/>
                <a:ea typeface="Roboto" pitchFamily="34" charset="-122"/>
                <a:cs typeface="Roboto" pitchFamily="34" charset="-120"/>
              </a:rPr>
              <a:t>ең әлсіз</a:t>
            </a:r>
            <a:pPr algn="l" indent="0" marL="0">
              <a:lnSpc>
                <a:spcPts val="1850"/>
              </a:lnSpc>
              <a:buNone/>
            </a:pPr>
            <a:r>
              <a:rPr lang="en-US" sz="1150" dirty="0">
                <a:solidFill>
                  <a:srgbClr val="3C3939"/>
                </a:solidFill>
                <a:latin typeface="Roboto" pitchFamily="34" charset="0"/>
                <a:ea typeface="Roboto" pitchFamily="34" charset="-122"/>
                <a:cs typeface="Roboto" pitchFamily="34" charset="-120"/>
              </a:rPr>
              <a:t>, сондықтан техникада кеңінен қолданылады.</a:t>
            </a:r>
            <a:endParaRPr lang="en-US" sz="1150" dirty="0"/>
          </a:p>
        </p:txBody>
      </p:sp>
      <p:sp>
        <p:nvSpPr>
          <p:cNvPr id="21" name="Text 16"/>
          <p:cNvSpPr/>
          <p:nvPr/>
        </p:nvSpPr>
        <p:spPr>
          <a:xfrm>
            <a:off x="9744670" y="4788218"/>
            <a:ext cx="3935492" cy="476250"/>
          </a:xfrm>
          <a:prstGeom prst="rect">
            <a:avLst/>
          </a:prstGeom>
          <a:noFill/>
          <a:ln/>
        </p:spPr>
        <p:txBody>
          <a:bodyPr wrap="square" lIns="0" tIns="0" rIns="0" bIns="0" rtlCol="0" anchor="t"/>
          <a:lstStyle/>
          <a:p>
            <a:pPr algn="l" indent="0" marL="0">
              <a:lnSpc>
                <a:spcPts val="1850"/>
              </a:lnSpc>
              <a:buNone/>
            </a:pPr>
            <a:r>
              <a:rPr lang="en-US" sz="1150" i="1" dirty="0">
                <a:solidFill>
                  <a:srgbClr val="3C3939"/>
                </a:solidFill>
                <a:latin typeface="Roboto" pitchFamily="34" charset="0"/>
                <a:ea typeface="Roboto" pitchFamily="34" charset="-122"/>
                <a:cs typeface="Roboto" pitchFamily="34" charset="-120"/>
              </a:rPr>
              <a:t>Мысал:</a:t>
            </a:r>
            <a:pPr algn="l" indent="0" marL="0">
              <a:lnSpc>
                <a:spcPts val="1850"/>
              </a:lnSpc>
              <a:buNone/>
            </a:pPr>
            <a:r>
              <a:rPr lang="en-US" sz="1150" dirty="0">
                <a:solidFill>
                  <a:srgbClr val="3C3939"/>
                </a:solidFill>
                <a:latin typeface="Roboto" pitchFamily="34" charset="0"/>
                <a:ea typeface="Roboto" pitchFamily="34" charset="-122"/>
                <a:cs typeface="Roboto" pitchFamily="34" charset="-120"/>
              </a:rPr>
              <a:t> Велосипед дөңгелегі, подшипниктер, шарикті тірегіштер.</a:t>
            </a:r>
            <a:endParaRPr lang="en-US" sz="1150" dirty="0"/>
          </a:p>
        </p:txBody>
      </p:sp>
      <p:sp>
        <p:nvSpPr>
          <p:cNvPr id="22" name="Shape 17"/>
          <p:cNvSpPr/>
          <p:nvPr/>
        </p:nvSpPr>
        <p:spPr>
          <a:xfrm>
            <a:off x="793790" y="5826443"/>
            <a:ext cx="13042821" cy="632460"/>
          </a:xfrm>
          <a:prstGeom prst="roundRect">
            <a:avLst>
              <a:gd name="adj" fmla="val 9885"/>
            </a:avLst>
          </a:prstGeom>
          <a:solidFill>
            <a:srgbClr val="D2D2E0"/>
          </a:solidFill>
          <a:ln/>
        </p:spPr>
      </p:sp>
      <p:pic>
        <p:nvPicPr>
          <p:cNvPr id="23" name="Image 3" descr="preencoded.png">    </p:cNvPr>
          <p:cNvPicPr>
            <a:picLocks noChangeAspect="1"/>
          </p:cNvPicPr>
          <p:nvPr/>
        </p:nvPicPr>
        <p:blipFill>
          <a:blip r:embed="rId7"/>
          <a:stretch>
            <a:fillRect/>
          </a:stretch>
        </p:blipFill>
        <p:spPr>
          <a:xfrm>
            <a:off x="942618" y="6049804"/>
            <a:ext cx="185976" cy="148828"/>
          </a:xfrm>
          <a:prstGeom prst="rect">
            <a:avLst/>
          </a:prstGeom>
        </p:spPr>
      </p:pic>
      <p:sp>
        <p:nvSpPr>
          <p:cNvPr id="24" name="Text 18"/>
          <p:cNvSpPr/>
          <p:nvPr/>
        </p:nvSpPr>
        <p:spPr>
          <a:xfrm>
            <a:off x="1277422" y="6012418"/>
            <a:ext cx="12410361" cy="238125"/>
          </a:xfrm>
          <a:prstGeom prst="rect">
            <a:avLst/>
          </a:prstGeom>
          <a:noFill/>
          <a:ln/>
        </p:spPr>
        <p:txBody>
          <a:bodyPr wrap="none" lIns="0" tIns="0" rIns="0" bIns="0" rtlCol="0" anchor="t"/>
          <a:lstStyle/>
          <a:p>
            <a:pPr algn="l" indent="0" marL="0">
              <a:lnSpc>
                <a:spcPts val="1850"/>
              </a:lnSpc>
              <a:buNone/>
            </a:pPr>
            <a:r>
              <a:rPr lang="en-US" sz="1150" b="1" dirty="0">
                <a:solidFill>
                  <a:srgbClr val="000000"/>
                </a:solidFill>
                <a:latin typeface="Roboto" pitchFamily="34" charset="0"/>
                <a:ea typeface="Roboto" pitchFamily="34" charset="-122"/>
                <a:cs typeface="Roboto" pitchFamily="34" charset="-120"/>
              </a:rPr>
              <a:t>Маңызды!</a:t>
            </a:r>
            <a:pPr algn="l" indent="0" marL="0">
              <a:lnSpc>
                <a:spcPts val="1850"/>
              </a:lnSpc>
              <a:buNone/>
            </a:pPr>
            <a:r>
              <a:rPr lang="en-US" sz="1150" dirty="0">
                <a:solidFill>
                  <a:srgbClr val="000000"/>
                </a:solidFill>
                <a:latin typeface="Roboto" pitchFamily="34" charset="0"/>
                <a:ea typeface="Roboto" pitchFamily="34" charset="-122"/>
                <a:cs typeface="Roboto" pitchFamily="34" charset="-120"/>
              </a:rPr>
              <a:t> Үйкеліс күштерінің арақатынасы: Fтыныштық &gt; Fсырғанау &gt; Fдомалау</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450538"/>
            <a:ext cx="5836444" cy="558165"/>
          </a:xfrm>
          <a:prstGeom prst="rect">
            <a:avLst/>
          </a:prstGeom>
          <a:noFill/>
          <a:ln/>
        </p:spPr>
        <p:txBody>
          <a:bodyPr wrap="none" lIns="0" tIns="0" rIns="0" bIns="0" rtlCol="0" anchor="t"/>
          <a:lstStyle/>
          <a:p>
            <a:pPr algn="l" indent="0" marL="0">
              <a:lnSpc>
                <a:spcPts val="4350"/>
              </a:lnSpc>
              <a:buNone/>
            </a:pPr>
            <a:r>
              <a:rPr lang="en-US" sz="3500" dirty="0">
                <a:solidFill>
                  <a:srgbClr val="1B1B27"/>
                </a:solidFill>
                <a:latin typeface="Raleway" pitchFamily="34" charset="0"/>
                <a:ea typeface="Raleway" pitchFamily="34" charset="-122"/>
                <a:cs typeface="Raleway" pitchFamily="34" charset="-120"/>
              </a:rPr>
              <a:t>Үйкеліс күшінің формуласы</a:t>
            </a:r>
            <a:endParaRPr lang="en-US" sz="3500" dirty="0"/>
          </a:p>
        </p:txBody>
      </p:sp>
      <p:pic>
        <p:nvPicPr>
          <p:cNvPr id="3" name="Image 0" descr="preencoded.png">    </p:cNvPr>
          <p:cNvPicPr>
            <a:picLocks noChangeAspect="1"/>
          </p:cNvPicPr>
          <p:nvPr/>
        </p:nvPicPr>
        <p:blipFill>
          <a:blip r:embed="rId1"/>
          <a:stretch>
            <a:fillRect/>
          </a:stretch>
        </p:blipFill>
        <p:spPr>
          <a:xfrm>
            <a:off x="793790" y="2477453"/>
            <a:ext cx="2310884" cy="888802"/>
          </a:xfrm>
          <a:prstGeom prst="rect">
            <a:avLst/>
          </a:prstGeom>
        </p:spPr>
      </p:pic>
      <p:sp>
        <p:nvSpPr>
          <p:cNvPr id="4" name="Text 1"/>
          <p:cNvSpPr/>
          <p:nvPr/>
        </p:nvSpPr>
        <p:spPr>
          <a:xfrm>
            <a:off x="793790" y="3567113"/>
            <a:ext cx="6303526" cy="285750"/>
          </a:xfrm>
          <a:prstGeom prst="rect">
            <a:avLst/>
          </a:prstGeom>
          <a:noFill/>
          <a:ln/>
        </p:spPr>
        <p:txBody>
          <a:bodyPr wrap="none" lIns="0" tIns="0" rIns="0" bIns="0" rtlCol="0" anchor="t"/>
          <a:lstStyle/>
          <a:p>
            <a:pPr algn="l" indent="0" marL="0">
              <a:lnSpc>
                <a:spcPts val="2250"/>
              </a:lnSpc>
              <a:buNone/>
            </a:pPr>
            <a:r>
              <a:rPr lang="en-US" sz="1400" b="1" dirty="0">
                <a:solidFill>
                  <a:srgbClr val="3C3939"/>
                </a:solidFill>
                <a:latin typeface="Roboto" pitchFamily="34" charset="0"/>
                <a:ea typeface="Roboto" pitchFamily="34" charset="-122"/>
                <a:cs typeface="Roboto" pitchFamily="34" charset="-120"/>
              </a:rPr>
              <a:t>Формуладағы белгілеулер:</a:t>
            </a:r>
            <a:endParaRPr lang="en-US" sz="1400" dirty="0"/>
          </a:p>
        </p:txBody>
      </p:sp>
      <p:sp>
        <p:nvSpPr>
          <p:cNvPr id="5" name="Text 2"/>
          <p:cNvSpPr/>
          <p:nvPr/>
        </p:nvSpPr>
        <p:spPr>
          <a:xfrm>
            <a:off x="793790" y="4013597"/>
            <a:ext cx="6303526" cy="285750"/>
          </a:xfrm>
          <a:prstGeom prst="rect">
            <a:avLst/>
          </a:prstGeom>
          <a:noFill/>
          <a:ln/>
        </p:spPr>
        <p:txBody>
          <a:bodyPr wrap="none" lIns="0" tIns="0" rIns="0" bIns="0" rtlCol="0" anchor="t"/>
          <a:lstStyle/>
          <a:p>
            <a:pPr algn="l" marL="342900" indent="-342900">
              <a:lnSpc>
                <a:spcPts val="2250"/>
              </a:lnSpc>
              <a:buSzPct val="100000"/>
              <a:buChar char="•"/>
            </a:pPr>
            <a:r>
              <a:rPr lang="en-US" sz="1400" b="1" dirty="0">
                <a:solidFill>
                  <a:srgbClr val="3C3939"/>
                </a:solidFill>
                <a:latin typeface="Roboto" pitchFamily="34" charset="0"/>
                <a:ea typeface="Roboto" pitchFamily="34" charset="-122"/>
                <a:cs typeface="Roboto" pitchFamily="34" charset="-120"/>
              </a:rPr>
              <a:t>Fтр</a:t>
            </a:r>
            <a:pPr algn="l" indent="0" marL="0">
              <a:lnSpc>
                <a:spcPts val="2250"/>
              </a:lnSpc>
              <a:buNone/>
            </a:pPr>
            <a:r>
              <a:rPr lang="en-US" sz="1400" dirty="0">
                <a:solidFill>
                  <a:srgbClr val="3C3939"/>
                </a:solidFill>
                <a:latin typeface="Roboto" pitchFamily="34" charset="0"/>
                <a:ea typeface="Roboto" pitchFamily="34" charset="-122"/>
                <a:cs typeface="Roboto" pitchFamily="34" charset="-120"/>
              </a:rPr>
              <a:t> – үйкеліс күші (Ньютонмен, Н)</a:t>
            </a:r>
            <a:endParaRPr lang="en-US" sz="1400" dirty="0"/>
          </a:p>
        </p:txBody>
      </p:sp>
      <p:sp>
        <p:nvSpPr>
          <p:cNvPr id="6" name="Text 3"/>
          <p:cNvSpPr/>
          <p:nvPr/>
        </p:nvSpPr>
        <p:spPr>
          <a:xfrm>
            <a:off x="793790" y="4361855"/>
            <a:ext cx="6303526" cy="285750"/>
          </a:xfrm>
          <a:prstGeom prst="rect">
            <a:avLst/>
          </a:prstGeom>
          <a:noFill/>
          <a:ln/>
        </p:spPr>
        <p:txBody>
          <a:bodyPr wrap="none" lIns="0" tIns="0" rIns="0" bIns="0" rtlCol="0" anchor="t"/>
          <a:lstStyle/>
          <a:p>
            <a:pPr algn="l" marL="342900" indent="-342900">
              <a:lnSpc>
                <a:spcPts val="2250"/>
              </a:lnSpc>
              <a:buSzPct val="100000"/>
              <a:buChar char="•"/>
            </a:pPr>
            <a:r>
              <a:rPr lang="en-US" sz="1400" b="1" dirty="0">
                <a:solidFill>
                  <a:srgbClr val="3C3939"/>
                </a:solidFill>
                <a:latin typeface="Roboto" pitchFamily="34" charset="0"/>
                <a:ea typeface="Roboto" pitchFamily="34" charset="-122"/>
                <a:cs typeface="Roboto" pitchFamily="34" charset="-120"/>
              </a:rPr>
              <a:t>μ</a:t>
            </a:r>
            <a:pPr algn="l" indent="0" marL="0">
              <a:lnSpc>
                <a:spcPts val="2250"/>
              </a:lnSpc>
              <a:buNone/>
            </a:pPr>
            <a:r>
              <a:rPr lang="en-US" sz="1400" dirty="0">
                <a:solidFill>
                  <a:srgbClr val="3C3939"/>
                </a:solidFill>
                <a:latin typeface="Roboto" pitchFamily="34" charset="0"/>
                <a:ea typeface="Roboto" pitchFamily="34" charset="-122"/>
                <a:cs typeface="Roboto" pitchFamily="34" charset="-120"/>
              </a:rPr>
              <a:t> (мю) – үйкеліс коэффициенті (өлшем бірлігі жоқ)</a:t>
            </a:r>
            <a:endParaRPr lang="en-US" sz="1400" dirty="0"/>
          </a:p>
        </p:txBody>
      </p:sp>
      <p:sp>
        <p:nvSpPr>
          <p:cNvPr id="7" name="Text 4"/>
          <p:cNvSpPr/>
          <p:nvPr/>
        </p:nvSpPr>
        <p:spPr>
          <a:xfrm>
            <a:off x="793790" y="4710113"/>
            <a:ext cx="6303526" cy="285750"/>
          </a:xfrm>
          <a:prstGeom prst="rect">
            <a:avLst/>
          </a:prstGeom>
          <a:noFill/>
          <a:ln/>
        </p:spPr>
        <p:txBody>
          <a:bodyPr wrap="none" lIns="0" tIns="0" rIns="0" bIns="0" rtlCol="0" anchor="t"/>
          <a:lstStyle/>
          <a:p>
            <a:pPr algn="l" marL="342900" indent="-342900">
              <a:lnSpc>
                <a:spcPts val="2250"/>
              </a:lnSpc>
              <a:buSzPct val="100000"/>
              <a:buChar char="•"/>
            </a:pPr>
            <a:r>
              <a:rPr lang="en-US" sz="1400" b="1" dirty="0">
                <a:solidFill>
                  <a:srgbClr val="3C3939"/>
                </a:solidFill>
                <a:latin typeface="Roboto" pitchFamily="34" charset="0"/>
                <a:ea typeface="Roboto" pitchFamily="34" charset="-122"/>
                <a:cs typeface="Roboto" pitchFamily="34" charset="-120"/>
              </a:rPr>
              <a:t>N</a:t>
            </a:r>
            <a:pPr algn="l" indent="0" marL="0">
              <a:lnSpc>
                <a:spcPts val="2250"/>
              </a:lnSpc>
              <a:buNone/>
            </a:pPr>
            <a:r>
              <a:rPr lang="en-US" sz="1400" dirty="0">
                <a:solidFill>
                  <a:srgbClr val="3C3939"/>
                </a:solidFill>
                <a:latin typeface="Roboto" pitchFamily="34" charset="0"/>
                <a:ea typeface="Roboto" pitchFamily="34" charset="-122"/>
                <a:cs typeface="Roboto" pitchFamily="34" charset="-120"/>
              </a:rPr>
              <a:t> – тіреу реакциясының күші (Н)</a:t>
            </a:r>
            <a:endParaRPr lang="en-US" sz="1400" dirty="0"/>
          </a:p>
        </p:txBody>
      </p:sp>
      <p:sp>
        <p:nvSpPr>
          <p:cNvPr id="8" name="Text 5"/>
          <p:cNvSpPr/>
          <p:nvPr/>
        </p:nvSpPr>
        <p:spPr>
          <a:xfrm>
            <a:off x="793790" y="5156597"/>
            <a:ext cx="6303526" cy="571500"/>
          </a:xfrm>
          <a:prstGeom prst="rect">
            <a:avLst/>
          </a:prstGeom>
          <a:noFill/>
          <a:ln/>
        </p:spPr>
        <p:txBody>
          <a:bodyPr wrap="square" lIns="0" tIns="0" rIns="0" bIns="0" rtlCol="0" anchor="t"/>
          <a:lstStyle/>
          <a:p>
            <a:pPr algn="l" indent="0" marL="0">
              <a:lnSpc>
                <a:spcPts val="2250"/>
              </a:lnSpc>
              <a:buNone/>
            </a:pPr>
            <a:r>
              <a:rPr lang="en-US" sz="1400" dirty="0">
                <a:solidFill>
                  <a:srgbClr val="3C3939"/>
                </a:solidFill>
                <a:latin typeface="Roboto" pitchFamily="34" charset="0"/>
                <a:ea typeface="Roboto" pitchFamily="34" charset="-122"/>
                <a:cs typeface="Roboto" pitchFamily="34" charset="-120"/>
              </a:rPr>
              <a:t>Көлденең бет үшін: </a:t>
            </a:r>
            <a:pPr algn="l" indent="0" marL="0">
              <a:lnSpc>
                <a:spcPts val="2250"/>
              </a:lnSpc>
              <a:buNone/>
            </a:pPr>
            <a:r>
              <a:rPr lang="en-US" sz="1400" b="1" dirty="0">
                <a:solidFill>
                  <a:srgbClr val="3C3939"/>
                </a:solidFill>
                <a:latin typeface="Roboto" pitchFamily="34" charset="0"/>
                <a:ea typeface="Roboto" pitchFamily="34" charset="-122"/>
                <a:cs typeface="Roboto" pitchFamily="34" charset="-120"/>
              </a:rPr>
              <a:t>N = mg</a:t>
            </a:r>
            <a:pPr algn="l" indent="0" marL="0">
              <a:lnSpc>
                <a:spcPts val="2250"/>
              </a:lnSpc>
              <a:buNone/>
            </a:pPr>
            <a:r>
              <a:rPr lang="en-US" sz="1400" dirty="0">
                <a:solidFill>
                  <a:srgbClr val="3C3939"/>
                </a:solidFill>
                <a:latin typeface="Roboto" pitchFamily="34" charset="0"/>
                <a:ea typeface="Roboto" pitchFamily="34" charset="-122"/>
                <a:cs typeface="Roboto" pitchFamily="34" charset="-120"/>
              </a:rPr>
              <a:t>, мұндағы m – масса (кг), g – еркін түсу үдеуі (9,8 м/с²).</a:t>
            </a:r>
            <a:endParaRPr lang="en-US" sz="1400" dirty="0"/>
          </a:p>
        </p:txBody>
      </p:sp>
      <p:sp>
        <p:nvSpPr>
          <p:cNvPr id="9" name="Shape 6"/>
          <p:cNvSpPr/>
          <p:nvPr/>
        </p:nvSpPr>
        <p:spPr>
          <a:xfrm>
            <a:off x="7540704" y="2477453"/>
            <a:ext cx="6303526" cy="1431965"/>
          </a:xfrm>
          <a:prstGeom prst="roundRect">
            <a:avLst>
              <a:gd name="adj" fmla="val 7663"/>
            </a:avLst>
          </a:prstGeom>
          <a:solidFill>
            <a:srgbClr val="FFFFFF">
              <a:alpha val="95000"/>
            </a:srgbClr>
          </a:solidFill>
          <a:ln w="22860">
            <a:solidFill>
              <a:srgbClr val="C7C7D0"/>
            </a:solidFill>
            <a:prstDash val="solid"/>
          </a:ln>
        </p:spPr>
      </p:sp>
      <p:sp>
        <p:nvSpPr>
          <p:cNvPr id="10" name="Shape 7"/>
          <p:cNvSpPr/>
          <p:nvPr/>
        </p:nvSpPr>
        <p:spPr>
          <a:xfrm>
            <a:off x="7517844" y="2477453"/>
            <a:ext cx="91440" cy="1431965"/>
          </a:xfrm>
          <a:prstGeom prst="roundRect">
            <a:avLst>
              <a:gd name="adj" fmla="val 82047"/>
            </a:avLst>
          </a:prstGeom>
          <a:solidFill>
            <a:srgbClr val="1B1B27"/>
          </a:solidFill>
          <a:ln/>
        </p:spPr>
      </p:sp>
      <p:sp>
        <p:nvSpPr>
          <p:cNvPr id="11" name="Text 8"/>
          <p:cNvSpPr/>
          <p:nvPr/>
        </p:nvSpPr>
        <p:spPr>
          <a:xfrm>
            <a:off x="7810738" y="2678906"/>
            <a:ext cx="3864650" cy="278963"/>
          </a:xfrm>
          <a:prstGeom prst="rect">
            <a:avLst/>
          </a:prstGeom>
          <a:noFill/>
          <a:ln/>
        </p:spPr>
        <p:txBody>
          <a:bodyPr wrap="none" lIns="0" tIns="0" rIns="0" bIns="0" rtlCol="0" anchor="t"/>
          <a:lstStyle/>
          <a:p>
            <a:pPr algn="l" indent="0" marL="0">
              <a:lnSpc>
                <a:spcPts val="2150"/>
              </a:lnSpc>
              <a:buNone/>
            </a:pPr>
            <a:r>
              <a:rPr lang="en-US" sz="1750" dirty="0">
                <a:solidFill>
                  <a:srgbClr val="3C3939"/>
                </a:solidFill>
                <a:latin typeface="Raleway" pitchFamily="34" charset="0"/>
                <a:ea typeface="Raleway" pitchFamily="34" charset="-122"/>
                <a:cs typeface="Raleway" pitchFamily="34" charset="-120"/>
              </a:rPr>
              <a:t>Масса артқан сайын үйкеліс артады</a:t>
            </a:r>
            <a:endParaRPr lang="en-US" sz="1750" dirty="0"/>
          </a:p>
        </p:txBody>
      </p:sp>
      <p:sp>
        <p:nvSpPr>
          <p:cNvPr id="12" name="Text 9"/>
          <p:cNvSpPr/>
          <p:nvPr/>
        </p:nvSpPr>
        <p:spPr>
          <a:xfrm>
            <a:off x="7810738" y="3136463"/>
            <a:ext cx="5832038" cy="571500"/>
          </a:xfrm>
          <a:prstGeom prst="rect">
            <a:avLst/>
          </a:prstGeom>
          <a:noFill/>
          <a:ln/>
        </p:spPr>
        <p:txBody>
          <a:bodyPr wrap="square" lIns="0" tIns="0" rIns="0" bIns="0" rtlCol="0" anchor="t"/>
          <a:lstStyle/>
          <a:p>
            <a:pPr algn="l" indent="0" marL="0">
              <a:lnSpc>
                <a:spcPts val="2250"/>
              </a:lnSpc>
              <a:buNone/>
            </a:pPr>
            <a:r>
              <a:rPr lang="en-US" sz="1400" dirty="0">
                <a:solidFill>
                  <a:srgbClr val="3C3939"/>
                </a:solidFill>
                <a:latin typeface="Roboto" pitchFamily="34" charset="0"/>
                <a:ea typeface="Roboto" pitchFamily="34" charset="-122"/>
                <a:cs typeface="Roboto" pitchFamily="34" charset="-120"/>
              </a:rPr>
              <a:t>Дене бетке қаншалықты қатты басылса (массасы үлкен болса), тіреу реакциясы да үлкен болады. Демек, үйкеліс күші де артады.</a:t>
            </a:r>
            <a:endParaRPr lang="en-US" sz="1400" dirty="0"/>
          </a:p>
        </p:txBody>
      </p:sp>
      <p:sp>
        <p:nvSpPr>
          <p:cNvPr id="13" name="Shape 10"/>
          <p:cNvSpPr/>
          <p:nvPr/>
        </p:nvSpPr>
        <p:spPr>
          <a:xfrm>
            <a:off x="7540704" y="4088011"/>
            <a:ext cx="6303526" cy="1717715"/>
          </a:xfrm>
          <a:prstGeom prst="roundRect">
            <a:avLst>
              <a:gd name="adj" fmla="val 6388"/>
            </a:avLst>
          </a:prstGeom>
          <a:solidFill>
            <a:srgbClr val="FFFFFF">
              <a:alpha val="95000"/>
            </a:srgbClr>
          </a:solidFill>
          <a:ln w="22860">
            <a:solidFill>
              <a:srgbClr val="C7C7D0"/>
            </a:solidFill>
            <a:prstDash val="solid"/>
          </a:ln>
        </p:spPr>
      </p:sp>
      <p:sp>
        <p:nvSpPr>
          <p:cNvPr id="14" name="Shape 11"/>
          <p:cNvSpPr/>
          <p:nvPr/>
        </p:nvSpPr>
        <p:spPr>
          <a:xfrm>
            <a:off x="7517844" y="4088011"/>
            <a:ext cx="91440" cy="1717715"/>
          </a:xfrm>
          <a:prstGeom prst="roundRect">
            <a:avLst>
              <a:gd name="adj" fmla="val 82047"/>
            </a:avLst>
          </a:prstGeom>
          <a:solidFill>
            <a:srgbClr val="1B1B27"/>
          </a:solidFill>
          <a:ln/>
        </p:spPr>
      </p:sp>
      <p:sp>
        <p:nvSpPr>
          <p:cNvPr id="15" name="Text 12"/>
          <p:cNvSpPr/>
          <p:nvPr/>
        </p:nvSpPr>
        <p:spPr>
          <a:xfrm>
            <a:off x="7810738" y="4289465"/>
            <a:ext cx="3581757" cy="278963"/>
          </a:xfrm>
          <a:prstGeom prst="rect">
            <a:avLst/>
          </a:prstGeom>
          <a:noFill/>
          <a:ln/>
        </p:spPr>
        <p:txBody>
          <a:bodyPr wrap="none" lIns="0" tIns="0" rIns="0" bIns="0" rtlCol="0" anchor="t"/>
          <a:lstStyle/>
          <a:p>
            <a:pPr algn="l" indent="0" marL="0">
              <a:lnSpc>
                <a:spcPts val="2150"/>
              </a:lnSpc>
              <a:buNone/>
            </a:pPr>
            <a:r>
              <a:rPr lang="en-US" sz="1750" dirty="0">
                <a:solidFill>
                  <a:srgbClr val="3C3939"/>
                </a:solidFill>
                <a:latin typeface="Raleway" pitchFamily="34" charset="0"/>
                <a:ea typeface="Raleway" pitchFamily="34" charset="-122"/>
                <a:cs typeface="Raleway" pitchFamily="34" charset="-120"/>
              </a:rPr>
              <a:t>Беттің кедір-бұдырлығы маңызды</a:t>
            </a:r>
            <a:endParaRPr lang="en-US" sz="1750" dirty="0"/>
          </a:p>
        </p:txBody>
      </p:sp>
      <p:sp>
        <p:nvSpPr>
          <p:cNvPr id="16" name="Text 13"/>
          <p:cNvSpPr/>
          <p:nvPr/>
        </p:nvSpPr>
        <p:spPr>
          <a:xfrm>
            <a:off x="7810738" y="4747022"/>
            <a:ext cx="5832038" cy="857250"/>
          </a:xfrm>
          <a:prstGeom prst="rect">
            <a:avLst/>
          </a:prstGeom>
          <a:noFill/>
          <a:ln/>
        </p:spPr>
        <p:txBody>
          <a:bodyPr wrap="square" lIns="0" tIns="0" rIns="0" bIns="0" rtlCol="0" anchor="t"/>
          <a:lstStyle/>
          <a:p>
            <a:pPr algn="l" indent="0" marL="0">
              <a:lnSpc>
                <a:spcPts val="2250"/>
              </a:lnSpc>
              <a:buNone/>
            </a:pPr>
            <a:r>
              <a:rPr lang="en-US" sz="1400" dirty="0">
                <a:solidFill>
                  <a:srgbClr val="3C3939"/>
                </a:solidFill>
                <a:latin typeface="Roboto" pitchFamily="34" charset="0"/>
                <a:ea typeface="Roboto" pitchFamily="34" charset="-122"/>
                <a:cs typeface="Roboto" pitchFamily="34" charset="-120"/>
              </a:rPr>
              <a:t>Үйкеліс коэффициенті (μ) беттердің кедір-бұдырлығына байланысты. Кедір-бұдыр бет болған сайын μ үлкен, демек үйкеліс күші де күшті.</a:t>
            </a:r>
            <a:endParaRPr lang="en-US" sz="1400" dirty="0"/>
          </a:p>
        </p:txBody>
      </p:sp>
      <p:sp>
        <p:nvSpPr>
          <p:cNvPr id="17" name="Text 14"/>
          <p:cNvSpPr/>
          <p:nvPr/>
        </p:nvSpPr>
        <p:spPr>
          <a:xfrm>
            <a:off x="793790" y="6207443"/>
            <a:ext cx="13042821" cy="571500"/>
          </a:xfrm>
          <a:prstGeom prst="rect">
            <a:avLst/>
          </a:prstGeom>
          <a:noFill/>
          <a:ln/>
        </p:spPr>
        <p:txBody>
          <a:bodyPr wrap="square" lIns="0" tIns="0" rIns="0" bIns="0" rtlCol="0" anchor="t"/>
          <a:lstStyle/>
          <a:p>
            <a:pPr algn="l" indent="0" marL="0">
              <a:lnSpc>
                <a:spcPts val="2250"/>
              </a:lnSpc>
              <a:buNone/>
            </a:pPr>
            <a:r>
              <a:rPr lang="en-US" sz="1400" dirty="0">
                <a:solidFill>
                  <a:srgbClr val="3C3939"/>
                </a:solidFill>
                <a:latin typeface="Roboto" pitchFamily="34" charset="0"/>
                <a:ea typeface="Roboto" pitchFamily="34" charset="-122"/>
                <a:cs typeface="Roboto" pitchFamily="34" charset="-120"/>
              </a:rPr>
              <a:t>Әртүрлі материалдар үшін үйкеліс коэффициенті әртүрлі мәндерге ие. Мысалы, мұз бойымен сырғанау үшін μ ≈ 0,02–0,1 (өте төмен), ал резеңке-асфальт үшін μ ≈ 0,7–0,9 (жоғары).</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778907"/>
            <a:ext cx="5070634" cy="465177"/>
          </a:xfrm>
          <a:prstGeom prst="rect">
            <a:avLst/>
          </a:prstGeom>
          <a:noFill/>
          <a:ln/>
        </p:spPr>
        <p:txBody>
          <a:bodyPr wrap="none" lIns="0" tIns="0" rIns="0" bIns="0" rtlCol="0" anchor="t"/>
          <a:lstStyle/>
          <a:p>
            <a:pPr algn="l" indent="0" marL="0">
              <a:lnSpc>
                <a:spcPts val="3650"/>
              </a:lnSpc>
              <a:buNone/>
            </a:pPr>
            <a:r>
              <a:rPr lang="en-US" sz="2900" dirty="0">
                <a:solidFill>
                  <a:srgbClr val="1B1B27"/>
                </a:solidFill>
                <a:latin typeface="Raleway" pitchFamily="34" charset="0"/>
                <a:ea typeface="Raleway" pitchFamily="34" charset="-122"/>
                <a:cs typeface="Raleway" pitchFamily="34" charset="-120"/>
              </a:rPr>
              <a:t>Техникада үйкелісті басқару</a:t>
            </a:r>
            <a:endParaRPr lang="en-US" sz="2900" dirty="0"/>
          </a:p>
        </p:txBody>
      </p:sp>
      <p:sp>
        <p:nvSpPr>
          <p:cNvPr id="3" name="Text 1"/>
          <p:cNvSpPr/>
          <p:nvPr/>
        </p:nvSpPr>
        <p:spPr>
          <a:xfrm>
            <a:off x="793790" y="1541740"/>
            <a:ext cx="13042821" cy="238125"/>
          </a:xfrm>
          <a:prstGeom prst="rect">
            <a:avLst/>
          </a:prstGeom>
          <a:noFill/>
          <a:ln/>
        </p:spPr>
        <p:txBody>
          <a:bodyPr wrap="none" lIns="0" tIns="0" rIns="0" bIns="0" rtlCol="0" anchor="t"/>
          <a:lstStyle/>
          <a:p>
            <a:pPr algn="l" indent="0" marL="0">
              <a:lnSpc>
                <a:spcPts val="1850"/>
              </a:lnSpc>
              <a:buNone/>
            </a:pPr>
            <a:r>
              <a:rPr lang="en-US" sz="1150" dirty="0">
                <a:solidFill>
                  <a:srgbClr val="3C3939"/>
                </a:solidFill>
                <a:latin typeface="Roboto" pitchFamily="34" charset="0"/>
                <a:ea typeface="Roboto" pitchFamily="34" charset="-122"/>
                <a:cs typeface="Roboto" pitchFamily="34" charset="-120"/>
              </a:rPr>
              <a:t>Техника мен өндірісте үйкеліс күшін мақсатты түрде арттыру немесе азайту қажет. Бұл қауіпсіздікті қамтамасыз етуде және жұмыс тиімділігін арттыруда өте маңызды.</a:t>
            </a:r>
            <a:endParaRPr lang="en-US" sz="1150" dirty="0"/>
          </a:p>
        </p:txBody>
      </p:sp>
      <p:sp>
        <p:nvSpPr>
          <p:cNvPr id="4" name="Text 2"/>
          <p:cNvSpPr/>
          <p:nvPr/>
        </p:nvSpPr>
        <p:spPr>
          <a:xfrm>
            <a:off x="793790" y="2096095"/>
            <a:ext cx="3788450" cy="278963"/>
          </a:xfrm>
          <a:prstGeom prst="rect">
            <a:avLst/>
          </a:prstGeom>
          <a:noFill/>
          <a:ln/>
        </p:spPr>
        <p:txBody>
          <a:bodyPr wrap="none" lIns="0" tIns="0" rIns="0" bIns="0" rtlCol="0" anchor="t"/>
          <a:lstStyle/>
          <a:p>
            <a:pPr algn="l" indent="0" marL="0">
              <a:lnSpc>
                <a:spcPts val="2150"/>
              </a:lnSpc>
              <a:buNone/>
            </a:pPr>
            <a:r>
              <a:rPr lang="en-US" sz="1750" dirty="0">
                <a:solidFill>
                  <a:srgbClr val="1B1B27"/>
                </a:solidFill>
                <a:latin typeface="Raleway" pitchFamily="34" charset="0"/>
                <a:ea typeface="Raleway" pitchFamily="34" charset="-122"/>
                <a:cs typeface="Raleway" pitchFamily="34" charset="-120"/>
              </a:rPr>
              <a:t>Үйкелісті арттыру керек жағдайлар</a:t>
            </a:r>
            <a:endParaRPr lang="en-US" sz="175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93790" y="2561034"/>
            <a:ext cx="148828" cy="148828"/>
          </a:xfrm>
          <a:prstGeom prst="rect">
            <a:avLst/>
          </a:prstGeom>
        </p:spPr>
      </p:pic>
      <p:sp>
        <p:nvSpPr>
          <p:cNvPr id="6" name="Shape 3"/>
          <p:cNvSpPr/>
          <p:nvPr/>
        </p:nvSpPr>
        <p:spPr>
          <a:xfrm>
            <a:off x="793790" y="2780109"/>
            <a:ext cx="6339840" cy="15240"/>
          </a:xfrm>
          <a:prstGeom prst="rect">
            <a:avLst/>
          </a:prstGeom>
          <a:solidFill>
            <a:srgbClr val="1B1B27"/>
          </a:solidFill>
          <a:ln/>
        </p:spPr>
      </p:sp>
      <p:sp>
        <p:nvSpPr>
          <p:cNvPr id="7" name="Text 4"/>
          <p:cNvSpPr/>
          <p:nvPr/>
        </p:nvSpPr>
        <p:spPr>
          <a:xfrm>
            <a:off x="793790" y="2885003"/>
            <a:ext cx="2786182" cy="232529"/>
          </a:xfrm>
          <a:prstGeom prst="rect">
            <a:avLst/>
          </a:prstGeom>
          <a:noFill/>
          <a:ln/>
        </p:spPr>
        <p:txBody>
          <a:bodyPr wrap="none" lIns="0" tIns="0" rIns="0" bIns="0" rtlCol="0" anchor="t"/>
          <a:lstStyle/>
          <a:p>
            <a:pPr algn="l" indent="0" marL="0">
              <a:lnSpc>
                <a:spcPts val="1800"/>
              </a:lnSpc>
              <a:buNone/>
            </a:pPr>
            <a:r>
              <a:rPr lang="en-US" sz="1450" dirty="0">
                <a:solidFill>
                  <a:srgbClr val="3C3939"/>
                </a:solidFill>
                <a:latin typeface="Raleway" pitchFamily="34" charset="0"/>
                <a:ea typeface="Raleway" pitchFamily="34" charset="-122"/>
                <a:cs typeface="Raleway" pitchFamily="34" charset="-120"/>
              </a:rPr>
              <a:t>Автомобиль дөңгелегі мен жол</a:t>
            </a:r>
            <a:endParaRPr lang="en-US" sz="1450" dirty="0"/>
          </a:p>
        </p:txBody>
      </p:sp>
      <p:sp>
        <p:nvSpPr>
          <p:cNvPr id="8" name="Text 5"/>
          <p:cNvSpPr/>
          <p:nvPr/>
        </p:nvSpPr>
        <p:spPr>
          <a:xfrm>
            <a:off x="793790" y="3266361"/>
            <a:ext cx="6339840" cy="238125"/>
          </a:xfrm>
          <a:prstGeom prst="rect">
            <a:avLst/>
          </a:prstGeom>
          <a:noFill/>
          <a:ln/>
        </p:spPr>
        <p:txBody>
          <a:bodyPr wrap="none" lIns="0" tIns="0" rIns="0" bIns="0" rtlCol="0" anchor="t"/>
          <a:lstStyle/>
          <a:p>
            <a:pPr algn="l" indent="0" marL="0">
              <a:lnSpc>
                <a:spcPts val="1850"/>
              </a:lnSpc>
              <a:buNone/>
            </a:pPr>
            <a:r>
              <a:rPr lang="en-US" sz="1150" dirty="0">
                <a:solidFill>
                  <a:srgbClr val="3C3939"/>
                </a:solidFill>
                <a:latin typeface="Roboto" pitchFamily="34" charset="0"/>
                <a:ea typeface="Roboto" pitchFamily="34" charset="-122"/>
                <a:cs typeface="Roboto" pitchFamily="34" charset="-120"/>
              </a:rPr>
              <a:t>Қауіпсіз қозғалыс пен тежелу үшін жақсы ұстамды қамтамасыз ету қажет.</a:t>
            </a:r>
            <a:endParaRPr lang="en-US" sz="115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3790" y="3783449"/>
            <a:ext cx="148828" cy="148828"/>
          </a:xfrm>
          <a:prstGeom prst="rect">
            <a:avLst/>
          </a:prstGeom>
        </p:spPr>
      </p:pic>
      <p:sp>
        <p:nvSpPr>
          <p:cNvPr id="10" name="Shape 6"/>
          <p:cNvSpPr/>
          <p:nvPr/>
        </p:nvSpPr>
        <p:spPr>
          <a:xfrm>
            <a:off x="793790" y="4002524"/>
            <a:ext cx="6339840" cy="15240"/>
          </a:xfrm>
          <a:prstGeom prst="rect">
            <a:avLst/>
          </a:prstGeom>
          <a:solidFill>
            <a:srgbClr val="1B1B27"/>
          </a:solidFill>
          <a:ln/>
        </p:spPr>
      </p:sp>
      <p:sp>
        <p:nvSpPr>
          <p:cNvPr id="11" name="Text 7"/>
          <p:cNvSpPr/>
          <p:nvPr/>
        </p:nvSpPr>
        <p:spPr>
          <a:xfrm>
            <a:off x="793790" y="4107418"/>
            <a:ext cx="1860590" cy="232529"/>
          </a:xfrm>
          <a:prstGeom prst="rect">
            <a:avLst/>
          </a:prstGeom>
          <a:noFill/>
          <a:ln/>
        </p:spPr>
        <p:txBody>
          <a:bodyPr wrap="none" lIns="0" tIns="0" rIns="0" bIns="0" rtlCol="0" anchor="t"/>
          <a:lstStyle/>
          <a:p>
            <a:pPr algn="l" indent="0" marL="0">
              <a:lnSpc>
                <a:spcPts val="1800"/>
              </a:lnSpc>
              <a:buNone/>
            </a:pPr>
            <a:r>
              <a:rPr lang="en-US" sz="1450" dirty="0">
                <a:solidFill>
                  <a:srgbClr val="3C3939"/>
                </a:solidFill>
                <a:latin typeface="Raleway" pitchFamily="34" charset="0"/>
                <a:ea typeface="Raleway" pitchFamily="34" charset="-122"/>
                <a:cs typeface="Raleway" pitchFamily="34" charset="-120"/>
              </a:rPr>
              <a:t>Аяқ киім табаны</a:t>
            </a:r>
            <a:endParaRPr lang="en-US" sz="1450" dirty="0"/>
          </a:p>
        </p:txBody>
      </p:sp>
      <p:sp>
        <p:nvSpPr>
          <p:cNvPr id="12" name="Text 8"/>
          <p:cNvSpPr/>
          <p:nvPr/>
        </p:nvSpPr>
        <p:spPr>
          <a:xfrm>
            <a:off x="793790" y="4488775"/>
            <a:ext cx="6339840" cy="238125"/>
          </a:xfrm>
          <a:prstGeom prst="rect">
            <a:avLst/>
          </a:prstGeom>
          <a:noFill/>
          <a:ln/>
        </p:spPr>
        <p:txBody>
          <a:bodyPr wrap="none" lIns="0" tIns="0" rIns="0" bIns="0" rtlCol="0" anchor="t"/>
          <a:lstStyle/>
          <a:p>
            <a:pPr algn="l" indent="0" marL="0">
              <a:lnSpc>
                <a:spcPts val="1850"/>
              </a:lnSpc>
              <a:buNone/>
            </a:pPr>
            <a:r>
              <a:rPr lang="en-US" sz="1150" dirty="0">
                <a:solidFill>
                  <a:srgbClr val="3C3939"/>
                </a:solidFill>
                <a:latin typeface="Roboto" pitchFamily="34" charset="0"/>
                <a:ea typeface="Roboto" pitchFamily="34" charset="-122"/>
                <a:cs typeface="Roboto" pitchFamily="34" charset="-120"/>
              </a:rPr>
              <a:t>Құрылысшылар, жүргізушілер үшін тайып кетуден сақтау маңызды.</a:t>
            </a:r>
            <a:endParaRPr lang="en-US" sz="1150" dirty="0"/>
          </a:p>
        </p:txBody>
      </p:sp>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3790" y="5005864"/>
            <a:ext cx="148828" cy="148828"/>
          </a:xfrm>
          <a:prstGeom prst="rect">
            <a:avLst/>
          </a:prstGeom>
        </p:spPr>
      </p:pic>
      <p:sp>
        <p:nvSpPr>
          <p:cNvPr id="14" name="Shape 9"/>
          <p:cNvSpPr/>
          <p:nvPr/>
        </p:nvSpPr>
        <p:spPr>
          <a:xfrm>
            <a:off x="793790" y="5224939"/>
            <a:ext cx="6339840" cy="15240"/>
          </a:xfrm>
          <a:prstGeom prst="rect">
            <a:avLst/>
          </a:prstGeom>
          <a:solidFill>
            <a:srgbClr val="1B1B27"/>
          </a:solidFill>
          <a:ln/>
        </p:spPr>
      </p:sp>
      <p:sp>
        <p:nvSpPr>
          <p:cNvPr id="15" name="Text 10"/>
          <p:cNvSpPr/>
          <p:nvPr/>
        </p:nvSpPr>
        <p:spPr>
          <a:xfrm>
            <a:off x="793790" y="5329833"/>
            <a:ext cx="1868329" cy="232529"/>
          </a:xfrm>
          <a:prstGeom prst="rect">
            <a:avLst/>
          </a:prstGeom>
          <a:noFill/>
          <a:ln/>
        </p:spPr>
        <p:txBody>
          <a:bodyPr wrap="none" lIns="0" tIns="0" rIns="0" bIns="0" rtlCol="0" anchor="t"/>
          <a:lstStyle/>
          <a:p>
            <a:pPr algn="l" indent="0" marL="0">
              <a:lnSpc>
                <a:spcPts val="1800"/>
              </a:lnSpc>
              <a:buNone/>
            </a:pPr>
            <a:r>
              <a:rPr lang="en-US" sz="1450" dirty="0">
                <a:solidFill>
                  <a:srgbClr val="3C3939"/>
                </a:solidFill>
                <a:latin typeface="Raleway" pitchFamily="34" charset="0"/>
                <a:ea typeface="Raleway" pitchFamily="34" charset="-122"/>
                <a:cs typeface="Raleway" pitchFamily="34" charset="-120"/>
              </a:rPr>
              <a:t>Конвейер таспалары</a:t>
            </a:r>
            <a:endParaRPr lang="en-US" sz="1450" dirty="0"/>
          </a:p>
        </p:txBody>
      </p:sp>
      <p:sp>
        <p:nvSpPr>
          <p:cNvPr id="16" name="Text 11"/>
          <p:cNvSpPr/>
          <p:nvPr/>
        </p:nvSpPr>
        <p:spPr>
          <a:xfrm>
            <a:off x="793790" y="5711190"/>
            <a:ext cx="6339840" cy="238125"/>
          </a:xfrm>
          <a:prstGeom prst="rect">
            <a:avLst/>
          </a:prstGeom>
          <a:noFill/>
          <a:ln/>
        </p:spPr>
        <p:txBody>
          <a:bodyPr wrap="none" lIns="0" tIns="0" rIns="0" bIns="0" rtlCol="0" anchor="t"/>
          <a:lstStyle/>
          <a:p>
            <a:pPr algn="l" indent="0" marL="0">
              <a:lnSpc>
                <a:spcPts val="1850"/>
              </a:lnSpc>
              <a:buNone/>
            </a:pPr>
            <a:r>
              <a:rPr lang="en-US" sz="1150" dirty="0">
                <a:solidFill>
                  <a:srgbClr val="3C3939"/>
                </a:solidFill>
                <a:latin typeface="Roboto" pitchFamily="34" charset="0"/>
                <a:ea typeface="Roboto" pitchFamily="34" charset="-122"/>
                <a:cs typeface="Roboto" pitchFamily="34" charset="-120"/>
              </a:rPr>
              <a:t>Жүктердің сырғанауын болдырмау үшін үйкелісті арттыру керек.</a:t>
            </a:r>
            <a:endParaRPr lang="en-US" sz="1150" dirty="0"/>
          </a:p>
        </p:txBody>
      </p:sp>
      <p:pic>
        <p:nvPicPr>
          <p:cNvPr id="17"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93790" y="6228278"/>
            <a:ext cx="148828" cy="148828"/>
          </a:xfrm>
          <a:prstGeom prst="rect">
            <a:avLst/>
          </a:prstGeom>
        </p:spPr>
      </p:pic>
      <p:sp>
        <p:nvSpPr>
          <p:cNvPr id="18" name="Shape 12"/>
          <p:cNvSpPr/>
          <p:nvPr/>
        </p:nvSpPr>
        <p:spPr>
          <a:xfrm>
            <a:off x="793790" y="6447353"/>
            <a:ext cx="6339840" cy="15240"/>
          </a:xfrm>
          <a:prstGeom prst="rect">
            <a:avLst/>
          </a:prstGeom>
          <a:solidFill>
            <a:srgbClr val="1B1B27"/>
          </a:solidFill>
          <a:ln/>
        </p:spPr>
      </p:sp>
      <p:sp>
        <p:nvSpPr>
          <p:cNvPr id="19" name="Text 13"/>
          <p:cNvSpPr/>
          <p:nvPr/>
        </p:nvSpPr>
        <p:spPr>
          <a:xfrm>
            <a:off x="793790" y="6552248"/>
            <a:ext cx="1871543" cy="232529"/>
          </a:xfrm>
          <a:prstGeom prst="rect">
            <a:avLst/>
          </a:prstGeom>
          <a:noFill/>
          <a:ln/>
        </p:spPr>
        <p:txBody>
          <a:bodyPr wrap="none" lIns="0" tIns="0" rIns="0" bIns="0" rtlCol="0" anchor="t"/>
          <a:lstStyle/>
          <a:p>
            <a:pPr algn="l" indent="0" marL="0">
              <a:lnSpc>
                <a:spcPts val="1800"/>
              </a:lnSpc>
              <a:buNone/>
            </a:pPr>
            <a:r>
              <a:rPr lang="en-US" sz="1450" dirty="0">
                <a:solidFill>
                  <a:srgbClr val="3C3939"/>
                </a:solidFill>
                <a:latin typeface="Raleway" pitchFamily="34" charset="0"/>
                <a:ea typeface="Raleway" pitchFamily="34" charset="-122"/>
                <a:cs typeface="Raleway" pitchFamily="34" charset="-120"/>
              </a:rPr>
              <a:t>Жұмысшы қолғаптар</a:t>
            </a:r>
            <a:endParaRPr lang="en-US" sz="1450" dirty="0"/>
          </a:p>
        </p:txBody>
      </p:sp>
      <p:sp>
        <p:nvSpPr>
          <p:cNvPr id="20" name="Text 14"/>
          <p:cNvSpPr/>
          <p:nvPr/>
        </p:nvSpPr>
        <p:spPr>
          <a:xfrm>
            <a:off x="793790" y="6933605"/>
            <a:ext cx="6339840" cy="238125"/>
          </a:xfrm>
          <a:prstGeom prst="rect">
            <a:avLst/>
          </a:prstGeom>
          <a:noFill/>
          <a:ln/>
        </p:spPr>
        <p:txBody>
          <a:bodyPr wrap="none" lIns="0" tIns="0" rIns="0" bIns="0" rtlCol="0" anchor="t"/>
          <a:lstStyle/>
          <a:p>
            <a:pPr algn="l" indent="0" marL="0">
              <a:lnSpc>
                <a:spcPts val="1850"/>
              </a:lnSpc>
              <a:buNone/>
            </a:pPr>
            <a:r>
              <a:rPr lang="en-US" sz="1150" dirty="0">
                <a:solidFill>
                  <a:srgbClr val="3C3939"/>
                </a:solidFill>
                <a:latin typeface="Roboto" pitchFamily="34" charset="0"/>
                <a:ea typeface="Roboto" pitchFamily="34" charset="-122"/>
                <a:cs typeface="Roboto" pitchFamily="34" charset="-120"/>
              </a:rPr>
              <a:t>Құралдарды берік ұстау үшін қолғаптарға арнайы кедір-бұдыр қабат қолданылады.</a:t>
            </a:r>
            <a:endParaRPr lang="en-US" sz="1150" dirty="0"/>
          </a:p>
        </p:txBody>
      </p:sp>
      <p:sp>
        <p:nvSpPr>
          <p:cNvPr id="21" name="Text 15"/>
          <p:cNvSpPr/>
          <p:nvPr/>
        </p:nvSpPr>
        <p:spPr>
          <a:xfrm>
            <a:off x="7504390" y="2096095"/>
            <a:ext cx="3616166" cy="278963"/>
          </a:xfrm>
          <a:prstGeom prst="rect">
            <a:avLst/>
          </a:prstGeom>
          <a:noFill/>
          <a:ln/>
        </p:spPr>
        <p:txBody>
          <a:bodyPr wrap="none" lIns="0" tIns="0" rIns="0" bIns="0" rtlCol="0" anchor="t"/>
          <a:lstStyle/>
          <a:p>
            <a:pPr algn="l" indent="0" marL="0">
              <a:lnSpc>
                <a:spcPts val="2150"/>
              </a:lnSpc>
              <a:buNone/>
            </a:pPr>
            <a:r>
              <a:rPr lang="en-US" sz="1750" dirty="0">
                <a:solidFill>
                  <a:srgbClr val="1B1B27"/>
                </a:solidFill>
                <a:latin typeface="Raleway" pitchFamily="34" charset="0"/>
                <a:ea typeface="Raleway" pitchFamily="34" charset="-122"/>
                <a:cs typeface="Raleway" pitchFamily="34" charset="-120"/>
              </a:rPr>
              <a:t>Үйкелісті азайту керек жағдайлар</a:t>
            </a:r>
            <a:endParaRPr lang="en-US" sz="1750" dirty="0"/>
          </a:p>
        </p:txBody>
      </p:sp>
      <p:pic>
        <p:nvPicPr>
          <p:cNvPr id="22"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504390" y="2561034"/>
            <a:ext cx="148828" cy="148828"/>
          </a:xfrm>
          <a:prstGeom prst="rect">
            <a:avLst/>
          </a:prstGeom>
        </p:spPr>
      </p:pic>
      <p:sp>
        <p:nvSpPr>
          <p:cNvPr id="23" name="Shape 16"/>
          <p:cNvSpPr/>
          <p:nvPr/>
        </p:nvSpPr>
        <p:spPr>
          <a:xfrm>
            <a:off x="7504390" y="2780109"/>
            <a:ext cx="6339840" cy="15240"/>
          </a:xfrm>
          <a:prstGeom prst="rect">
            <a:avLst/>
          </a:prstGeom>
          <a:solidFill>
            <a:srgbClr val="1B1B27"/>
          </a:solidFill>
          <a:ln/>
        </p:spPr>
      </p:sp>
      <p:sp>
        <p:nvSpPr>
          <p:cNvPr id="24" name="Text 17"/>
          <p:cNvSpPr/>
          <p:nvPr/>
        </p:nvSpPr>
        <p:spPr>
          <a:xfrm>
            <a:off x="7504390" y="2885003"/>
            <a:ext cx="1860590" cy="232529"/>
          </a:xfrm>
          <a:prstGeom prst="rect">
            <a:avLst/>
          </a:prstGeom>
          <a:noFill/>
          <a:ln/>
        </p:spPr>
        <p:txBody>
          <a:bodyPr wrap="none" lIns="0" tIns="0" rIns="0" bIns="0" rtlCol="0" anchor="t"/>
          <a:lstStyle/>
          <a:p>
            <a:pPr algn="l" indent="0" marL="0">
              <a:lnSpc>
                <a:spcPts val="1800"/>
              </a:lnSpc>
              <a:buNone/>
            </a:pPr>
            <a:r>
              <a:rPr lang="en-US" sz="1450" dirty="0">
                <a:solidFill>
                  <a:srgbClr val="3C3939"/>
                </a:solidFill>
                <a:latin typeface="Raleway" pitchFamily="34" charset="0"/>
                <a:ea typeface="Raleway" pitchFamily="34" charset="-122"/>
                <a:cs typeface="Raleway" pitchFamily="34" charset="-120"/>
              </a:rPr>
              <a:t>Подшипниктер</a:t>
            </a:r>
            <a:endParaRPr lang="en-US" sz="1450" dirty="0"/>
          </a:p>
        </p:txBody>
      </p:sp>
      <p:sp>
        <p:nvSpPr>
          <p:cNvPr id="25" name="Text 18"/>
          <p:cNvSpPr/>
          <p:nvPr/>
        </p:nvSpPr>
        <p:spPr>
          <a:xfrm>
            <a:off x="7504390" y="3266361"/>
            <a:ext cx="6339840" cy="238125"/>
          </a:xfrm>
          <a:prstGeom prst="rect">
            <a:avLst/>
          </a:prstGeom>
          <a:noFill/>
          <a:ln/>
        </p:spPr>
        <p:txBody>
          <a:bodyPr wrap="none" lIns="0" tIns="0" rIns="0" bIns="0" rtlCol="0" anchor="t"/>
          <a:lstStyle/>
          <a:p>
            <a:pPr algn="l" indent="0" marL="0">
              <a:lnSpc>
                <a:spcPts val="1850"/>
              </a:lnSpc>
              <a:buNone/>
            </a:pPr>
            <a:r>
              <a:rPr lang="en-US" sz="1150" dirty="0">
                <a:solidFill>
                  <a:srgbClr val="3C3939"/>
                </a:solidFill>
                <a:latin typeface="Roboto" pitchFamily="34" charset="0"/>
                <a:ea typeface="Roboto" pitchFamily="34" charset="-122"/>
                <a:cs typeface="Roboto" pitchFamily="34" charset="-120"/>
              </a:rPr>
              <a:t>Домалау үйкелісін пайдаланып, механизмдердің тегіс жұмыс істеуін қамтамасыз етеді.</a:t>
            </a:r>
            <a:endParaRPr lang="en-US" sz="1150" dirty="0"/>
          </a:p>
        </p:txBody>
      </p:sp>
      <p:pic>
        <p:nvPicPr>
          <p:cNvPr id="26"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504390" y="3783449"/>
            <a:ext cx="148828" cy="148828"/>
          </a:xfrm>
          <a:prstGeom prst="rect">
            <a:avLst/>
          </a:prstGeom>
        </p:spPr>
      </p:pic>
      <p:sp>
        <p:nvSpPr>
          <p:cNvPr id="27" name="Shape 19"/>
          <p:cNvSpPr/>
          <p:nvPr/>
        </p:nvSpPr>
        <p:spPr>
          <a:xfrm>
            <a:off x="7504390" y="4002524"/>
            <a:ext cx="6339840" cy="15240"/>
          </a:xfrm>
          <a:prstGeom prst="rect">
            <a:avLst/>
          </a:prstGeom>
          <a:solidFill>
            <a:srgbClr val="1B1B27"/>
          </a:solidFill>
          <a:ln/>
        </p:spPr>
      </p:sp>
      <p:sp>
        <p:nvSpPr>
          <p:cNvPr id="28" name="Text 20"/>
          <p:cNvSpPr/>
          <p:nvPr/>
        </p:nvSpPr>
        <p:spPr>
          <a:xfrm>
            <a:off x="7504390" y="4107418"/>
            <a:ext cx="2145625" cy="232529"/>
          </a:xfrm>
          <a:prstGeom prst="rect">
            <a:avLst/>
          </a:prstGeom>
          <a:noFill/>
          <a:ln/>
        </p:spPr>
        <p:txBody>
          <a:bodyPr wrap="none" lIns="0" tIns="0" rIns="0" bIns="0" rtlCol="0" anchor="t"/>
          <a:lstStyle/>
          <a:p>
            <a:pPr algn="l" indent="0" marL="0">
              <a:lnSpc>
                <a:spcPts val="1800"/>
              </a:lnSpc>
              <a:buNone/>
            </a:pPr>
            <a:r>
              <a:rPr lang="en-US" sz="1450" dirty="0">
                <a:solidFill>
                  <a:srgbClr val="3C3939"/>
                </a:solidFill>
                <a:latin typeface="Raleway" pitchFamily="34" charset="0"/>
                <a:ea typeface="Raleway" pitchFamily="34" charset="-122"/>
                <a:cs typeface="Raleway" pitchFamily="34" charset="-120"/>
              </a:rPr>
              <a:t>Қозғалтқыш бөлшектері</a:t>
            </a:r>
            <a:endParaRPr lang="en-US" sz="1450" dirty="0"/>
          </a:p>
        </p:txBody>
      </p:sp>
      <p:sp>
        <p:nvSpPr>
          <p:cNvPr id="29" name="Text 21"/>
          <p:cNvSpPr/>
          <p:nvPr/>
        </p:nvSpPr>
        <p:spPr>
          <a:xfrm>
            <a:off x="7504390" y="4488775"/>
            <a:ext cx="6339840" cy="238125"/>
          </a:xfrm>
          <a:prstGeom prst="rect">
            <a:avLst/>
          </a:prstGeom>
          <a:noFill/>
          <a:ln/>
        </p:spPr>
        <p:txBody>
          <a:bodyPr wrap="none" lIns="0" tIns="0" rIns="0" bIns="0" rtlCol="0" anchor="t"/>
          <a:lstStyle/>
          <a:p>
            <a:pPr algn="l" indent="0" marL="0">
              <a:lnSpc>
                <a:spcPts val="1850"/>
              </a:lnSpc>
              <a:buNone/>
            </a:pPr>
            <a:r>
              <a:rPr lang="en-US" sz="1150" dirty="0">
                <a:solidFill>
                  <a:srgbClr val="3C3939"/>
                </a:solidFill>
                <a:latin typeface="Roboto" pitchFamily="34" charset="0"/>
                <a:ea typeface="Roboto" pitchFamily="34" charset="-122"/>
                <a:cs typeface="Roboto" pitchFamily="34" charset="-120"/>
              </a:rPr>
              <a:t>Май құю арқылы үйкелісті азайтып, тозуды баяулату және қызуды төмендету.</a:t>
            </a:r>
            <a:endParaRPr lang="en-US" sz="1150" dirty="0"/>
          </a:p>
        </p:txBody>
      </p:sp>
      <p:pic>
        <p:nvPicPr>
          <p:cNvPr id="30"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504390" y="5005864"/>
            <a:ext cx="148828" cy="148828"/>
          </a:xfrm>
          <a:prstGeom prst="rect">
            <a:avLst/>
          </a:prstGeom>
        </p:spPr>
      </p:pic>
      <p:sp>
        <p:nvSpPr>
          <p:cNvPr id="31" name="Shape 22"/>
          <p:cNvSpPr/>
          <p:nvPr/>
        </p:nvSpPr>
        <p:spPr>
          <a:xfrm>
            <a:off x="7504390" y="5224939"/>
            <a:ext cx="6339840" cy="15240"/>
          </a:xfrm>
          <a:prstGeom prst="rect">
            <a:avLst/>
          </a:prstGeom>
          <a:solidFill>
            <a:srgbClr val="1B1B27"/>
          </a:solidFill>
          <a:ln/>
        </p:spPr>
      </p:sp>
      <p:sp>
        <p:nvSpPr>
          <p:cNvPr id="32" name="Text 23"/>
          <p:cNvSpPr/>
          <p:nvPr/>
        </p:nvSpPr>
        <p:spPr>
          <a:xfrm>
            <a:off x="7504390" y="5329833"/>
            <a:ext cx="1860590" cy="232529"/>
          </a:xfrm>
          <a:prstGeom prst="rect">
            <a:avLst/>
          </a:prstGeom>
          <a:noFill/>
          <a:ln/>
        </p:spPr>
        <p:txBody>
          <a:bodyPr wrap="none" lIns="0" tIns="0" rIns="0" bIns="0" rtlCol="0" anchor="t"/>
          <a:lstStyle/>
          <a:p>
            <a:pPr algn="l" indent="0" marL="0">
              <a:lnSpc>
                <a:spcPts val="1800"/>
              </a:lnSpc>
              <a:buNone/>
            </a:pPr>
            <a:r>
              <a:rPr lang="en-US" sz="1450" dirty="0">
                <a:solidFill>
                  <a:srgbClr val="3C3939"/>
                </a:solidFill>
                <a:latin typeface="Raleway" pitchFamily="34" charset="0"/>
                <a:ea typeface="Raleway" pitchFamily="34" charset="-122"/>
                <a:cs typeface="Raleway" pitchFamily="34" charset="-120"/>
              </a:rPr>
              <a:t>Рельс пен дөңгалақ</a:t>
            </a:r>
            <a:endParaRPr lang="en-US" sz="1450" dirty="0"/>
          </a:p>
        </p:txBody>
      </p:sp>
      <p:sp>
        <p:nvSpPr>
          <p:cNvPr id="33" name="Text 24"/>
          <p:cNvSpPr/>
          <p:nvPr/>
        </p:nvSpPr>
        <p:spPr>
          <a:xfrm>
            <a:off x="7504390" y="5711190"/>
            <a:ext cx="6339840" cy="238125"/>
          </a:xfrm>
          <a:prstGeom prst="rect">
            <a:avLst/>
          </a:prstGeom>
          <a:noFill/>
          <a:ln/>
        </p:spPr>
        <p:txBody>
          <a:bodyPr wrap="none" lIns="0" tIns="0" rIns="0" bIns="0" rtlCol="0" anchor="t"/>
          <a:lstStyle/>
          <a:p>
            <a:pPr algn="l" indent="0" marL="0">
              <a:lnSpc>
                <a:spcPts val="1850"/>
              </a:lnSpc>
              <a:buNone/>
            </a:pPr>
            <a:r>
              <a:rPr lang="en-US" sz="1150" dirty="0">
                <a:solidFill>
                  <a:srgbClr val="3C3939"/>
                </a:solidFill>
                <a:latin typeface="Roboto" pitchFamily="34" charset="0"/>
                <a:ea typeface="Roboto" pitchFamily="34" charset="-122"/>
                <a:cs typeface="Roboto" pitchFamily="34" charset="-120"/>
              </a:rPr>
              <a:t>Пойыздардың тегіс қозғалуы үшін беттерді жылтырату және майлау қолданылады.</a:t>
            </a:r>
            <a:endParaRPr lang="en-US" sz="1150" dirty="0"/>
          </a:p>
        </p:txBody>
      </p:sp>
      <p:pic>
        <p:nvPicPr>
          <p:cNvPr id="34"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504390" y="6228278"/>
            <a:ext cx="148828" cy="148828"/>
          </a:xfrm>
          <a:prstGeom prst="rect">
            <a:avLst/>
          </a:prstGeom>
        </p:spPr>
      </p:pic>
      <p:sp>
        <p:nvSpPr>
          <p:cNvPr id="35" name="Shape 25"/>
          <p:cNvSpPr/>
          <p:nvPr/>
        </p:nvSpPr>
        <p:spPr>
          <a:xfrm>
            <a:off x="7504390" y="6447353"/>
            <a:ext cx="6339840" cy="15240"/>
          </a:xfrm>
          <a:prstGeom prst="rect">
            <a:avLst/>
          </a:prstGeom>
          <a:solidFill>
            <a:srgbClr val="1B1B27"/>
          </a:solidFill>
          <a:ln/>
        </p:spPr>
      </p:sp>
      <p:sp>
        <p:nvSpPr>
          <p:cNvPr id="36" name="Text 26"/>
          <p:cNvSpPr/>
          <p:nvPr/>
        </p:nvSpPr>
        <p:spPr>
          <a:xfrm>
            <a:off x="7504390" y="6552248"/>
            <a:ext cx="2696647" cy="232529"/>
          </a:xfrm>
          <a:prstGeom prst="rect">
            <a:avLst/>
          </a:prstGeom>
          <a:noFill/>
          <a:ln/>
        </p:spPr>
        <p:txBody>
          <a:bodyPr wrap="none" lIns="0" tIns="0" rIns="0" bIns="0" rtlCol="0" anchor="t"/>
          <a:lstStyle/>
          <a:p>
            <a:pPr algn="l" indent="0" marL="0">
              <a:lnSpc>
                <a:spcPts val="1800"/>
              </a:lnSpc>
              <a:buNone/>
            </a:pPr>
            <a:r>
              <a:rPr lang="en-US" sz="1450" dirty="0">
                <a:solidFill>
                  <a:srgbClr val="3C3939"/>
                </a:solidFill>
                <a:latin typeface="Raleway" pitchFamily="34" charset="0"/>
                <a:ea typeface="Raleway" pitchFamily="34" charset="-122"/>
                <a:cs typeface="Raleway" pitchFamily="34" charset="-120"/>
              </a:rPr>
              <a:t>Механизмдер мен машиналар</a:t>
            </a:r>
            <a:endParaRPr lang="en-US" sz="1450" dirty="0"/>
          </a:p>
        </p:txBody>
      </p:sp>
      <p:sp>
        <p:nvSpPr>
          <p:cNvPr id="37" name="Text 27"/>
          <p:cNvSpPr/>
          <p:nvPr/>
        </p:nvSpPr>
        <p:spPr>
          <a:xfrm>
            <a:off x="7504390" y="6933605"/>
            <a:ext cx="6339840" cy="238125"/>
          </a:xfrm>
          <a:prstGeom prst="rect">
            <a:avLst/>
          </a:prstGeom>
          <a:noFill/>
          <a:ln/>
        </p:spPr>
        <p:txBody>
          <a:bodyPr wrap="none" lIns="0" tIns="0" rIns="0" bIns="0" rtlCol="0" anchor="t"/>
          <a:lstStyle/>
          <a:p>
            <a:pPr algn="l" indent="0" marL="0">
              <a:lnSpc>
                <a:spcPts val="1850"/>
              </a:lnSpc>
              <a:buNone/>
            </a:pPr>
            <a:r>
              <a:rPr lang="en-US" sz="1150" dirty="0">
                <a:solidFill>
                  <a:srgbClr val="3C3939"/>
                </a:solidFill>
                <a:latin typeface="Roboto" pitchFamily="34" charset="0"/>
                <a:ea typeface="Roboto" pitchFamily="34" charset="-122"/>
                <a:cs typeface="Roboto" pitchFamily="34" charset="-120"/>
              </a:rPr>
              <a:t>Роликтер, подшипниктер, тегістеу арқылы энергия шығынын азайту.</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2123837"/>
            <a:ext cx="7620595" cy="434102"/>
          </a:xfrm>
          <a:prstGeom prst="rect">
            <a:avLst/>
          </a:prstGeom>
          <a:noFill/>
          <a:ln/>
        </p:spPr>
        <p:txBody>
          <a:bodyPr wrap="none" lIns="0" tIns="0" rIns="0" bIns="0" rtlCol="0" anchor="t"/>
          <a:lstStyle/>
          <a:p>
            <a:pPr algn="l" indent="0" marL="0">
              <a:lnSpc>
                <a:spcPts val="3400"/>
              </a:lnSpc>
              <a:buNone/>
            </a:pPr>
            <a:r>
              <a:rPr lang="en-US" sz="2700" dirty="0">
                <a:solidFill>
                  <a:srgbClr val="1B1B27"/>
                </a:solidFill>
                <a:latin typeface="Raleway" pitchFamily="34" charset="0"/>
                <a:ea typeface="Raleway" pitchFamily="34" charset="-122"/>
                <a:cs typeface="Raleway" pitchFamily="34" charset="-120"/>
              </a:rPr>
              <a:t>Егер үйкеліс мүлдем жоқ болса не болар еді?</a:t>
            </a:r>
            <a:endParaRPr lang="en-US" sz="2700" dirty="0"/>
          </a:p>
        </p:txBody>
      </p:sp>
      <p:sp>
        <p:nvSpPr>
          <p:cNvPr id="3" name="Text 1"/>
          <p:cNvSpPr/>
          <p:nvPr/>
        </p:nvSpPr>
        <p:spPr>
          <a:xfrm>
            <a:off x="793790" y="2766298"/>
            <a:ext cx="13042821" cy="222290"/>
          </a:xfrm>
          <a:prstGeom prst="rect">
            <a:avLst/>
          </a:prstGeom>
          <a:noFill/>
          <a:ln/>
        </p:spPr>
        <p:txBody>
          <a:bodyPr wrap="none" lIns="0" tIns="0" rIns="0" bIns="0" rtlCol="0" anchor="t"/>
          <a:lstStyle/>
          <a:p>
            <a:pPr algn="l" indent="0" marL="0">
              <a:lnSpc>
                <a:spcPts val="1750"/>
              </a:lnSpc>
              <a:buNone/>
            </a:pPr>
            <a:r>
              <a:rPr lang="en-US" sz="1050" dirty="0">
                <a:solidFill>
                  <a:srgbClr val="3C3939"/>
                </a:solidFill>
                <a:latin typeface="Roboto" pitchFamily="34" charset="0"/>
                <a:ea typeface="Roboto" pitchFamily="34" charset="-122"/>
                <a:cs typeface="Roboto" pitchFamily="34" charset="-120"/>
              </a:rPr>
              <a:t>Үйкеліс күші жоқ әлемді елестетіп көріңіздер! Бұл керемет, бірақ өте қауіпті болар еді. Міне, не болатынын ойланайық:</a:t>
            </a:r>
            <a:endParaRPr lang="en-US" sz="1050" dirty="0"/>
          </a:p>
        </p:txBody>
      </p:sp>
      <p:sp>
        <p:nvSpPr>
          <p:cNvPr id="4" name="Shape 2"/>
          <p:cNvSpPr/>
          <p:nvPr/>
        </p:nvSpPr>
        <p:spPr>
          <a:xfrm>
            <a:off x="793790" y="3144798"/>
            <a:ext cx="6451997" cy="1037868"/>
          </a:xfrm>
          <a:prstGeom prst="roundRect">
            <a:avLst>
              <a:gd name="adj" fmla="val 5622"/>
            </a:avLst>
          </a:prstGeom>
          <a:solidFill>
            <a:srgbClr val="E1E1EA"/>
          </a:solidFill>
          <a:ln w="7620">
            <a:solidFill>
              <a:srgbClr val="C7C7D0"/>
            </a:solidFill>
            <a:prstDash val="solid"/>
          </a:ln>
        </p:spPr>
      </p:sp>
      <p:sp>
        <p:nvSpPr>
          <p:cNvPr id="5" name="Text 3"/>
          <p:cNvSpPr/>
          <p:nvPr/>
        </p:nvSpPr>
        <p:spPr>
          <a:xfrm>
            <a:off x="940237" y="3291245"/>
            <a:ext cx="1736646" cy="217051"/>
          </a:xfrm>
          <a:prstGeom prst="rect">
            <a:avLst/>
          </a:prstGeom>
          <a:noFill/>
          <a:ln/>
        </p:spPr>
        <p:txBody>
          <a:bodyPr wrap="none" lIns="0" tIns="0" rIns="0" bIns="0" rtlCol="0" anchor="t"/>
          <a:lstStyle/>
          <a:p>
            <a:pPr algn="l" indent="0" marL="0">
              <a:lnSpc>
                <a:spcPts val="1700"/>
              </a:lnSpc>
              <a:buNone/>
            </a:pPr>
            <a:r>
              <a:rPr lang="en-US" sz="1350" dirty="0">
                <a:solidFill>
                  <a:srgbClr val="3C3939"/>
                </a:solidFill>
                <a:latin typeface="Raleway" pitchFamily="34" charset="0"/>
                <a:ea typeface="Raleway" pitchFamily="34" charset="-122"/>
                <a:cs typeface="Raleway" pitchFamily="34" charset="-120"/>
              </a:rPr>
              <a:t>Жүру мүмкін емес</a:t>
            </a:r>
            <a:endParaRPr lang="en-US" sz="1350" dirty="0"/>
          </a:p>
        </p:txBody>
      </p:sp>
      <p:sp>
        <p:nvSpPr>
          <p:cNvPr id="6" name="Text 4"/>
          <p:cNvSpPr/>
          <p:nvPr/>
        </p:nvSpPr>
        <p:spPr>
          <a:xfrm>
            <a:off x="940237" y="3591639"/>
            <a:ext cx="6159103" cy="444579"/>
          </a:xfrm>
          <a:prstGeom prst="rect">
            <a:avLst/>
          </a:prstGeom>
          <a:noFill/>
          <a:ln/>
        </p:spPr>
        <p:txBody>
          <a:bodyPr wrap="square" lIns="0" tIns="0" rIns="0" bIns="0" rtlCol="0" anchor="t"/>
          <a:lstStyle/>
          <a:p>
            <a:pPr algn="l" indent="0" marL="0">
              <a:lnSpc>
                <a:spcPts val="1750"/>
              </a:lnSpc>
              <a:buNone/>
            </a:pPr>
            <a:r>
              <a:rPr lang="en-US" sz="1050" dirty="0">
                <a:solidFill>
                  <a:srgbClr val="3C3939"/>
                </a:solidFill>
                <a:latin typeface="Roboto" pitchFamily="34" charset="0"/>
                <a:ea typeface="Roboto" pitchFamily="34" charset="-122"/>
                <a:cs typeface="Roboto" pitchFamily="34" charset="-120"/>
              </a:rPr>
              <a:t>Біз әрбір қадамда тайып, алға жылжи алмас едік. Аяқ киімнің табаны мен жер арасында ешқандай ұстамды болмайтын.</a:t>
            </a:r>
            <a:endParaRPr lang="en-US" sz="1050" dirty="0"/>
          </a:p>
        </p:txBody>
      </p:sp>
      <p:sp>
        <p:nvSpPr>
          <p:cNvPr id="7" name="Shape 5"/>
          <p:cNvSpPr/>
          <p:nvPr/>
        </p:nvSpPr>
        <p:spPr>
          <a:xfrm>
            <a:off x="7384613" y="3144798"/>
            <a:ext cx="6451997" cy="1037868"/>
          </a:xfrm>
          <a:prstGeom prst="roundRect">
            <a:avLst>
              <a:gd name="adj" fmla="val 5622"/>
            </a:avLst>
          </a:prstGeom>
          <a:solidFill>
            <a:srgbClr val="E1E1EA"/>
          </a:solidFill>
          <a:ln w="7620">
            <a:solidFill>
              <a:srgbClr val="C7C7D0"/>
            </a:solidFill>
            <a:prstDash val="solid"/>
          </a:ln>
        </p:spPr>
      </p:sp>
      <p:sp>
        <p:nvSpPr>
          <p:cNvPr id="8" name="Text 6"/>
          <p:cNvSpPr/>
          <p:nvPr/>
        </p:nvSpPr>
        <p:spPr>
          <a:xfrm>
            <a:off x="7531060" y="3291245"/>
            <a:ext cx="2115503" cy="217051"/>
          </a:xfrm>
          <a:prstGeom prst="rect">
            <a:avLst/>
          </a:prstGeom>
          <a:noFill/>
          <a:ln/>
        </p:spPr>
        <p:txBody>
          <a:bodyPr wrap="none" lIns="0" tIns="0" rIns="0" bIns="0" rtlCol="0" anchor="t"/>
          <a:lstStyle/>
          <a:p>
            <a:pPr algn="l" indent="0" marL="0">
              <a:lnSpc>
                <a:spcPts val="1700"/>
              </a:lnSpc>
              <a:buNone/>
            </a:pPr>
            <a:r>
              <a:rPr lang="en-US" sz="1350" dirty="0">
                <a:solidFill>
                  <a:srgbClr val="3C3939"/>
                </a:solidFill>
                <a:latin typeface="Raleway" pitchFamily="34" charset="0"/>
                <a:ea typeface="Raleway" pitchFamily="34" charset="-122"/>
                <a:cs typeface="Raleway" pitchFamily="34" charset="-120"/>
              </a:rPr>
              <a:t>Көліктер басқарылмайды</a:t>
            </a:r>
            <a:endParaRPr lang="en-US" sz="1350" dirty="0"/>
          </a:p>
        </p:txBody>
      </p:sp>
      <p:sp>
        <p:nvSpPr>
          <p:cNvPr id="9" name="Text 7"/>
          <p:cNvSpPr/>
          <p:nvPr/>
        </p:nvSpPr>
        <p:spPr>
          <a:xfrm>
            <a:off x="7531060" y="3591639"/>
            <a:ext cx="6159103" cy="444579"/>
          </a:xfrm>
          <a:prstGeom prst="rect">
            <a:avLst/>
          </a:prstGeom>
          <a:noFill/>
          <a:ln/>
        </p:spPr>
        <p:txBody>
          <a:bodyPr wrap="square" lIns="0" tIns="0" rIns="0" bIns="0" rtlCol="0" anchor="t"/>
          <a:lstStyle/>
          <a:p>
            <a:pPr algn="l" indent="0" marL="0">
              <a:lnSpc>
                <a:spcPts val="1750"/>
              </a:lnSpc>
              <a:buNone/>
            </a:pPr>
            <a:r>
              <a:rPr lang="en-US" sz="1050" dirty="0">
                <a:solidFill>
                  <a:srgbClr val="3C3939"/>
                </a:solidFill>
                <a:latin typeface="Roboto" pitchFamily="34" charset="0"/>
                <a:ea typeface="Roboto" pitchFamily="34" charset="-122"/>
                <a:cs typeface="Roboto" pitchFamily="34" charset="-120"/>
              </a:rPr>
              <a:t>Машиналар тоқтай алмай, бұрылыста бақылаудан шығып кететін. Жол қозғалысы толық тоқтар еді.</a:t>
            </a:r>
            <a:endParaRPr lang="en-US" sz="1050" dirty="0"/>
          </a:p>
        </p:txBody>
      </p:sp>
      <p:sp>
        <p:nvSpPr>
          <p:cNvPr id="10" name="Shape 8"/>
          <p:cNvSpPr/>
          <p:nvPr/>
        </p:nvSpPr>
        <p:spPr>
          <a:xfrm>
            <a:off x="793790" y="4321493"/>
            <a:ext cx="6451997" cy="1037868"/>
          </a:xfrm>
          <a:prstGeom prst="roundRect">
            <a:avLst>
              <a:gd name="adj" fmla="val 5622"/>
            </a:avLst>
          </a:prstGeom>
          <a:solidFill>
            <a:srgbClr val="E1E1EA"/>
          </a:solidFill>
          <a:ln w="7620">
            <a:solidFill>
              <a:srgbClr val="C7C7D0"/>
            </a:solidFill>
            <a:prstDash val="solid"/>
          </a:ln>
        </p:spPr>
      </p:sp>
      <p:sp>
        <p:nvSpPr>
          <p:cNvPr id="11" name="Text 9"/>
          <p:cNvSpPr/>
          <p:nvPr/>
        </p:nvSpPr>
        <p:spPr>
          <a:xfrm>
            <a:off x="940237" y="4467939"/>
            <a:ext cx="1736646" cy="217051"/>
          </a:xfrm>
          <a:prstGeom prst="rect">
            <a:avLst/>
          </a:prstGeom>
          <a:noFill/>
          <a:ln/>
        </p:spPr>
        <p:txBody>
          <a:bodyPr wrap="none" lIns="0" tIns="0" rIns="0" bIns="0" rtlCol="0" anchor="t"/>
          <a:lstStyle/>
          <a:p>
            <a:pPr algn="l" indent="0" marL="0">
              <a:lnSpc>
                <a:spcPts val="1700"/>
              </a:lnSpc>
              <a:buNone/>
            </a:pPr>
            <a:r>
              <a:rPr lang="en-US" sz="1350" dirty="0">
                <a:solidFill>
                  <a:srgbClr val="3C3939"/>
                </a:solidFill>
                <a:latin typeface="Raleway" pitchFamily="34" charset="0"/>
                <a:ea typeface="Raleway" pitchFamily="34" charset="-122"/>
                <a:cs typeface="Raleway" pitchFamily="34" charset="-120"/>
              </a:rPr>
              <a:t>Заттар ұстамайды</a:t>
            </a:r>
            <a:endParaRPr lang="en-US" sz="1350" dirty="0"/>
          </a:p>
        </p:txBody>
      </p:sp>
      <p:sp>
        <p:nvSpPr>
          <p:cNvPr id="12" name="Text 10"/>
          <p:cNvSpPr/>
          <p:nvPr/>
        </p:nvSpPr>
        <p:spPr>
          <a:xfrm>
            <a:off x="940237" y="4768334"/>
            <a:ext cx="6159103" cy="444579"/>
          </a:xfrm>
          <a:prstGeom prst="rect">
            <a:avLst/>
          </a:prstGeom>
          <a:noFill/>
          <a:ln/>
        </p:spPr>
        <p:txBody>
          <a:bodyPr wrap="square" lIns="0" tIns="0" rIns="0" bIns="0" rtlCol="0" anchor="t"/>
          <a:lstStyle/>
          <a:p>
            <a:pPr algn="l" indent="0" marL="0">
              <a:lnSpc>
                <a:spcPts val="1750"/>
              </a:lnSpc>
              <a:buNone/>
            </a:pPr>
            <a:r>
              <a:rPr lang="en-US" sz="1050" dirty="0">
                <a:solidFill>
                  <a:srgbClr val="3C3939"/>
                </a:solidFill>
                <a:latin typeface="Roboto" pitchFamily="34" charset="0"/>
                <a:ea typeface="Roboto" pitchFamily="34" charset="-122"/>
                <a:cs typeface="Roboto" pitchFamily="34" charset="-120"/>
              </a:rPr>
              <a:t>Қолымызға алған кез келген зат тайып түсіп кететін. Қаламмен жазу, құралмен жұмыс істеу мүмкін болмас еді.</a:t>
            </a:r>
            <a:endParaRPr lang="en-US" sz="1050" dirty="0"/>
          </a:p>
        </p:txBody>
      </p:sp>
      <p:sp>
        <p:nvSpPr>
          <p:cNvPr id="13" name="Shape 11"/>
          <p:cNvSpPr/>
          <p:nvPr/>
        </p:nvSpPr>
        <p:spPr>
          <a:xfrm>
            <a:off x="7384613" y="4321493"/>
            <a:ext cx="6451997" cy="1037868"/>
          </a:xfrm>
          <a:prstGeom prst="roundRect">
            <a:avLst>
              <a:gd name="adj" fmla="val 5622"/>
            </a:avLst>
          </a:prstGeom>
          <a:solidFill>
            <a:srgbClr val="E1E1EA"/>
          </a:solidFill>
          <a:ln w="7620">
            <a:solidFill>
              <a:srgbClr val="C7C7D0"/>
            </a:solidFill>
            <a:prstDash val="solid"/>
          </a:ln>
        </p:spPr>
      </p:sp>
      <p:sp>
        <p:nvSpPr>
          <p:cNvPr id="14" name="Text 12"/>
          <p:cNvSpPr/>
          <p:nvPr/>
        </p:nvSpPr>
        <p:spPr>
          <a:xfrm>
            <a:off x="7531060" y="4467939"/>
            <a:ext cx="1976795" cy="217051"/>
          </a:xfrm>
          <a:prstGeom prst="rect">
            <a:avLst/>
          </a:prstGeom>
          <a:noFill/>
          <a:ln/>
        </p:spPr>
        <p:txBody>
          <a:bodyPr wrap="none" lIns="0" tIns="0" rIns="0" bIns="0" rtlCol="0" anchor="t"/>
          <a:lstStyle/>
          <a:p>
            <a:pPr algn="l" indent="0" marL="0">
              <a:lnSpc>
                <a:spcPts val="1700"/>
              </a:lnSpc>
              <a:buNone/>
            </a:pPr>
            <a:r>
              <a:rPr lang="en-US" sz="1350" dirty="0">
                <a:solidFill>
                  <a:srgbClr val="3C3939"/>
                </a:solidFill>
                <a:latin typeface="Raleway" pitchFamily="34" charset="0"/>
                <a:ea typeface="Raleway" pitchFamily="34" charset="-122"/>
                <a:cs typeface="Raleway" pitchFamily="34" charset="-120"/>
              </a:rPr>
              <a:t>Құрылымдар ыдырайды</a:t>
            </a:r>
            <a:endParaRPr lang="en-US" sz="1350" dirty="0"/>
          </a:p>
        </p:txBody>
      </p:sp>
      <p:sp>
        <p:nvSpPr>
          <p:cNvPr id="15" name="Text 13"/>
          <p:cNvSpPr/>
          <p:nvPr/>
        </p:nvSpPr>
        <p:spPr>
          <a:xfrm>
            <a:off x="7531060" y="4768334"/>
            <a:ext cx="6159103" cy="444579"/>
          </a:xfrm>
          <a:prstGeom prst="rect">
            <a:avLst/>
          </a:prstGeom>
          <a:noFill/>
          <a:ln/>
        </p:spPr>
        <p:txBody>
          <a:bodyPr wrap="square" lIns="0" tIns="0" rIns="0" bIns="0" rtlCol="0" anchor="t"/>
          <a:lstStyle/>
          <a:p>
            <a:pPr algn="l" indent="0" marL="0">
              <a:lnSpc>
                <a:spcPts val="1750"/>
              </a:lnSpc>
              <a:buNone/>
            </a:pPr>
            <a:r>
              <a:rPr lang="en-US" sz="1050" dirty="0">
                <a:solidFill>
                  <a:srgbClr val="3C3939"/>
                </a:solidFill>
                <a:latin typeface="Roboto" pitchFamily="34" charset="0"/>
                <a:ea typeface="Roboto" pitchFamily="34" charset="-122"/>
                <a:cs typeface="Roboto" pitchFamily="34" charset="-120"/>
              </a:rPr>
              <a:t>Бұрандалар, шегелер ұстамайды. Ғимараттар, көпірлер, барлық құрылымдар ыдырап кетер еді.</a:t>
            </a:r>
            <a:endParaRPr lang="en-US" sz="1050" dirty="0"/>
          </a:p>
        </p:txBody>
      </p:sp>
      <p:sp>
        <p:nvSpPr>
          <p:cNvPr id="16" name="Shape 14"/>
          <p:cNvSpPr/>
          <p:nvPr/>
        </p:nvSpPr>
        <p:spPr>
          <a:xfrm>
            <a:off x="793790" y="5515570"/>
            <a:ext cx="13042821" cy="590193"/>
          </a:xfrm>
          <a:prstGeom prst="roundRect">
            <a:avLst>
              <a:gd name="adj" fmla="val 9887"/>
            </a:avLst>
          </a:prstGeom>
          <a:solidFill>
            <a:srgbClr val="D2D2E0"/>
          </a:solidFill>
          <a:ln/>
        </p:spPr>
      </p:sp>
      <p:pic>
        <p:nvPicPr>
          <p:cNvPr id="17" name="Image 0" descr="preencoded.png">    </p:cNvPr>
          <p:cNvPicPr>
            <a:picLocks noChangeAspect="1"/>
          </p:cNvPicPr>
          <p:nvPr/>
        </p:nvPicPr>
        <p:blipFill>
          <a:blip r:embed="rId1"/>
          <a:stretch>
            <a:fillRect/>
          </a:stretch>
        </p:blipFill>
        <p:spPr>
          <a:xfrm>
            <a:off x="932617" y="5727502"/>
            <a:ext cx="173593" cy="138827"/>
          </a:xfrm>
          <a:prstGeom prst="rect">
            <a:avLst/>
          </a:prstGeom>
        </p:spPr>
      </p:pic>
      <p:sp>
        <p:nvSpPr>
          <p:cNvPr id="18" name="Text 15"/>
          <p:cNvSpPr/>
          <p:nvPr/>
        </p:nvSpPr>
        <p:spPr>
          <a:xfrm>
            <a:off x="1245037" y="5689044"/>
            <a:ext cx="12452747" cy="222290"/>
          </a:xfrm>
          <a:prstGeom prst="rect">
            <a:avLst/>
          </a:prstGeom>
          <a:noFill/>
          <a:ln/>
        </p:spPr>
        <p:txBody>
          <a:bodyPr wrap="none" lIns="0" tIns="0" rIns="0" bIns="0" rtlCol="0" anchor="t"/>
          <a:lstStyle/>
          <a:p>
            <a:pPr algn="l" indent="0" marL="0">
              <a:lnSpc>
                <a:spcPts val="1750"/>
              </a:lnSpc>
              <a:buNone/>
            </a:pPr>
            <a:r>
              <a:rPr lang="en-US" sz="1050" b="1" dirty="0">
                <a:solidFill>
                  <a:srgbClr val="000000"/>
                </a:solidFill>
                <a:latin typeface="Roboto" pitchFamily="34" charset="0"/>
                <a:ea typeface="Roboto" pitchFamily="34" charset="-122"/>
                <a:cs typeface="Roboto" pitchFamily="34" charset="-120"/>
              </a:rPr>
              <a:t>Ойланайық:</a:t>
            </a:r>
            <a:pPr algn="l" indent="0" marL="0">
              <a:lnSpc>
                <a:spcPts val="1750"/>
              </a:lnSpc>
              <a:buNone/>
            </a:pPr>
            <a:r>
              <a:rPr lang="en-US" sz="1050" dirty="0">
                <a:solidFill>
                  <a:srgbClr val="000000"/>
                </a:solidFill>
                <a:latin typeface="Roboto" pitchFamily="34" charset="0"/>
                <a:ea typeface="Roboto" pitchFamily="34" charset="-122"/>
                <a:cs typeface="Roboto" pitchFamily="34" charset="-120"/>
              </a:rPr>
              <a:t> Үйкеліс – бұл біздің өміріміздің негізі. Ол бізге қауіпсіз қозғалуға, жұмыс істеуге, тіпті тұруға мүмкіндік береді!</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818912"/>
            <a:ext cx="7599759" cy="403146"/>
          </a:xfrm>
          <a:prstGeom prst="rect">
            <a:avLst/>
          </a:prstGeom>
          <a:noFill/>
          <a:ln/>
        </p:spPr>
        <p:txBody>
          <a:bodyPr wrap="none" lIns="0" tIns="0" rIns="0" bIns="0" rtlCol="0" anchor="t"/>
          <a:lstStyle/>
          <a:p>
            <a:pPr algn="l" indent="0" marL="0">
              <a:lnSpc>
                <a:spcPts val="3150"/>
              </a:lnSpc>
              <a:buNone/>
            </a:pPr>
            <a:r>
              <a:rPr lang="en-US" sz="2500" dirty="0">
                <a:solidFill>
                  <a:srgbClr val="1B1B27"/>
                </a:solidFill>
                <a:latin typeface="Raleway" pitchFamily="34" charset="0"/>
                <a:ea typeface="Raleway" pitchFamily="34" charset="-122"/>
                <a:cs typeface="Raleway" pitchFamily="34" charset="-120"/>
              </a:rPr>
              <a:t>1-Тапсырма: Әртүрлі беттердегі үйкелісті зерттеу</a:t>
            </a:r>
            <a:endParaRPr lang="en-US" sz="2500" dirty="0"/>
          </a:p>
        </p:txBody>
      </p:sp>
      <p:sp>
        <p:nvSpPr>
          <p:cNvPr id="3" name="Text 1"/>
          <p:cNvSpPr/>
          <p:nvPr/>
        </p:nvSpPr>
        <p:spPr>
          <a:xfrm>
            <a:off x="793790" y="1480066"/>
            <a:ext cx="13042821" cy="206454"/>
          </a:xfrm>
          <a:prstGeom prst="rect">
            <a:avLst/>
          </a:prstGeom>
          <a:noFill/>
          <a:ln/>
        </p:spPr>
        <p:txBody>
          <a:bodyPr wrap="none" lIns="0" tIns="0" rIns="0" bIns="0" rtlCol="0" anchor="t"/>
          <a:lstStyle/>
          <a:p>
            <a:pPr algn="l" indent="0" marL="0">
              <a:lnSpc>
                <a:spcPts val="1600"/>
              </a:lnSpc>
              <a:buNone/>
            </a:pPr>
            <a:r>
              <a:rPr lang="en-US" sz="1000" dirty="0">
                <a:solidFill>
                  <a:srgbClr val="3C3939"/>
                </a:solidFill>
                <a:latin typeface="Roboto" pitchFamily="34" charset="0"/>
                <a:ea typeface="Roboto" pitchFamily="34" charset="-122"/>
                <a:cs typeface="Roboto" pitchFamily="34" charset="-120"/>
              </a:rPr>
              <a:t>Бұл тәжірибелік жұмыста сіздер әртүрлі беттерде үйкеліс күші қалай өзгеретінін өз көзіңізбен көресіздер және өлшейсіздер. Жұптық жұмыс арқылы бірлік пен ынтымақтастық дағдыларыңызды дамытасыздар.</a:t>
            </a:r>
            <a:endParaRPr lang="en-US" sz="1000" dirty="0"/>
          </a:p>
        </p:txBody>
      </p:sp>
      <p:sp>
        <p:nvSpPr>
          <p:cNvPr id="4" name="Text 2"/>
          <p:cNvSpPr/>
          <p:nvPr/>
        </p:nvSpPr>
        <p:spPr>
          <a:xfrm>
            <a:off x="793790" y="1960483"/>
            <a:ext cx="1935123" cy="241816"/>
          </a:xfrm>
          <a:prstGeom prst="rect">
            <a:avLst/>
          </a:prstGeom>
          <a:noFill/>
          <a:ln/>
        </p:spPr>
        <p:txBody>
          <a:bodyPr wrap="none" lIns="0" tIns="0" rIns="0" bIns="0" rtlCol="0" anchor="t"/>
          <a:lstStyle/>
          <a:p>
            <a:pPr algn="l" indent="0" marL="0">
              <a:lnSpc>
                <a:spcPts val="1900"/>
              </a:lnSpc>
              <a:buNone/>
            </a:pPr>
            <a:r>
              <a:rPr lang="en-US" sz="1500" dirty="0">
                <a:solidFill>
                  <a:srgbClr val="1B1B27"/>
                </a:solidFill>
                <a:latin typeface="Raleway" pitchFamily="34" charset="0"/>
                <a:ea typeface="Raleway" pitchFamily="34" charset="-122"/>
                <a:cs typeface="Raleway" pitchFamily="34" charset="-120"/>
              </a:rPr>
              <a:t>Құралдар:</a:t>
            </a:r>
            <a:endParaRPr lang="en-US" sz="1500" dirty="0"/>
          </a:p>
        </p:txBody>
      </p:sp>
      <p:sp>
        <p:nvSpPr>
          <p:cNvPr id="5" name="Text 3"/>
          <p:cNvSpPr/>
          <p:nvPr/>
        </p:nvSpPr>
        <p:spPr>
          <a:xfrm>
            <a:off x="793790" y="2331244"/>
            <a:ext cx="5028367" cy="206454"/>
          </a:xfrm>
          <a:prstGeom prst="rect">
            <a:avLst/>
          </a:prstGeom>
          <a:noFill/>
          <a:ln/>
        </p:spPr>
        <p:txBody>
          <a:bodyPr wrap="none" lIns="0" tIns="0" rIns="0" bIns="0" rtlCol="0" anchor="t"/>
          <a:lstStyle/>
          <a:p>
            <a:pPr algn="l" marL="342900" indent="-342900">
              <a:lnSpc>
                <a:spcPts val="1600"/>
              </a:lnSpc>
              <a:buSzPct val="100000"/>
              <a:buChar char="•"/>
            </a:pPr>
            <a:r>
              <a:rPr lang="en-US" sz="1000" dirty="0">
                <a:solidFill>
                  <a:srgbClr val="3C3939"/>
                </a:solidFill>
                <a:latin typeface="Roboto" pitchFamily="34" charset="0"/>
                <a:ea typeface="Roboto" pitchFamily="34" charset="-122"/>
                <a:cs typeface="Roboto" pitchFamily="34" charset="-120"/>
              </a:rPr>
              <a:t>Ойыншық машина немесе өшіргіш</a:t>
            </a:r>
            <a:endParaRPr lang="en-US" sz="1000" dirty="0"/>
          </a:p>
        </p:txBody>
      </p:sp>
      <p:sp>
        <p:nvSpPr>
          <p:cNvPr id="6" name="Text 4"/>
          <p:cNvSpPr/>
          <p:nvPr/>
        </p:nvSpPr>
        <p:spPr>
          <a:xfrm>
            <a:off x="793790" y="2582823"/>
            <a:ext cx="5028367" cy="206454"/>
          </a:xfrm>
          <a:prstGeom prst="rect">
            <a:avLst/>
          </a:prstGeom>
          <a:noFill/>
          <a:ln/>
        </p:spPr>
        <p:txBody>
          <a:bodyPr wrap="none" lIns="0" tIns="0" rIns="0" bIns="0" rtlCol="0" anchor="t"/>
          <a:lstStyle/>
          <a:p>
            <a:pPr algn="l" marL="342900" indent="-342900">
              <a:lnSpc>
                <a:spcPts val="1600"/>
              </a:lnSpc>
              <a:buSzPct val="100000"/>
              <a:buChar char="•"/>
            </a:pPr>
            <a:r>
              <a:rPr lang="en-US" sz="1000" dirty="0">
                <a:solidFill>
                  <a:srgbClr val="3C3939"/>
                </a:solidFill>
                <a:latin typeface="Roboto" pitchFamily="34" charset="0"/>
                <a:ea typeface="Roboto" pitchFamily="34" charset="-122"/>
                <a:cs typeface="Roboto" pitchFamily="34" charset="-120"/>
              </a:rPr>
              <a:t>Сызғыш (20–30 см)</a:t>
            </a:r>
            <a:endParaRPr lang="en-US" sz="1000" dirty="0"/>
          </a:p>
        </p:txBody>
      </p:sp>
      <p:sp>
        <p:nvSpPr>
          <p:cNvPr id="7" name="Text 5"/>
          <p:cNvSpPr/>
          <p:nvPr/>
        </p:nvSpPr>
        <p:spPr>
          <a:xfrm>
            <a:off x="793790" y="2834402"/>
            <a:ext cx="5028367" cy="206454"/>
          </a:xfrm>
          <a:prstGeom prst="rect">
            <a:avLst/>
          </a:prstGeom>
          <a:noFill/>
          <a:ln/>
        </p:spPr>
        <p:txBody>
          <a:bodyPr wrap="none" lIns="0" tIns="0" rIns="0" bIns="0" rtlCol="0" anchor="t"/>
          <a:lstStyle/>
          <a:p>
            <a:pPr algn="l" marL="342900" indent="-342900">
              <a:lnSpc>
                <a:spcPts val="1600"/>
              </a:lnSpc>
              <a:buSzPct val="100000"/>
              <a:buChar char="•"/>
            </a:pPr>
            <a:r>
              <a:rPr lang="en-US" sz="1000" dirty="0">
                <a:solidFill>
                  <a:srgbClr val="3C3939"/>
                </a:solidFill>
                <a:latin typeface="Roboto" pitchFamily="34" charset="0"/>
                <a:ea typeface="Roboto" pitchFamily="34" charset="-122"/>
                <a:cs typeface="Roboto" pitchFamily="34" charset="-120"/>
              </a:rPr>
              <a:t>Дәптер беті</a:t>
            </a:r>
            <a:endParaRPr lang="en-US" sz="1000" dirty="0"/>
          </a:p>
        </p:txBody>
      </p:sp>
      <p:sp>
        <p:nvSpPr>
          <p:cNvPr id="8" name="Text 6"/>
          <p:cNvSpPr/>
          <p:nvPr/>
        </p:nvSpPr>
        <p:spPr>
          <a:xfrm>
            <a:off x="793790" y="3085981"/>
            <a:ext cx="5028367" cy="206454"/>
          </a:xfrm>
          <a:prstGeom prst="rect">
            <a:avLst/>
          </a:prstGeom>
          <a:noFill/>
          <a:ln/>
        </p:spPr>
        <p:txBody>
          <a:bodyPr wrap="none" lIns="0" tIns="0" rIns="0" bIns="0" rtlCol="0" anchor="t"/>
          <a:lstStyle/>
          <a:p>
            <a:pPr algn="l" marL="342900" indent="-342900">
              <a:lnSpc>
                <a:spcPts val="1600"/>
              </a:lnSpc>
              <a:buSzPct val="100000"/>
              <a:buChar char="•"/>
            </a:pPr>
            <a:r>
              <a:rPr lang="en-US" sz="1000" dirty="0">
                <a:solidFill>
                  <a:srgbClr val="3C3939"/>
                </a:solidFill>
                <a:latin typeface="Roboto" pitchFamily="34" charset="0"/>
                <a:ea typeface="Roboto" pitchFamily="34" charset="-122"/>
                <a:cs typeface="Roboto" pitchFamily="34" charset="-120"/>
              </a:rPr>
              <a:t>Мата бөлігі</a:t>
            </a:r>
            <a:endParaRPr lang="en-US" sz="1000" dirty="0"/>
          </a:p>
        </p:txBody>
      </p:sp>
      <p:sp>
        <p:nvSpPr>
          <p:cNvPr id="9" name="Text 7"/>
          <p:cNvSpPr/>
          <p:nvPr/>
        </p:nvSpPr>
        <p:spPr>
          <a:xfrm>
            <a:off x="793790" y="3337560"/>
            <a:ext cx="5028367" cy="206454"/>
          </a:xfrm>
          <a:prstGeom prst="rect">
            <a:avLst/>
          </a:prstGeom>
          <a:noFill/>
          <a:ln/>
        </p:spPr>
        <p:txBody>
          <a:bodyPr wrap="none" lIns="0" tIns="0" rIns="0" bIns="0" rtlCol="0" anchor="t"/>
          <a:lstStyle/>
          <a:p>
            <a:pPr algn="l" marL="342900" indent="-342900">
              <a:lnSpc>
                <a:spcPts val="1600"/>
              </a:lnSpc>
              <a:buSzPct val="100000"/>
              <a:buChar char="•"/>
            </a:pPr>
            <a:r>
              <a:rPr lang="en-US" sz="1000" dirty="0">
                <a:solidFill>
                  <a:srgbClr val="3C3939"/>
                </a:solidFill>
                <a:latin typeface="Roboto" pitchFamily="34" charset="0"/>
                <a:ea typeface="Roboto" pitchFamily="34" charset="-122"/>
                <a:cs typeface="Roboto" pitchFamily="34" charset="-120"/>
              </a:rPr>
              <a:t>Пластик немесе үстел беті</a:t>
            </a:r>
            <a:endParaRPr lang="en-US" sz="1000" dirty="0"/>
          </a:p>
        </p:txBody>
      </p:sp>
      <p:sp>
        <p:nvSpPr>
          <p:cNvPr id="10" name="Text 8"/>
          <p:cNvSpPr/>
          <p:nvPr/>
        </p:nvSpPr>
        <p:spPr>
          <a:xfrm>
            <a:off x="6144339" y="1960483"/>
            <a:ext cx="2954536" cy="241816"/>
          </a:xfrm>
          <a:prstGeom prst="rect">
            <a:avLst/>
          </a:prstGeom>
          <a:noFill/>
          <a:ln/>
        </p:spPr>
        <p:txBody>
          <a:bodyPr wrap="none" lIns="0" tIns="0" rIns="0" bIns="0" rtlCol="0" anchor="t"/>
          <a:lstStyle/>
          <a:p>
            <a:pPr algn="l" indent="0" marL="0">
              <a:lnSpc>
                <a:spcPts val="1900"/>
              </a:lnSpc>
              <a:buNone/>
            </a:pPr>
            <a:r>
              <a:rPr lang="en-US" sz="1500" dirty="0">
                <a:solidFill>
                  <a:srgbClr val="1B1B27"/>
                </a:solidFill>
                <a:latin typeface="Raleway" pitchFamily="34" charset="0"/>
                <a:ea typeface="Raleway" pitchFamily="34" charset="-122"/>
                <a:cs typeface="Raleway" pitchFamily="34" charset="-120"/>
              </a:rPr>
              <a:t>Нұсқаулық (қадамдық орындау):</a:t>
            </a:r>
            <a:endParaRPr lang="en-US" sz="1500" dirty="0"/>
          </a:p>
        </p:txBody>
      </p:sp>
      <p:sp>
        <p:nvSpPr>
          <p:cNvPr id="11" name="Text 9"/>
          <p:cNvSpPr/>
          <p:nvPr/>
        </p:nvSpPr>
        <p:spPr>
          <a:xfrm>
            <a:off x="6144339" y="2331244"/>
            <a:ext cx="7699772" cy="206454"/>
          </a:xfrm>
          <a:prstGeom prst="rect">
            <a:avLst/>
          </a:prstGeom>
          <a:noFill/>
          <a:ln/>
        </p:spPr>
        <p:txBody>
          <a:bodyPr wrap="none" lIns="0" tIns="0" rIns="0" bIns="0" rtlCol="0" anchor="t"/>
          <a:lstStyle/>
          <a:p>
            <a:pPr algn="l" marL="342900" indent="-342900">
              <a:lnSpc>
                <a:spcPts val="1600"/>
              </a:lnSpc>
              <a:buSzPct val="100000"/>
              <a:buFont typeface="+mj-lt"/>
              <a:buAutoNum type="arabicPeriod" startAt="1"/>
            </a:pPr>
            <a:r>
              <a:rPr lang="en-US" sz="1000" dirty="0">
                <a:solidFill>
                  <a:srgbClr val="3C3939"/>
                </a:solidFill>
                <a:latin typeface="Roboto" pitchFamily="34" charset="0"/>
                <a:ea typeface="Roboto" pitchFamily="34" charset="-122"/>
                <a:cs typeface="Roboto" pitchFamily="34" charset="-120"/>
              </a:rPr>
              <a:t>Әр бетті кезекпен дайындаңыз</a:t>
            </a:r>
            <a:endParaRPr lang="en-US" sz="1000" dirty="0"/>
          </a:p>
        </p:txBody>
      </p:sp>
      <p:sp>
        <p:nvSpPr>
          <p:cNvPr id="12" name="Text 10"/>
          <p:cNvSpPr/>
          <p:nvPr/>
        </p:nvSpPr>
        <p:spPr>
          <a:xfrm>
            <a:off x="6144339" y="2582823"/>
            <a:ext cx="7699772" cy="206454"/>
          </a:xfrm>
          <a:prstGeom prst="rect">
            <a:avLst/>
          </a:prstGeom>
          <a:noFill/>
          <a:ln/>
        </p:spPr>
        <p:txBody>
          <a:bodyPr wrap="none" lIns="0" tIns="0" rIns="0" bIns="0" rtlCol="0" anchor="t"/>
          <a:lstStyle/>
          <a:p>
            <a:pPr algn="l" marL="342900" indent="-342900">
              <a:lnSpc>
                <a:spcPts val="1600"/>
              </a:lnSpc>
              <a:buSzPct val="100000"/>
              <a:buFont typeface="+mj-lt"/>
              <a:buAutoNum type="arabicPeriod" startAt="2"/>
            </a:pPr>
            <a:r>
              <a:rPr lang="en-US" sz="1000" dirty="0">
                <a:solidFill>
                  <a:srgbClr val="3C3939"/>
                </a:solidFill>
                <a:latin typeface="Roboto" pitchFamily="34" charset="0"/>
                <a:ea typeface="Roboto" pitchFamily="34" charset="-122"/>
                <a:cs typeface="Roboto" pitchFamily="34" charset="-120"/>
              </a:rPr>
              <a:t>Машинаны әр бетте </a:t>
            </a:r>
            <a:pPr algn="l" indent="0" marL="0">
              <a:lnSpc>
                <a:spcPts val="1600"/>
              </a:lnSpc>
              <a:buNone/>
            </a:pPr>
            <a:r>
              <a:rPr lang="en-US" sz="1000" b="1" dirty="0">
                <a:solidFill>
                  <a:srgbClr val="3C3939"/>
                </a:solidFill>
                <a:latin typeface="Roboto" pitchFamily="34" charset="0"/>
                <a:ea typeface="Roboto" pitchFamily="34" charset="-122"/>
                <a:cs typeface="Roboto" pitchFamily="34" charset="-120"/>
              </a:rPr>
              <a:t>бірдей күшпен</a:t>
            </a:r>
            <a:pPr algn="l" indent="0" marL="0">
              <a:lnSpc>
                <a:spcPts val="1600"/>
              </a:lnSpc>
              <a:buNone/>
            </a:pPr>
            <a:r>
              <a:rPr lang="en-US" sz="1000" dirty="0">
                <a:solidFill>
                  <a:srgbClr val="3C3939"/>
                </a:solidFill>
                <a:latin typeface="Roboto" pitchFamily="34" charset="0"/>
                <a:ea typeface="Roboto" pitchFamily="34" charset="-122"/>
                <a:cs typeface="Roboto" pitchFamily="34" charset="-120"/>
              </a:rPr>
              <a:t> итеріңіз</a:t>
            </a:r>
            <a:endParaRPr lang="en-US" sz="1000" dirty="0"/>
          </a:p>
        </p:txBody>
      </p:sp>
      <p:sp>
        <p:nvSpPr>
          <p:cNvPr id="13" name="Text 11"/>
          <p:cNvSpPr/>
          <p:nvPr/>
        </p:nvSpPr>
        <p:spPr>
          <a:xfrm>
            <a:off x="6144339" y="2834402"/>
            <a:ext cx="7699772" cy="206454"/>
          </a:xfrm>
          <a:prstGeom prst="rect">
            <a:avLst/>
          </a:prstGeom>
          <a:noFill/>
          <a:ln/>
        </p:spPr>
        <p:txBody>
          <a:bodyPr wrap="none" lIns="0" tIns="0" rIns="0" bIns="0" rtlCol="0" anchor="t"/>
          <a:lstStyle/>
          <a:p>
            <a:pPr algn="l" marL="342900" indent="-342900">
              <a:lnSpc>
                <a:spcPts val="1600"/>
              </a:lnSpc>
              <a:buSzPct val="100000"/>
              <a:buFont typeface="+mj-lt"/>
              <a:buAutoNum type="arabicPeriod" startAt="3"/>
            </a:pPr>
            <a:r>
              <a:rPr lang="en-US" sz="1000" dirty="0">
                <a:solidFill>
                  <a:srgbClr val="3C3939"/>
                </a:solidFill>
                <a:latin typeface="Roboto" pitchFamily="34" charset="0"/>
                <a:ea typeface="Roboto" pitchFamily="34" charset="-122"/>
                <a:cs typeface="Roboto" pitchFamily="34" charset="-120"/>
              </a:rPr>
              <a:t>Машина қанша қашықтыққа жүрді, сызғышпен өлшеңіз</a:t>
            </a:r>
            <a:endParaRPr lang="en-US" sz="1000" dirty="0"/>
          </a:p>
        </p:txBody>
      </p:sp>
      <p:sp>
        <p:nvSpPr>
          <p:cNvPr id="14" name="Text 12"/>
          <p:cNvSpPr/>
          <p:nvPr/>
        </p:nvSpPr>
        <p:spPr>
          <a:xfrm>
            <a:off x="6144339" y="3085981"/>
            <a:ext cx="7699772" cy="206454"/>
          </a:xfrm>
          <a:prstGeom prst="rect">
            <a:avLst/>
          </a:prstGeom>
          <a:noFill/>
          <a:ln/>
        </p:spPr>
        <p:txBody>
          <a:bodyPr wrap="none" lIns="0" tIns="0" rIns="0" bIns="0" rtlCol="0" anchor="t"/>
          <a:lstStyle/>
          <a:p>
            <a:pPr algn="l" marL="342900" indent="-342900">
              <a:lnSpc>
                <a:spcPts val="1600"/>
              </a:lnSpc>
              <a:buSzPct val="100000"/>
              <a:buFont typeface="+mj-lt"/>
              <a:buAutoNum type="arabicPeriod" startAt="4"/>
            </a:pPr>
            <a:r>
              <a:rPr lang="en-US" sz="1000" dirty="0">
                <a:solidFill>
                  <a:srgbClr val="3C3939"/>
                </a:solidFill>
                <a:latin typeface="Roboto" pitchFamily="34" charset="0"/>
                <a:ea typeface="Roboto" pitchFamily="34" charset="-122"/>
                <a:cs typeface="Roboto" pitchFamily="34" charset="-120"/>
              </a:rPr>
              <a:t>Нәтижелерді төмендегі кестеге жазыңыз</a:t>
            </a:r>
            <a:endParaRPr lang="en-US" sz="1000" dirty="0"/>
          </a:p>
        </p:txBody>
      </p:sp>
      <p:sp>
        <p:nvSpPr>
          <p:cNvPr id="15" name="Text 13"/>
          <p:cNvSpPr/>
          <p:nvPr/>
        </p:nvSpPr>
        <p:spPr>
          <a:xfrm>
            <a:off x="6144339" y="3337560"/>
            <a:ext cx="7699772" cy="206454"/>
          </a:xfrm>
          <a:prstGeom prst="rect">
            <a:avLst/>
          </a:prstGeom>
          <a:noFill/>
          <a:ln/>
        </p:spPr>
        <p:txBody>
          <a:bodyPr wrap="none" lIns="0" tIns="0" rIns="0" bIns="0" rtlCol="0" anchor="t"/>
          <a:lstStyle/>
          <a:p>
            <a:pPr algn="l" marL="342900" indent="-342900">
              <a:lnSpc>
                <a:spcPts val="1600"/>
              </a:lnSpc>
              <a:buSzPct val="100000"/>
              <a:buFont typeface="+mj-lt"/>
              <a:buAutoNum type="arabicPeriod" startAt="5"/>
            </a:pPr>
            <a:r>
              <a:rPr lang="en-US" sz="1000" dirty="0">
                <a:solidFill>
                  <a:srgbClr val="3C3939"/>
                </a:solidFill>
                <a:latin typeface="Roboto" pitchFamily="34" charset="0"/>
                <a:ea typeface="Roboto" pitchFamily="34" charset="-122"/>
                <a:cs typeface="Roboto" pitchFamily="34" charset="-120"/>
              </a:rPr>
              <a:t>Қай бетте үйкеліс ең көп, қайсысында ең аз екенін анықтаңыз</a:t>
            </a:r>
            <a:endParaRPr lang="en-US" sz="1000" dirty="0"/>
          </a:p>
        </p:txBody>
      </p:sp>
      <p:sp>
        <p:nvSpPr>
          <p:cNvPr id="16" name="Shape 14"/>
          <p:cNvSpPr/>
          <p:nvPr/>
        </p:nvSpPr>
        <p:spPr>
          <a:xfrm>
            <a:off x="793790" y="3734157"/>
            <a:ext cx="13042821" cy="1521143"/>
          </a:xfrm>
          <a:prstGeom prst="roundRect">
            <a:avLst>
              <a:gd name="adj" fmla="val 3562"/>
            </a:avLst>
          </a:prstGeom>
          <a:noFill/>
          <a:ln w="7620">
            <a:solidFill>
              <a:srgbClr val="000000">
                <a:alpha val="8000"/>
              </a:srgbClr>
            </a:solidFill>
            <a:prstDash val="solid"/>
          </a:ln>
        </p:spPr>
      </p:sp>
      <p:sp>
        <p:nvSpPr>
          <p:cNvPr id="17" name="Shape 15"/>
          <p:cNvSpPr/>
          <p:nvPr/>
        </p:nvSpPr>
        <p:spPr>
          <a:xfrm>
            <a:off x="801410" y="3741777"/>
            <a:ext cx="13027581" cy="376476"/>
          </a:xfrm>
          <a:prstGeom prst="rect">
            <a:avLst/>
          </a:prstGeom>
          <a:solidFill>
            <a:srgbClr val="FFFFFF">
              <a:alpha val="4000"/>
            </a:srgbClr>
          </a:solidFill>
          <a:ln/>
        </p:spPr>
      </p:sp>
      <p:sp>
        <p:nvSpPr>
          <p:cNvPr id="18" name="Text 16"/>
          <p:cNvSpPr/>
          <p:nvPr/>
        </p:nvSpPr>
        <p:spPr>
          <a:xfrm>
            <a:off x="930473" y="3826788"/>
            <a:ext cx="4949309" cy="206454"/>
          </a:xfrm>
          <a:prstGeom prst="rect">
            <a:avLst/>
          </a:prstGeom>
          <a:noFill/>
          <a:ln/>
        </p:spPr>
        <p:txBody>
          <a:bodyPr wrap="none" lIns="0" tIns="0" rIns="0" bIns="0" rtlCol="0" anchor="t"/>
          <a:lstStyle/>
          <a:p>
            <a:pPr algn="l" indent="0" marL="0">
              <a:lnSpc>
                <a:spcPts val="1600"/>
              </a:lnSpc>
              <a:buNone/>
            </a:pPr>
            <a:r>
              <a:rPr lang="en-US" sz="1000" b="1" dirty="0">
                <a:solidFill>
                  <a:srgbClr val="3C3939"/>
                </a:solidFill>
                <a:latin typeface="Roboto" pitchFamily="34" charset="0"/>
                <a:ea typeface="Roboto" pitchFamily="34" charset="-122"/>
                <a:cs typeface="Roboto" pitchFamily="34" charset="-120"/>
              </a:rPr>
              <a:t>Бет түрі</a:t>
            </a:r>
            <a:endParaRPr lang="en-US" sz="1000" dirty="0"/>
          </a:p>
        </p:txBody>
      </p:sp>
      <p:sp>
        <p:nvSpPr>
          <p:cNvPr id="19" name="Text 17"/>
          <p:cNvSpPr/>
          <p:nvPr/>
        </p:nvSpPr>
        <p:spPr>
          <a:xfrm>
            <a:off x="6145292" y="3826788"/>
            <a:ext cx="3642717" cy="206454"/>
          </a:xfrm>
          <a:prstGeom prst="rect">
            <a:avLst/>
          </a:prstGeom>
          <a:noFill/>
          <a:ln/>
        </p:spPr>
        <p:txBody>
          <a:bodyPr wrap="none" lIns="0" tIns="0" rIns="0" bIns="0" rtlCol="0" anchor="t"/>
          <a:lstStyle/>
          <a:p>
            <a:pPr algn="l" indent="0" marL="0">
              <a:lnSpc>
                <a:spcPts val="1600"/>
              </a:lnSpc>
              <a:buNone/>
            </a:pPr>
            <a:r>
              <a:rPr lang="en-US" sz="1000" b="1" dirty="0">
                <a:solidFill>
                  <a:srgbClr val="3C3939"/>
                </a:solidFill>
                <a:latin typeface="Roboto" pitchFamily="34" charset="0"/>
                <a:ea typeface="Roboto" pitchFamily="34" charset="-122"/>
                <a:cs typeface="Roboto" pitchFamily="34" charset="-120"/>
              </a:rPr>
              <a:t>Тоқтау қашықтығы (см)</a:t>
            </a:r>
            <a:endParaRPr lang="en-US" sz="1000" dirty="0"/>
          </a:p>
        </p:txBody>
      </p:sp>
      <p:sp>
        <p:nvSpPr>
          <p:cNvPr id="20" name="Text 18"/>
          <p:cNvSpPr/>
          <p:nvPr/>
        </p:nvSpPr>
        <p:spPr>
          <a:xfrm>
            <a:off x="10053518" y="3826788"/>
            <a:ext cx="3646527" cy="206454"/>
          </a:xfrm>
          <a:prstGeom prst="rect">
            <a:avLst/>
          </a:prstGeom>
          <a:noFill/>
          <a:ln/>
        </p:spPr>
        <p:txBody>
          <a:bodyPr wrap="none" lIns="0" tIns="0" rIns="0" bIns="0" rtlCol="0" anchor="t"/>
          <a:lstStyle/>
          <a:p>
            <a:pPr algn="l" indent="0" marL="0">
              <a:lnSpc>
                <a:spcPts val="1600"/>
              </a:lnSpc>
              <a:buNone/>
            </a:pPr>
            <a:r>
              <a:rPr lang="en-US" sz="1000" b="1" dirty="0">
                <a:solidFill>
                  <a:srgbClr val="3C3939"/>
                </a:solidFill>
                <a:latin typeface="Roboto" pitchFamily="34" charset="0"/>
                <a:ea typeface="Roboto" pitchFamily="34" charset="-122"/>
                <a:cs typeface="Roboto" pitchFamily="34" charset="-120"/>
              </a:rPr>
              <a:t>Үйкеліс күші</a:t>
            </a:r>
            <a:endParaRPr lang="en-US" sz="1000" dirty="0"/>
          </a:p>
        </p:txBody>
      </p:sp>
      <p:sp>
        <p:nvSpPr>
          <p:cNvPr id="21" name="Shape 19"/>
          <p:cNvSpPr/>
          <p:nvPr/>
        </p:nvSpPr>
        <p:spPr>
          <a:xfrm>
            <a:off x="801410" y="4118253"/>
            <a:ext cx="13027581" cy="376476"/>
          </a:xfrm>
          <a:prstGeom prst="rect">
            <a:avLst/>
          </a:prstGeom>
          <a:solidFill>
            <a:srgbClr val="000000">
              <a:alpha val="4000"/>
            </a:srgbClr>
          </a:solidFill>
          <a:ln/>
        </p:spPr>
      </p:sp>
      <p:sp>
        <p:nvSpPr>
          <p:cNvPr id="22" name="Text 20"/>
          <p:cNvSpPr/>
          <p:nvPr/>
        </p:nvSpPr>
        <p:spPr>
          <a:xfrm>
            <a:off x="930473" y="4203263"/>
            <a:ext cx="4949309" cy="206454"/>
          </a:xfrm>
          <a:prstGeom prst="rect">
            <a:avLst/>
          </a:prstGeom>
          <a:noFill/>
          <a:ln/>
        </p:spPr>
        <p:txBody>
          <a:bodyPr wrap="none" lIns="0" tIns="0" rIns="0" bIns="0" rtlCol="0" anchor="t"/>
          <a:lstStyle/>
          <a:p>
            <a:pPr algn="l" indent="0" marL="0">
              <a:lnSpc>
                <a:spcPts val="1600"/>
              </a:lnSpc>
              <a:buNone/>
            </a:pPr>
            <a:r>
              <a:rPr lang="en-US" sz="1000" dirty="0">
                <a:solidFill>
                  <a:srgbClr val="3C3939"/>
                </a:solidFill>
                <a:latin typeface="Roboto" pitchFamily="34" charset="0"/>
                <a:ea typeface="Roboto" pitchFamily="34" charset="-122"/>
                <a:cs typeface="Roboto" pitchFamily="34" charset="-120"/>
              </a:rPr>
              <a:t>Дәптер беті</a:t>
            </a:r>
            <a:endParaRPr lang="en-US" sz="1000" dirty="0"/>
          </a:p>
        </p:txBody>
      </p:sp>
      <p:sp>
        <p:nvSpPr>
          <p:cNvPr id="23" name="Text 21"/>
          <p:cNvSpPr/>
          <p:nvPr/>
        </p:nvSpPr>
        <p:spPr>
          <a:xfrm>
            <a:off x="6145292" y="4203263"/>
            <a:ext cx="3642717" cy="206454"/>
          </a:xfrm>
          <a:prstGeom prst="rect">
            <a:avLst/>
          </a:prstGeom>
          <a:noFill/>
          <a:ln/>
        </p:spPr>
        <p:txBody>
          <a:bodyPr wrap="none" lIns="0" tIns="0" rIns="0" bIns="0" rtlCol="0" anchor="t"/>
          <a:lstStyle/>
          <a:p>
            <a:pPr algn="l" indent="0" marL="0">
              <a:lnSpc>
                <a:spcPts val="1600"/>
              </a:lnSpc>
              <a:buNone/>
            </a:pPr>
            <a:endParaRPr lang="en-US" sz="1000" dirty="0"/>
          </a:p>
        </p:txBody>
      </p:sp>
      <p:sp>
        <p:nvSpPr>
          <p:cNvPr id="24" name="Text 22"/>
          <p:cNvSpPr/>
          <p:nvPr/>
        </p:nvSpPr>
        <p:spPr>
          <a:xfrm>
            <a:off x="10053518" y="4203263"/>
            <a:ext cx="3646527" cy="206454"/>
          </a:xfrm>
          <a:prstGeom prst="rect">
            <a:avLst/>
          </a:prstGeom>
          <a:noFill/>
          <a:ln/>
        </p:spPr>
        <p:txBody>
          <a:bodyPr wrap="none" lIns="0" tIns="0" rIns="0" bIns="0" rtlCol="0" anchor="t"/>
          <a:lstStyle/>
          <a:p>
            <a:pPr algn="l" indent="0" marL="0">
              <a:lnSpc>
                <a:spcPts val="1600"/>
              </a:lnSpc>
              <a:buNone/>
            </a:pPr>
            <a:endParaRPr lang="en-US" sz="1000" dirty="0"/>
          </a:p>
        </p:txBody>
      </p:sp>
      <p:sp>
        <p:nvSpPr>
          <p:cNvPr id="25" name="Shape 23"/>
          <p:cNvSpPr/>
          <p:nvPr/>
        </p:nvSpPr>
        <p:spPr>
          <a:xfrm>
            <a:off x="801410" y="4494728"/>
            <a:ext cx="13027581" cy="376476"/>
          </a:xfrm>
          <a:prstGeom prst="rect">
            <a:avLst/>
          </a:prstGeom>
          <a:solidFill>
            <a:srgbClr val="FFFFFF">
              <a:alpha val="4000"/>
            </a:srgbClr>
          </a:solidFill>
          <a:ln/>
        </p:spPr>
      </p:sp>
      <p:sp>
        <p:nvSpPr>
          <p:cNvPr id="26" name="Text 24"/>
          <p:cNvSpPr/>
          <p:nvPr/>
        </p:nvSpPr>
        <p:spPr>
          <a:xfrm>
            <a:off x="930473" y="4579739"/>
            <a:ext cx="4949309" cy="206454"/>
          </a:xfrm>
          <a:prstGeom prst="rect">
            <a:avLst/>
          </a:prstGeom>
          <a:noFill/>
          <a:ln/>
        </p:spPr>
        <p:txBody>
          <a:bodyPr wrap="none" lIns="0" tIns="0" rIns="0" bIns="0" rtlCol="0" anchor="t"/>
          <a:lstStyle/>
          <a:p>
            <a:pPr algn="l" indent="0" marL="0">
              <a:lnSpc>
                <a:spcPts val="1600"/>
              </a:lnSpc>
              <a:buNone/>
            </a:pPr>
            <a:r>
              <a:rPr lang="en-US" sz="1000" dirty="0">
                <a:solidFill>
                  <a:srgbClr val="3C3939"/>
                </a:solidFill>
                <a:latin typeface="Roboto" pitchFamily="34" charset="0"/>
                <a:ea typeface="Roboto" pitchFamily="34" charset="-122"/>
                <a:cs typeface="Roboto" pitchFamily="34" charset="-120"/>
              </a:rPr>
              <a:t>Мата</a:t>
            </a:r>
            <a:endParaRPr lang="en-US" sz="1000" dirty="0"/>
          </a:p>
        </p:txBody>
      </p:sp>
      <p:sp>
        <p:nvSpPr>
          <p:cNvPr id="27" name="Text 25"/>
          <p:cNvSpPr/>
          <p:nvPr/>
        </p:nvSpPr>
        <p:spPr>
          <a:xfrm>
            <a:off x="6145292" y="4579739"/>
            <a:ext cx="3642717" cy="206454"/>
          </a:xfrm>
          <a:prstGeom prst="rect">
            <a:avLst/>
          </a:prstGeom>
          <a:noFill/>
          <a:ln/>
        </p:spPr>
        <p:txBody>
          <a:bodyPr wrap="none" lIns="0" tIns="0" rIns="0" bIns="0" rtlCol="0" anchor="t"/>
          <a:lstStyle/>
          <a:p>
            <a:pPr algn="l" indent="0" marL="0">
              <a:lnSpc>
                <a:spcPts val="1600"/>
              </a:lnSpc>
              <a:buNone/>
            </a:pPr>
            <a:endParaRPr lang="en-US" sz="1000" dirty="0"/>
          </a:p>
        </p:txBody>
      </p:sp>
      <p:sp>
        <p:nvSpPr>
          <p:cNvPr id="28" name="Text 26"/>
          <p:cNvSpPr/>
          <p:nvPr/>
        </p:nvSpPr>
        <p:spPr>
          <a:xfrm>
            <a:off x="10053518" y="4579739"/>
            <a:ext cx="3646527" cy="206454"/>
          </a:xfrm>
          <a:prstGeom prst="rect">
            <a:avLst/>
          </a:prstGeom>
          <a:noFill/>
          <a:ln/>
        </p:spPr>
        <p:txBody>
          <a:bodyPr wrap="none" lIns="0" tIns="0" rIns="0" bIns="0" rtlCol="0" anchor="t"/>
          <a:lstStyle/>
          <a:p>
            <a:pPr algn="l" indent="0" marL="0">
              <a:lnSpc>
                <a:spcPts val="1600"/>
              </a:lnSpc>
              <a:buNone/>
            </a:pPr>
            <a:endParaRPr lang="en-US" sz="1000" dirty="0"/>
          </a:p>
        </p:txBody>
      </p:sp>
      <p:sp>
        <p:nvSpPr>
          <p:cNvPr id="29" name="Shape 27"/>
          <p:cNvSpPr/>
          <p:nvPr/>
        </p:nvSpPr>
        <p:spPr>
          <a:xfrm>
            <a:off x="801410" y="4871204"/>
            <a:ext cx="13027581" cy="376476"/>
          </a:xfrm>
          <a:prstGeom prst="rect">
            <a:avLst/>
          </a:prstGeom>
          <a:solidFill>
            <a:srgbClr val="000000">
              <a:alpha val="4000"/>
            </a:srgbClr>
          </a:solidFill>
          <a:ln/>
        </p:spPr>
      </p:sp>
      <p:sp>
        <p:nvSpPr>
          <p:cNvPr id="30" name="Text 28"/>
          <p:cNvSpPr/>
          <p:nvPr/>
        </p:nvSpPr>
        <p:spPr>
          <a:xfrm>
            <a:off x="930473" y="4956215"/>
            <a:ext cx="4949309" cy="206454"/>
          </a:xfrm>
          <a:prstGeom prst="rect">
            <a:avLst/>
          </a:prstGeom>
          <a:noFill/>
          <a:ln/>
        </p:spPr>
        <p:txBody>
          <a:bodyPr wrap="none" lIns="0" tIns="0" rIns="0" bIns="0" rtlCol="0" anchor="t"/>
          <a:lstStyle/>
          <a:p>
            <a:pPr algn="l" indent="0" marL="0">
              <a:lnSpc>
                <a:spcPts val="1600"/>
              </a:lnSpc>
              <a:buNone/>
            </a:pPr>
            <a:r>
              <a:rPr lang="en-US" sz="1000" dirty="0">
                <a:solidFill>
                  <a:srgbClr val="3C3939"/>
                </a:solidFill>
                <a:latin typeface="Roboto" pitchFamily="34" charset="0"/>
                <a:ea typeface="Roboto" pitchFamily="34" charset="-122"/>
                <a:cs typeface="Roboto" pitchFamily="34" charset="-120"/>
              </a:rPr>
              <a:t>Үстел/пластик</a:t>
            </a:r>
            <a:endParaRPr lang="en-US" sz="1000" dirty="0"/>
          </a:p>
        </p:txBody>
      </p:sp>
      <p:sp>
        <p:nvSpPr>
          <p:cNvPr id="31" name="Text 29"/>
          <p:cNvSpPr/>
          <p:nvPr/>
        </p:nvSpPr>
        <p:spPr>
          <a:xfrm>
            <a:off x="6145292" y="4956215"/>
            <a:ext cx="3642717" cy="206454"/>
          </a:xfrm>
          <a:prstGeom prst="rect">
            <a:avLst/>
          </a:prstGeom>
          <a:noFill/>
          <a:ln/>
        </p:spPr>
        <p:txBody>
          <a:bodyPr wrap="none" lIns="0" tIns="0" rIns="0" bIns="0" rtlCol="0" anchor="t"/>
          <a:lstStyle/>
          <a:p>
            <a:pPr algn="l" indent="0" marL="0">
              <a:lnSpc>
                <a:spcPts val="1600"/>
              </a:lnSpc>
              <a:buNone/>
            </a:pPr>
            <a:endParaRPr lang="en-US" sz="1000" dirty="0"/>
          </a:p>
        </p:txBody>
      </p:sp>
      <p:sp>
        <p:nvSpPr>
          <p:cNvPr id="32" name="Text 30"/>
          <p:cNvSpPr/>
          <p:nvPr/>
        </p:nvSpPr>
        <p:spPr>
          <a:xfrm>
            <a:off x="10053518" y="4956215"/>
            <a:ext cx="3646527" cy="206454"/>
          </a:xfrm>
          <a:prstGeom prst="rect">
            <a:avLst/>
          </a:prstGeom>
          <a:noFill/>
          <a:ln/>
        </p:spPr>
        <p:txBody>
          <a:bodyPr wrap="none" lIns="0" tIns="0" rIns="0" bIns="0" rtlCol="0" anchor="t"/>
          <a:lstStyle/>
          <a:p>
            <a:pPr algn="l" indent="0" marL="0">
              <a:lnSpc>
                <a:spcPts val="1600"/>
              </a:lnSpc>
              <a:buNone/>
            </a:pPr>
            <a:endParaRPr lang="en-US" sz="1000" dirty="0"/>
          </a:p>
        </p:txBody>
      </p:sp>
      <p:sp>
        <p:nvSpPr>
          <p:cNvPr id="33" name="Shape 31"/>
          <p:cNvSpPr/>
          <p:nvPr/>
        </p:nvSpPr>
        <p:spPr>
          <a:xfrm>
            <a:off x="793790" y="5400318"/>
            <a:ext cx="290155" cy="290155"/>
          </a:xfrm>
          <a:prstGeom prst="roundRect">
            <a:avLst>
              <a:gd name="adj" fmla="val 18674"/>
            </a:avLst>
          </a:prstGeom>
          <a:solidFill>
            <a:srgbClr val="E1E1EA"/>
          </a:solidFill>
          <a:ln w="7620">
            <a:solidFill>
              <a:srgbClr val="C7C7D0"/>
            </a:solidFill>
            <a:prstDash val="solid"/>
          </a:ln>
        </p:spPr>
      </p:sp>
      <p:sp>
        <p:nvSpPr>
          <p:cNvPr id="34" name="Text 32"/>
          <p:cNvSpPr/>
          <p:nvPr/>
        </p:nvSpPr>
        <p:spPr>
          <a:xfrm>
            <a:off x="842070" y="5424428"/>
            <a:ext cx="193477" cy="241816"/>
          </a:xfrm>
          <a:prstGeom prst="rect">
            <a:avLst/>
          </a:prstGeom>
          <a:noFill/>
          <a:ln/>
        </p:spPr>
        <p:txBody>
          <a:bodyPr wrap="none" lIns="0" tIns="0" rIns="0" bIns="0" rtlCol="0" anchor="t"/>
          <a:lstStyle/>
          <a:p>
            <a:pPr algn="ctr" indent="0" marL="0">
              <a:lnSpc>
                <a:spcPts val="1500"/>
              </a:lnSpc>
              <a:buNone/>
            </a:pPr>
            <a:r>
              <a:rPr lang="en-US" sz="1500" dirty="0">
                <a:solidFill>
                  <a:srgbClr val="3C3939"/>
                </a:solidFill>
                <a:latin typeface="Raleway" pitchFamily="34" charset="0"/>
                <a:ea typeface="Raleway" pitchFamily="34" charset="-122"/>
                <a:cs typeface="Raleway" pitchFamily="34" charset="-120"/>
              </a:rPr>
              <a:t>1</a:t>
            </a:r>
            <a:endParaRPr lang="en-US" sz="1500" dirty="0"/>
          </a:p>
        </p:txBody>
      </p:sp>
      <p:sp>
        <p:nvSpPr>
          <p:cNvPr id="35" name="Text 33"/>
          <p:cNvSpPr/>
          <p:nvPr/>
        </p:nvSpPr>
        <p:spPr>
          <a:xfrm>
            <a:off x="1212890" y="5444609"/>
            <a:ext cx="2903815" cy="201454"/>
          </a:xfrm>
          <a:prstGeom prst="rect">
            <a:avLst/>
          </a:prstGeom>
          <a:noFill/>
          <a:ln/>
        </p:spPr>
        <p:txBody>
          <a:bodyPr wrap="none" lIns="0" tIns="0" rIns="0" bIns="0" rtlCol="0" anchor="t"/>
          <a:lstStyle/>
          <a:p>
            <a:pPr algn="l" indent="0" marL="0">
              <a:lnSpc>
                <a:spcPts val="1550"/>
              </a:lnSpc>
              <a:buNone/>
            </a:pPr>
            <a:r>
              <a:rPr lang="en-US" sz="1250" dirty="0">
                <a:solidFill>
                  <a:srgbClr val="3C3939"/>
                </a:solidFill>
                <a:latin typeface="Raleway" pitchFamily="34" charset="0"/>
                <a:ea typeface="Raleway" pitchFamily="34" charset="-122"/>
                <a:cs typeface="Raleway" pitchFamily="34" charset="-120"/>
              </a:rPr>
              <a:t>Қай бетте үйкеліс күші ең көп болды?</a:t>
            </a:r>
            <a:endParaRPr lang="en-US" sz="1250" dirty="0"/>
          </a:p>
        </p:txBody>
      </p:sp>
      <p:sp>
        <p:nvSpPr>
          <p:cNvPr id="36" name="Text 34"/>
          <p:cNvSpPr/>
          <p:nvPr/>
        </p:nvSpPr>
        <p:spPr>
          <a:xfrm>
            <a:off x="1212890" y="5723453"/>
            <a:ext cx="6021705" cy="206454"/>
          </a:xfrm>
          <a:prstGeom prst="rect">
            <a:avLst/>
          </a:prstGeom>
          <a:noFill/>
          <a:ln/>
        </p:spPr>
        <p:txBody>
          <a:bodyPr wrap="none" lIns="0" tIns="0" rIns="0" bIns="0" rtlCol="0" anchor="t"/>
          <a:lstStyle/>
          <a:p>
            <a:pPr algn="l" indent="0" marL="0">
              <a:lnSpc>
                <a:spcPts val="1600"/>
              </a:lnSpc>
              <a:buNone/>
            </a:pPr>
            <a:r>
              <a:rPr lang="en-US" sz="1000" dirty="0">
                <a:solidFill>
                  <a:srgbClr val="3C3939"/>
                </a:solidFill>
                <a:latin typeface="Roboto" pitchFamily="34" charset="0"/>
                <a:ea typeface="Roboto" pitchFamily="34" charset="-122"/>
                <a:cs typeface="Roboto" pitchFamily="34" charset="-120"/>
              </a:rPr>
              <a:t>Тоқтау қашықтығы ең қысқа бетті көрсетіңіз және себебін түсіндіріңіз.</a:t>
            </a:r>
            <a:endParaRPr lang="en-US" sz="1000" dirty="0"/>
          </a:p>
        </p:txBody>
      </p:sp>
      <p:sp>
        <p:nvSpPr>
          <p:cNvPr id="37" name="Shape 35"/>
          <p:cNvSpPr/>
          <p:nvPr/>
        </p:nvSpPr>
        <p:spPr>
          <a:xfrm>
            <a:off x="7395805" y="5400318"/>
            <a:ext cx="290155" cy="290155"/>
          </a:xfrm>
          <a:prstGeom prst="roundRect">
            <a:avLst>
              <a:gd name="adj" fmla="val 18674"/>
            </a:avLst>
          </a:prstGeom>
          <a:solidFill>
            <a:srgbClr val="E1E1EA"/>
          </a:solidFill>
          <a:ln w="7620">
            <a:solidFill>
              <a:srgbClr val="C7C7D0"/>
            </a:solidFill>
            <a:prstDash val="solid"/>
          </a:ln>
        </p:spPr>
      </p:sp>
      <p:sp>
        <p:nvSpPr>
          <p:cNvPr id="38" name="Text 36"/>
          <p:cNvSpPr/>
          <p:nvPr/>
        </p:nvSpPr>
        <p:spPr>
          <a:xfrm>
            <a:off x="7444085" y="5424428"/>
            <a:ext cx="193477" cy="241816"/>
          </a:xfrm>
          <a:prstGeom prst="rect">
            <a:avLst/>
          </a:prstGeom>
          <a:noFill/>
          <a:ln/>
        </p:spPr>
        <p:txBody>
          <a:bodyPr wrap="none" lIns="0" tIns="0" rIns="0" bIns="0" rtlCol="0" anchor="t"/>
          <a:lstStyle/>
          <a:p>
            <a:pPr algn="ctr" indent="0" marL="0">
              <a:lnSpc>
                <a:spcPts val="1500"/>
              </a:lnSpc>
              <a:buNone/>
            </a:pPr>
            <a:r>
              <a:rPr lang="en-US" sz="1500" dirty="0">
                <a:solidFill>
                  <a:srgbClr val="3C3939"/>
                </a:solidFill>
                <a:latin typeface="Raleway" pitchFamily="34" charset="0"/>
                <a:ea typeface="Raleway" pitchFamily="34" charset="-122"/>
                <a:cs typeface="Raleway" pitchFamily="34" charset="-120"/>
              </a:rPr>
              <a:t>2</a:t>
            </a:r>
            <a:endParaRPr lang="en-US" sz="1500" dirty="0"/>
          </a:p>
        </p:txBody>
      </p:sp>
      <p:sp>
        <p:nvSpPr>
          <p:cNvPr id="39" name="Text 37"/>
          <p:cNvSpPr/>
          <p:nvPr/>
        </p:nvSpPr>
        <p:spPr>
          <a:xfrm>
            <a:off x="7814905" y="5444609"/>
            <a:ext cx="2425303" cy="201454"/>
          </a:xfrm>
          <a:prstGeom prst="rect">
            <a:avLst/>
          </a:prstGeom>
          <a:noFill/>
          <a:ln/>
        </p:spPr>
        <p:txBody>
          <a:bodyPr wrap="none" lIns="0" tIns="0" rIns="0" bIns="0" rtlCol="0" anchor="t"/>
          <a:lstStyle/>
          <a:p>
            <a:pPr algn="l" indent="0" marL="0">
              <a:lnSpc>
                <a:spcPts val="1550"/>
              </a:lnSpc>
              <a:buNone/>
            </a:pPr>
            <a:r>
              <a:rPr lang="en-US" sz="1250" dirty="0">
                <a:solidFill>
                  <a:srgbClr val="3C3939"/>
                </a:solidFill>
                <a:latin typeface="Raleway" pitchFamily="34" charset="0"/>
                <a:ea typeface="Raleway" pitchFamily="34" charset="-122"/>
                <a:cs typeface="Raleway" pitchFamily="34" charset="-120"/>
              </a:rPr>
              <a:t>Қай бетте үйкеліс ең аз болды?</a:t>
            </a:r>
            <a:endParaRPr lang="en-US" sz="1250" dirty="0"/>
          </a:p>
        </p:txBody>
      </p:sp>
      <p:sp>
        <p:nvSpPr>
          <p:cNvPr id="40" name="Text 38"/>
          <p:cNvSpPr/>
          <p:nvPr/>
        </p:nvSpPr>
        <p:spPr>
          <a:xfrm>
            <a:off x="7814905" y="5723453"/>
            <a:ext cx="6021705" cy="206454"/>
          </a:xfrm>
          <a:prstGeom prst="rect">
            <a:avLst/>
          </a:prstGeom>
          <a:noFill/>
          <a:ln/>
        </p:spPr>
        <p:txBody>
          <a:bodyPr wrap="none" lIns="0" tIns="0" rIns="0" bIns="0" rtlCol="0" anchor="t"/>
          <a:lstStyle/>
          <a:p>
            <a:pPr algn="l" indent="0" marL="0">
              <a:lnSpc>
                <a:spcPts val="1600"/>
              </a:lnSpc>
              <a:buNone/>
            </a:pPr>
            <a:r>
              <a:rPr lang="en-US" sz="1000" dirty="0">
                <a:solidFill>
                  <a:srgbClr val="3C3939"/>
                </a:solidFill>
                <a:latin typeface="Roboto" pitchFamily="34" charset="0"/>
                <a:ea typeface="Roboto" pitchFamily="34" charset="-122"/>
                <a:cs typeface="Roboto" pitchFamily="34" charset="-120"/>
              </a:rPr>
              <a:t>Машина ең алысқа жүрген бетті атаңыз.</a:t>
            </a:r>
            <a:endParaRPr lang="en-US" sz="1000" dirty="0"/>
          </a:p>
        </p:txBody>
      </p:sp>
      <p:sp>
        <p:nvSpPr>
          <p:cNvPr id="41" name="Shape 39"/>
          <p:cNvSpPr/>
          <p:nvPr/>
        </p:nvSpPr>
        <p:spPr>
          <a:xfrm>
            <a:off x="793790" y="6187916"/>
            <a:ext cx="290155" cy="290155"/>
          </a:xfrm>
          <a:prstGeom prst="roundRect">
            <a:avLst>
              <a:gd name="adj" fmla="val 18674"/>
            </a:avLst>
          </a:prstGeom>
          <a:solidFill>
            <a:srgbClr val="E1E1EA"/>
          </a:solidFill>
          <a:ln w="7620">
            <a:solidFill>
              <a:srgbClr val="C7C7D0"/>
            </a:solidFill>
            <a:prstDash val="solid"/>
          </a:ln>
        </p:spPr>
      </p:sp>
      <p:sp>
        <p:nvSpPr>
          <p:cNvPr id="42" name="Text 40"/>
          <p:cNvSpPr/>
          <p:nvPr/>
        </p:nvSpPr>
        <p:spPr>
          <a:xfrm>
            <a:off x="842070" y="6212026"/>
            <a:ext cx="193477" cy="241816"/>
          </a:xfrm>
          <a:prstGeom prst="rect">
            <a:avLst/>
          </a:prstGeom>
          <a:noFill/>
          <a:ln/>
        </p:spPr>
        <p:txBody>
          <a:bodyPr wrap="none" lIns="0" tIns="0" rIns="0" bIns="0" rtlCol="0" anchor="t"/>
          <a:lstStyle/>
          <a:p>
            <a:pPr algn="ctr" indent="0" marL="0">
              <a:lnSpc>
                <a:spcPts val="1500"/>
              </a:lnSpc>
              <a:buNone/>
            </a:pPr>
            <a:r>
              <a:rPr lang="en-US" sz="1500" dirty="0">
                <a:solidFill>
                  <a:srgbClr val="3C3939"/>
                </a:solidFill>
                <a:latin typeface="Raleway" pitchFamily="34" charset="0"/>
                <a:ea typeface="Raleway" pitchFamily="34" charset="-122"/>
                <a:cs typeface="Raleway" pitchFamily="34" charset="-120"/>
              </a:rPr>
              <a:t>3</a:t>
            </a:r>
            <a:endParaRPr lang="en-US" sz="1500" dirty="0"/>
          </a:p>
        </p:txBody>
      </p:sp>
      <p:sp>
        <p:nvSpPr>
          <p:cNvPr id="43" name="Text 41"/>
          <p:cNvSpPr/>
          <p:nvPr/>
        </p:nvSpPr>
        <p:spPr>
          <a:xfrm>
            <a:off x="1212890" y="6232208"/>
            <a:ext cx="4630222" cy="201454"/>
          </a:xfrm>
          <a:prstGeom prst="rect">
            <a:avLst/>
          </a:prstGeom>
          <a:noFill/>
          <a:ln/>
        </p:spPr>
        <p:txBody>
          <a:bodyPr wrap="none" lIns="0" tIns="0" rIns="0" bIns="0" rtlCol="0" anchor="t"/>
          <a:lstStyle/>
          <a:p>
            <a:pPr algn="l" indent="0" marL="0">
              <a:lnSpc>
                <a:spcPts val="1550"/>
              </a:lnSpc>
              <a:buNone/>
            </a:pPr>
            <a:r>
              <a:rPr lang="en-US" sz="1250" dirty="0">
                <a:solidFill>
                  <a:srgbClr val="3C3939"/>
                </a:solidFill>
                <a:latin typeface="Raleway" pitchFamily="34" charset="0"/>
                <a:ea typeface="Raleway" pitchFamily="34" charset="-122"/>
                <a:cs typeface="Raleway" pitchFamily="34" charset="-120"/>
              </a:rPr>
              <a:t>Неліктен тоқтау қашықтығы бет түріне байланысты өзгерді?</a:t>
            </a:r>
            <a:endParaRPr lang="en-US" sz="1250" dirty="0"/>
          </a:p>
        </p:txBody>
      </p:sp>
      <p:sp>
        <p:nvSpPr>
          <p:cNvPr id="44" name="Text 42"/>
          <p:cNvSpPr/>
          <p:nvPr/>
        </p:nvSpPr>
        <p:spPr>
          <a:xfrm>
            <a:off x="1212890" y="6511052"/>
            <a:ext cx="6021705" cy="206454"/>
          </a:xfrm>
          <a:prstGeom prst="rect">
            <a:avLst/>
          </a:prstGeom>
          <a:noFill/>
          <a:ln/>
        </p:spPr>
        <p:txBody>
          <a:bodyPr wrap="none" lIns="0" tIns="0" rIns="0" bIns="0" rtlCol="0" anchor="t"/>
          <a:lstStyle/>
          <a:p>
            <a:pPr algn="l" indent="0" marL="0">
              <a:lnSpc>
                <a:spcPts val="1600"/>
              </a:lnSpc>
              <a:buNone/>
            </a:pPr>
            <a:r>
              <a:rPr lang="en-US" sz="1000" dirty="0">
                <a:solidFill>
                  <a:srgbClr val="3C3939"/>
                </a:solidFill>
                <a:latin typeface="Roboto" pitchFamily="34" charset="0"/>
                <a:ea typeface="Roboto" pitchFamily="34" charset="-122"/>
                <a:cs typeface="Roboto" pitchFamily="34" charset="-120"/>
              </a:rPr>
              <a:t>Беттің кедір-бұдырлығы мен үйкеліс арасындағы байланысты түсіндіріңіз.</a:t>
            </a:r>
            <a:endParaRPr lang="en-US" sz="1000" dirty="0"/>
          </a:p>
        </p:txBody>
      </p:sp>
      <p:sp>
        <p:nvSpPr>
          <p:cNvPr id="45" name="Shape 43"/>
          <p:cNvSpPr/>
          <p:nvPr/>
        </p:nvSpPr>
        <p:spPr>
          <a:xfrm>
            <a:off x="7395805" y="6187916"/>
            <a:ext cx="290155" cy="290155"/>
          </a:xfrm>
          <a:prstGeom prst="roundRect">
            <a:avLst>
              <a:gd name="adj" fmla="val 18674"/>
            </a:avLst>
          </a:prstGeom>
          <a:solidFill>
            <a:srgbClr val="E1E1EA"/>
          </a:solidFill>
          <a:ln w="7620">
            <a:solidFill>
              <a:srgbClr val="C7C7D0"/>
            </a:solidFill>
            <a:prstDash val="solid"/>
          </a:ln>
        </p:spPr>
      </p:sp>
      <p:sp>
        <p:nvSpPr>
          <p:cNvPr id="46" name="Text 44"/>
          <p:cNvSpPr/>
          <p:nvPr/>
        </p:nvSpPr>
        <p:spPr>
          <a:xfrm>
            <a:off x="7444085" y="6212026"/>
            <a:ext cx="193477" cy="241816"/>
          </a:xfrm>
          <a:prstGeom prst="rect">
            <a:avLst/>
          </a:prstGeom>
          <a:noFill/>
          <a:ln/>
        </p:spPr>
        <p:txBody>
          <a:bodyPr wrap="none" lIns="0" tIns="0" rIns="0" bIns="0" rtlCol="0" anchor="t"/>
          <a:lstStyle/>
          <a:p>
            <a:pPr algn="ctr" indent="0" marL="0">
              <a:lnSpc>
                <a:spcPts val="1500"/>
              </a:lnSpc>
              <a:buNone/>
            </a:pPr>
            <a:r>
              <a:rPr lang="en-US" sz="1500" dirty="0">
                <a:solidFill>
                  <a:srgbClr val="3C3939"/>
                </a:solidFill>
                <a:latin typeface="Raleway" pitchFamily="34" charset="0"/>
                <a:ea typeface="Raleway" pitchFamily="34" charset="-122"/>
                <a:cs typeface="Raleway" pitchFamily="34" charset="-120"/>
              </a:rPr>
              <a:t>4</a:t>
            </a:r>
            <a:endParaRPr lang="en-US" sz="1500" dirty="0"/>
          </a:p>
        </p:txBody>
      </p:sp>
      <p:sp>
        <p:nvSpPr>
          <p:cNvPr id="47" name="Text 45"/>
          <p:cNvSpPr/>
          <p:nvPr/>
        </p:nvSpPr>
        <p:spPr>
          <a:xfrm>
            <a:off x="7814905" y="6232208"/>
            <a:ext cx="2168962" cy="201454"/>
          </a:xfrm>
          <a:prstGeom prst="rect">
            <a:avLst/>
          </a:prstGeom>
          <a:noFill/>
          <a:ln/>
        </p:spPr>
        <p:txBody>
          <a:bodyPr wrap="none" lIns="0" tIns="0" rIns="0" bIns="0" rtlCol="0" anchor="t"/>
          <a:lstStyle/>
          <a:p>
            <a:pPr algn="l" indent="0" marL="0">
              <a:lnSpc>
                <a:spcPts val="1550"/>
              </a:lnSpc>
              <a:buNone/>
            </a:pPr>
            <a:r>
              <a:rPr lang="en-US" sz="1250" dirty="0">
                <a:solidFill>
                  <a:srgbClr val="3C3939"/>
                </a:solidFill>
                <a:latin typeface="Raleway" pitchFamily="34" charset="0"/>
                <a:ea typeface="Raleway" pitchFamily="34" charset="-122"/>
                <a:cs typeface="Raleway" pitchFamily="34" charset="-120"/>
              </a:rPr>
              <a:t>Жалпы қорытынды жасаңыз</a:t>
            </a:r>
            <a:endParaRPr lang="en-US" sz="1250" dirty="0"/>
          </a:p>
        </p:txBody>
      </p:sp>
      <p:sp>
        <p:nvSpPr>
          <p:cNvPr id="48" name="Text 46"/>
          <p:cNvSpPr/>
          <p:nvPr/>
        </p:nvSpPr>
        <p:spPr>
          <a:xfrm>
            <a:off x="7814905" y="6511052"/>
            <a:ext cx="6021705" cy="206454"/>
          </a:xfrm>
          <a:prstGeom prst="rect">
            <a:avLst/>
          </a:prstGeom>
          <a:noFill/>
          <a:ln/>
        </p:spPr>
        <p:txBody>
          <a:bodyPr wrap="none" lIns="0" tIns="0" rIns="0" bIns="0" rtlCol="0" anchor="t"/>
          <a:lstStyle/>
          <a:p>
            <a:pPr algn="l" indent="0" marL="0">
              <a:lnSpc>
                <a:spcPts val="1600"/>
              </a:lnSpc>
              <a:buNone/>
            </a:pPr>
            <a:r>
              <a:rPr lang="en-US" sz="1000" dirty="0">
                <a:solidFill>
                  <a:srgbClr val="3C3939"/>
                </a:solidFill>
                <a:latin typeface="Roboto" pitchFamily="34" charset="0"/>
                <a:ea typeface="Roboto" pitchFamily="34" charset="-122"/>
                <a:cs typeface="Roboto" pitchFamily="34" charset="-120"/>
              </a:rPr>
              <a:t>«Үйкеліс артқан сайын тоқтау қашықтығы ...» деген сөйлемді аяқтаңыз.</a:t>
            </a:r>
            <a:endParaRPr lang="en-US" sz="1000" dirty="0"/>
          </a:p>
        </p:txBody>
      </p:sp>
      <p:sp>
        <p:nvSpPr>
          <p:cNvPr id="49" name="Shape 47"/>
          <p:cNvSpPr/>
          <p:nvPr/>
        </p:nvSpPr>
        <p:spPr>
          <a:xfrm>
            <a:off x="793790" y="6862524"/>
            <a:ext cx="13042821" cy="548045"/>
          </a:xfrm>
          <a:prstGeom prst="roundRect">
            <a:avLst>
              <a:gd name="adj" fmla="val 9887"/>
            </a:avLst>
          </a:prstGeom>
          <a:solidFill>
            <a:srgbClr val="D2D2E0"/>
          </a:solidFill>
          <a:ln/>
        </p:spPr>
      </p:sp>
      <p:pic>
        <p:nvPicPr>
          <p:cNvPr id="50" name="Image 0" descr="preencoded.png">    </p:cNvPr>
          <p:cNvPicPr>
            <a:picLocks noChangeAspect="1"/>
          </p:cNvPicPr>
          <p:nvPr/>
        </p:nvPicPr>
        <p:blipFill>
          <a:blip r:embed="rId1"/>
          <a:stretch>
            <a:fillRect/>
          </a:stretch>
        </p:blipFill>
        <p:spPr>
          <a:xfrm>
            <a:off x="922734" y="7055525"/>
            <a:ext cx="161211" cy="128945"/>
          </a:xfrm>
          <a:prstGeom prst="rect">
            <a:avLst/>
          </a:prstGeom>
        </p:spPr>
      </p:pic>
      <p:sp>
        <p:nvSpPr>
          <p:cNvPr id="51" name="Text 48"/>
          <p:cNvSpPr/>
          <p:nvPr/>
        </p:nvSpPr>
        <p:spPr>
          <a:xfrm>
            <a:off x="1212890" y="7023616"/>
            <a:ext cx="12494776" cy="206454"/>
          </a:xfrm>
          <a:prstGeom prst="rect">
            <a:avLst/>
          </a:prstGeom>
          <a:noFill/>
          <a:ln/>
        </p:spPr>
        <p:txBody>
          <a:bodyPr wrap="none" lIns="0" tIns="0" rIns="0" bIns="0" rtlCol="0" anchor="t"/>
          <a:lstStyle/>
          <a:p>
            <a:pPr algn="l" indent="0" marL="0">
              <a:lnSpc>
                <a:spcPts val="1600"/>
              </a:lnSpc>
              <a:buNone/>
            </a:pPr>
            <a:r>
              <a:rPr lang="en-US" sz="1000" b="1" dirty="0">
                <a:solidFill>
                  <a:srgbClr val="000000"/>
                </a:solidFill>
                <a:latin typeface="Roboto" pitchFamily="34" charset="0"/>
                <a:ea typeface="Roboto" pitchFamily="34" charset="-122"/>
                <a:cs typeface="Roboto" pitchFamily="34" charset="-120"/>
              </a:rPr>
              <a:t>Бағалау (3 балл):</a:t>
            </a:r>
            <a:pPr algn="l" indent="0" marL="0">
              <a:lnSpc>
                <a:spcPts val="1600"/>
              </a:lnSpc>
              <a:buNone/>
            </a:pPr>
            <a:r>
              <a:rPr lang="en-US" sz="1000" dirty="0">
                <a:solidFill>
                  <a:srgbClr val="000000"/>
                </a:solidFill>
                <a:latin typeface="Roboto" pitchFamily="34" charset="0"/>
                <a:ea typeface="Roboto" pitchFamily="34" charset="-122"/>
                <a:cs typeface="Roboto" pitchFamily="34" charset="-120"/>
              </a:rPr>
              <a:t> Кестені толтыру – 1б | Үйкелісі көп/аз беттерді анықтау – 1б | Байланысты түсіндіру – 1б</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598765"/>
            <a:ext cx="7927658" cy="403146"/>
          </a:xfrm>
          <a:prstGeom prst="rect">
            <a:avLst/>
          </a:prstGeom>
          <a:noFill/>
          <a:ln/>
        </p:spPr>
        <p:txBody>
          <a:bodyPr wrap="none" lIns="0" tIns="0" rIns="0" bIns="0" rtlCol="0" anchor="t"/>
          <a:lstStyle/>
          <a:p>
            <a:pPr algn="l" indent="0" marL="0">
              <a:lnSpc>
                <a:spcPts val="3150"/>
              </a:lnSpc>
              <a:buNone/>
            </a:pPr>
            <a:r>
              <a:rPr lang="en-US" sz="2500" dirty="0">
                <a:solidFill>
                  <a:srgbClr val="1B1B27"/>
                </a:solidFill>
                <a:latin typeface="Raleway" pitchFamily="34" charset="0"/>
                <a:ea typeface="Raleway" pitchFamily="34" charset="-122"/>
                <a:cs typeface="Raleway" pitchFamily="34" charset="-120"/>
              </a:rPr>
              <a:t>2-Тапсырма: Үйкеліс қазақтың ұлттық ойындарында</a:t>
            </a:r>
            <a:endParaRPr lang="en-US" sz="2500" dirty="0"/>
          </a:p>
        </p:txBody>
      </p:sp>
      <p:sp>
        <p:nvSpPr>
          <p:cNvPr id="3" name="Text 1"/>
          <p:cNvSpPr/>
          <p:nvPr/>
        </p:nvSpPr>
        <p:spPr>
          <a:xfrm>
            <a:off x="793790" y="1259919"/>
            <a:ext cx="13042821" cy="206454"/>
          </a:xfrm>
          <a:prstGeom prst="rect">
            <a:avLst/>
          </a:prstGeom>
          <a:noFill/>
          <a:ln/>
        </p:spPr>
        <p:txBody>
          <a:bodyPr wrap="none" lIns="0" tIns="0" rIns="0" bIns="0" rtlCol="0" anchor="t"/>
          <a:lstStyle/>
          <a:p>
            <a:pPr algn="l" indent="0" marL="0">
              <a:lnSpc>
                <a:spcPts val="1600"/>
              </a:lnSpc>
              <a:buNone/>
            </a:pPr>
            <a:r>
              <a:rPr lang="en-US" sz="1000" dirty="0">
                <a:solidFill>
                  <a:srgbClr val="3C3939"/>
                </a:solidFill>
                <a:latin typeface="Roboto" pitchFamily="34" charset="0"/>
                <a:ea typeface="Roboto" pitchFamily="34" charset="-122"/>
                <a:cs typeface="Roboto" pitchFamily="34" charset="-120"/>
              </a:rPr>
              <a:t>Бұл тапсырмада сіздер қазақтың ұлттық ойындары мен тұрмыс құралдарындағы үйкеліс күшінің маңызын зерттейсіздер. Топтық жұмыс арқылы </a:t>
            </a:r>
            <a:pPr algn="l" indent="0" marL="0">
              <a:lnSpc>
                <a:spcPts val="1600"/>
              </a:lnSpc>
              <a:buNone/>
            </a:pPr>
            <a:r>
              <a:rPr lang="en-US" sz="1000" b="1" dirty="0">
                <a:solidFill>
                  <a:srgbClr val="3C3939"/>
                </a:solidFill>
                <a:latin typeface="Roboto" pitchFamily="34" charset="0"/>
                <a:ea typeface="Roboto" pitchFamily="34" charset="-122"/>
                <a:cs typeface="Roboto" pitchFamily="34" charset="-120"/>
              </a:rPr>
              <a:t>бірлік пен ынтымақтастық</a:t>
            </a:r>
            <a:pPr algn="l" indent="0" marL="0">
              <a:lnSpc>
                <a:spcPts val="1600"/>
              </a:lnSpc>
              <a:buNone/>
            </a:pPr>
            <a:r>
              <a:rPr lang="en-US" sz="1000" dirty="0">
                <a:solidFill>
                  <a:srgbClr val="3C3939"/>
                </a:solidFill>
                <a:latin typeface="Roboto" pitchFamily="34" charset="0"/>
                <a:ea typeface="Roboto" pitchFamily="34" charset="-122"/>
                <a:cs typeface="Roboto" pitchFamily="34" charset="-120"/>
              </a:rPr>
              <a:t> құндылықтарын нығайтасыздар.</a:t>
            </a:r>
            <a:endParaRPr lang="en-US" sz="1000" dirty="0"/>
          </a:p>
        </p:txBody>
      </p:sp>
      <p:pic>
        <p:nvPicPr>
          <p:cNvPr id="4" name="Image 0" descr="preencoded.png">    </p:cNvPr>
          <p:cNvPicPr>
            <a:picLocks noChangeAspect="1"/>
          </p:cNvPicPr>
          <p:nvPr/>
        </p:nvPicPr>
        <p:blipFill>
          <a:blip r:embed="rId1"/>
          <a:stretch>
            <a:fillRect/>
          </a:stretch>
        </p:blipFill>
        <p:spPr>
          <a:xfrm>
            <a:off x="793790" y="1611392"/>
            <a:ext cx="1469350" cy="908090"/>
          </a:xfrm>
          <a:prstGeom prst="rect">
            <a:avLst/>
          </a:prstGeom>
        </p:spPr>
      </p:pic>
      <p:sp>
        <p:nvSpPr>
          <p:cNvPr id="5" name="Text 2"/>
          <p:cNvSpPr/>
          <p:nvPr/>
        </p:nvSpPr>
        <p:spPr>
          <a:xfrm>
            <a:off x="793790" y="2680692"/>
            <a:ext cx="1612583" cy="201454"/>
          </a:xfrm>
          <a:prstGeom prst="rect">
            <a:avLst/>
          </a:prstGeom>
          <a:noFill/>
          <a:ln/>
        </p:spPr>
        <p:txBody>
          <a:bodyPr wrap="none" lIns="0" tIns="0" rIns="0" bIns="0" rtlCol="0" anchor="t"/>
          <a:lstStyle/>
          <a:p>
            <a:pPr algn="l" indent="0" marL="0">
              <a:lnSpc>
                <a:spcPts val="1550"/>
              </a:lnSpc>
              <a:buNone/>
            </a:pPr>
            <a:r>
              <a:rPr lang="en-US" sz="1250" dirty="0">
                <a:solidFill>
                  <a:srgbClr val="3C3939"/>
                </a:solidFill>
                <a:latin typeface="Raleway" pitchFamily="34" charset="0"/>
                <a:ea typeface="Raleway" pitchFamily="34" charset="-122"/>
                <a:cs typeface="Raleway" pitchFamily="34" charset="-120"/>
              </a:rPr>
              <a:t>Асық ойыны</a:t>
            </a:r>
            <a:endParaRPr lang="en-US" sz="1250" dirty="0"/>
          </a:p>
        </p:txBody>
      </p:sp>
      <p:sp>
        <p:nvSpPr>
          <p:cNvPr id="6" name="Text 3"/>
          <p:cNvSpPr/>
          <p:nvPr/>
        </p:nvSpPr>
        <p:spPr>
          <a:xfrm>
            <a:off x="793790" y="2959537"/>
            <a:ext cx="3139797" cy="619363"/>
          </a:xfrm>
          <a:prstGeom prst="rect">
            <a:avLst/>
          </a:prstGeom>
          <a:noFill/>
          <a:ln/>
        </p:spPr>
        <p:txBody>
          <a:bodyPr wrap="square" lIns="0" tIns="0" rIns="0" bIns="0" rtlCol="0" anchor="t"/>
          <a:lstStyle/>
          <a:p>
            <a:pPr algn="l" indent="0" marL="0">
              <a:lnSpc>
                <a:spcPts val="1600"/>
              </a:lnSpc>
              <a:buNone/>
            </a:pPr>
            <a:r>
              <a:rPr lang="en-US" sz="1000" dirty="0">
                <a:solidFill>
                  <a:srgbClr val="3C3939"/>
                </a:solidFill>
                <a:latin typeface="Roboto" pitchFamily="34" charset="0"/>
                <a:ea typeface="Roboto" pitchFamily="34" charset="-122"/>
                <a:cs typeface="Roboto" pitchFamily="34" charset="-120"/>
              </a:rPr>
              <a:t>Асықтың жермен үйкелісі оның қозғалысын тоқтатады. Нақ осы үйкеліс күшін бағалап, ойыншылар дәл лақтыруды үйренеді.</a:t>
            </a:r>
            <a:endParaRPr lang="en-US" sz="1000" dirty="0"/>
          </a:p>
        </p:txBody>
      </p:sp>
      <p:pic>
        <p:nvPicPr>
          <p:cNvPr id="7" name="Image 1" descr="preencoded.png">    </p:cNvPr>
          <p:cNvPicPr>
            <a:picLocks noChangeAspect="1"/>
          </p:cNvPicPr>
          <p:nvPr/>
        </p:nvPicPr>
        <p:blipFill>
          <a:blip r:embed="rId2"/>
          <a:stretch>
            <a:fillRect/>
          </a:stretch>
        </p:blipFill>
        <p:spPr>
          <a:xfrm>
            <a:off x="4094798" y="1611392"/>
            <a:ext cx="1469350" cy="908090"/>
          </a:xfrm>
          <a:prstGeom prst="rect">
            <a:avLst/>
          </a:prstGeom>
        </p:spPr>
      </p:pic>
      <p:sp>
        <p:nvSpPr>
          <p:cNvPr id="8" name="Text 4"/>
          <p:cNvSpPr/>
          <p:nvPr/>
        </p:nvSpPr>
        <p:spPr>
          <a:xfrm>
            <a:off x="4094798" y="2680692"/>
            <a:ext cx="1612583" cy="201454"/>
          </a:xfrm>
          <a:prstGeom prst="rect">
            <a:avLst/>
          </a:prstGeom>
          <a:noFill/>
          <a:ln/>
        </p:spPr>
        <p:txBody>
          <a:bodyPr wrap="none" lIns="0" tIns="0" rIns="0" bIns="0" rtlCol="0" anchor="t"/>
          <a:lstStyle/>
          <a:p>
            <a:pPr algn="l" indent="0" marL="0">
              <a:lnSpc>
                <a:spcPts val="1550"/>
              </a:lnSpc>
              <a:buNone/>
            </a:pPr>
            <a:r>
              <a:rPr lang="en-US" sz="1250" dirty="0">
                <a:solidFill>
                  <a:srgbClr val="3C3939"/>
                </a:solidFill>
                <a:latin typeface="Raleway" pitchFamily="34" charset="0"/>
                <a:ea typeface="Raleway" pitchFamily="34" charset="-122"/>
                <a:cs typeface="Raleway" pitchFamily="34" charset="-120"/>
              </a:rPr>
              <a:t>Көкпар</a:t>
            </a:r>
            <a:endParaRPr lang="en-US" sz="1250" dirty="0"/>
          </a:p>
        </p:txBody>
      </p:sp>
      <p:sp>
        <p:nvSpPr>
          <p:cNvPr id="9" name="Text 5"/>
          <p:cNvSpPr/>
          <p:nvPr/>
        </p:nvSpPr>
        <p:spPr>
          <a:xfrm>
            <a:off x="4094798" y="2959537"/>
            <a:ext cx="3139797" cy="619363"/>
          </a:xfrm>
          <a:prstGeom prst="rect">
            <a:avLst/>
          </a:prstGeom>
          <a:noFill/>
          <a:ln/>
        </p:spPr>
        <p:txBody>
          <a:bodyPr wrap="square" lIns="0" tIns="0" rIns="0" bIns="0" rtlCol="0" anchor="t"/>
          <a:lstStyle/>
          <a:p>
            <a:pPr algn="l" indent="0" marL="0">
              <a:lnSpc>
                <a:spcPts val="1600"/>
              </a:lnSpc>
              <a:buNone/>
            </a:pPr>
            <a:r>
              <a:rPr lang="en-US" sz="1000" dirty="0">
                <a:solidFill>
                  <a:srgbClr val="3C3939"/>
                </a:solidFill>
                <a:latin typeface="Roboto" pitchFamily="34" charset="0"/>
                <a:ea typeface="Roboto" pitchFamily="34" charset="-122"/>
                <a:cs typeface="Roboto" pitchFamily="34" charset="-120"/>
              </a:rPr>
              <a:t>Аттың тұяғы мен жер арасындағы үйкеліс шабандоздың қауіпсіздігі үшін өте маңызды. Сырғанау қауіпті жағдай туғызады.</a:t>
            </a:r>
            <a:endParaRPr lang="en-US" sz="1000" dirty="0"/>
          </a:p>
        </p:txBody>
      </p:sp>
      <p:pic>
        <p:nvPicPr>
          <p:cNvPr id="10" name="Image 2" descr="preencoded.png">    </p:cNvPr>
          <p:cNvPicPr>
            <a:picLocks noChangeAspect="1"/>
          </p:cNvPicPr>
          <p:nvPr/>
        </p:nvPicPr>
        <p:blipFill>
          <a:blip r:embed="rId3"/>
          <a:stretch>
            <a:fillRect/>
          </a:stretch>
        </p:blipFill>
        <p:spPr>
          <a:xfrm>
            <a:off x="7395805" y="1611392"/>
            <a:ext cx="1469350" cy="908090"/>
          </a:xfrm>
          <a:prstGeom prst="rect">
            <a:avLst/>
          </a:prstGeom>
        </p:spPr>
      </p:pic>
      <p:sp>
        <p:nvSpPr>
          <p:cNvPr id="11" name="Text 6"/>
          <p:cNvSpPr/>
          <p:nvPr/>
        </p:nvSpPr>
        <p:spPr>
          <a:xfrm>
            <a:off x="7395805" y="2680692"/>
            <a:ext cx="1612583" cy="201454"/>
          </a:xfrm>
          <a:prstGeom prst="rect">
            <a:avLst/>
          </a:prstGeom>
          <a:noFill/>
          <a:ln/>
        </p:spPr>
        <p:txBody>
          <a:bodyPr wrap="none" lIns="0" tIns="0" rIns="0" bIns="0" rtlCol="0" anchor="t"/>
          <a:lstStyle/>
          <a:p>
            <a:pPr algn="l" indent="0" marL="0">
              <a:lnSpc>
                <a:spcPts val="1550"/>
              </a:lnSpc>
              <a:buNone/>
            </a:pPr>
            <a:r>
              <a:rPr lang="en-US" sz="1250" dirty="0">
                <a:solidFill>
                  <a:srgbClr val="3C3939"/>
                </a:solidFill>
                <a:latin typeface="Raleway" pitchFamily="34" charset="0"/>
                <a:ea typeface="Raleway" pitchFamily="34" charset="-122"/>
                <a:cs typeface="Raleway" pitchFamily="34" charset="-120"/>
              </a:rPr>
              <a:t>Бәйге</a:t>
            </a:r>
            <a:endParaRPr lang="en-US" sz="1250" dirty="0"/>
          </a:p>
        </p:txBody>
      </p:sp>
      <p:sp>
        <p:nvSpPr>
          <p:cNvPr id="12" name="Text 7"/>
          <p:cNvSpPr/>
          <p:nvPr/>
        </p:nvSpPr>
        <p:spPr>
          <a:xfrm>
            <a:off x="7395805" y="2959537"/>
            <a:ext cx="3139797" cy="619363"/>
          </a:xfrm>
          <a:prstGeom prst="rect">
            <a:avLst/>
          </a:prstGeom>
          <a:noFill/>
          <a:ln/>
        </p:spPr>
        <p:txBody>
          <a:bodyPr wrap="square" lIns="0" tIns="0" rIns="0" bIns="0" rtlCol="0" anchor="t"/>
          <a:lstStyle/>
          <a:p>
            <a:pPr algn="l" indent="0" marL="0">
              <a:lnSpc>
                <a:spcPts val="1600"/>
              </a:lnSpc>
              <a:buNone/>
            </a:pPr>
            <a:r>
              <a:rPr lang="en-US" sz="1000" dirty="0">
                <a:solidFill>
                  <a:srgbClr val="3C3939"/>
                </a:solidFill>
                <a:latin typeface="Roboto" pitchFamily="34" charset="0"/>
                <a:ea typeface="Roboto" pitchFamily="34" charset="-122"/>
                <a:cs typeface="Roboto" pitchFamily="34" charset="-120"/>
              </a:rPr>
              <a:t>Ат жарысында тұяқ пен топырақ арасындағы үйкеліс аттың жылдамдығына және қауіпсіздігіне әсер етеді.</a:t>
            </a:r>
            <a:endParaRPr lang="en-US" sz="1000" dirty="0"/>
          </a:p>
        </p:txBody>
      </p:sp>
      <p:pic>
        <p:nvPicPr>
          <p:cNvPr id="13" name="Image 3" descr="preencoded.png">    </p:cNvPr>
          <p:cNvPicPr>
            <a:picLocks noChangeAspect="1"/>
          </p:cNvPicPr>
          <p:nvPr/>
        </p:nvPicPr>
        <p:blipFill>
          <a:blip r:embed="rId4"/>
          <a:stretch>
            <a:fillRect/>
          </a:stretch>
        </p:blipFill>
        <p:spPr>
          <a:xfrm>
            <a:off x="10696813" y="1611392"/>
            <a:ext cx="1469350" cy="908090"/>
          </a:xfrm>
          <a:prstGeom prst="rect">
            <a:avLst/>
          </a:prstGeom>
        </p:spPr>
      </p:pic>
      <p:sp>
        <p:nvSpPr>
          <p:cNvPr id="14" name="Text 8"/>
          <p:cNvSpPr/>
          <p:nvPr/>
        </p:nvSpPr>
        <p:spPr>
          <a:xfrm>
            <a:off x="10696813" y="2680692"/>
            <a:ext cx="1612583" cy="201454"/>
          </a:xfrm>
          <a:prstGeom prst="rect">
            <a:avLst/>
          </a:prstGeom>
          <a:noFill/>
          <a:ln/>
        </p:spPr>
        <p:txBody>
          <a:bodyPr wrap="none" lIns="0" tIns="0" rIns="0" bIns="0" rtlCol="0" anchor="t"/>
          <a:lstStyle/>
          <a:p>
            <a:pPr algn="l" indent="0" marL="0">
              <a:lnSpc>
                <a:spcPts val="1550"/>
              </a:lnSpc>
              <a:buNone/>
            </a:pPr>
            <a:r>
              <a:rPr lang="en-US" sz="1250" dirty="0">
                <a:solidFill>
                  <a:srgbClr val="3C3939"/>
                </a:solidFill>
                <a:latin typeface="Raleway" pitchFamily="34" charset="0"/>
                <a:ea typeface="Raleway" pitchFamily="34" charset="-122"/>
                <a:cs typeface="Raleway" pitchFamily="34" charset="-120"/>
              </a:rPr>
              <a:t>Арба дөңгелегі</a:t>
            </a:r>
            <a:endParaRPr lang="en-US" sz="1250" dirty="0"/>
          </a:p>
        </p:txBody>
      </p:sp>
      <p:sp>
        <p:nvSpPr>
          <p:cNvPr id="15" name="Text 9"/>
          <p:cNvSpPr/>
          <p:nvPr/>
        </p:nvSpPr>
        <p:spPr>
          <a:xfrm>
            <a:off x="10696813" y="2959537"/>
            <a:ext cx="3139797" cy="412909"/>
          </a:xfrm>
          <a:prstGeom prst="rect">
            <a:avLst/>
          </a:prstGeom>
          <a:noFill/>
          <a:ln/>
        </p:spPr>
        <p:txBody>
          <a:bodyPr wrap="square" lIns="0" tIns="0" rIns="0" bIns="0" rtlCol="0" anchor="t"/>
          <a:lstStyle/>
          <a:p>
            <a:pPr algn="l" indent="0" marL="0">
              <a:lnSpc>
                <a:spcPts val="1600"/>
              </a:lnSpc>
              <a:buNone/>
            </a:pPr>
            <a:r>
              <a:rPr lang="en-US" sz="1000" dirty="0">
                <a:solidFill>
                  <a:srgbClr val="3C3939"/>
                </a:solidFill>
                <a:latin typeface="Roboto" pitchFamily="34" charset="0"/>
                <a:ea typeface="Roboto" pitchFamily="34" charset="-122"/>
                <a:cs typeface="Roboto" pitchFamily="34" charset="-120"/>
              </a:rPr>
              <a:t>Ежелгі қазақтардың арбасында дөңгелек пен білік арасындағы үйкелісті азайту үшін май жағылған.</a:t>
            </a:r>
            <a:endParaRPr lang="en-US" sz="1000" dirty="0"/>
          </a:p>
        </p:txBody>
      </p:sp>
      <p:sp>
        <p:nvSpPr>
          <p:cNvPr id="16" name="Text 10"/>
          <p:cNvSpPr/>
          <p:nvPr/>
        </p:nvSpPr>
        <p:spPr>
          <a:xfrm>
            <a:off x="793790" y="3772376"/>
            <a:ext cx="3028593" cy="241816"/>
          </a:xfrm>
          <a:prstGeom prst="rect">
            <a:avLst/>
          </a:prstGeom>
          <a:noFill/>
          <a:ln/>
        </p:spPr>
        <p:txBody>
          <a:bodyPr wrap="none" lIns="0" tIns="0" rIns="0" bIns="0" rtlCol="0" anchor="t"/>
          <a:lstStyle/>
          <a:p>
            <a:pPr algn="l" indent="0" marL="0">
              <a:lnSpc>
                <a:spcPts val="1900"/>
              </a:lnSpc>
              <a:buNone/>
            </a:pPr>
            <a:r>
              <a:rPr lang="en-US" sz="1500" dirty="0">
                <a:solidFill>
                  <a:srgbClr val="1B1B27"/>
                </a:solidFill>
                <a:latin typeface="Raleway" pitchFamily="34" charset="0"/>
                <a:ea typeface="Raleway" pitchFamily="34" charset="-122"/>
                <a:cs typeface="Raleway" pitchFamily="34" charset="-120"/>
              </a:rPr>
              <a:t>Топтық тапсырма (постер жасау)</a:t>
            </a:r>
            <a:endParaRPr lang="en-US" sz="1500" dirty="0"/>
          </a:p>
        </p:txBody>
      </p:sp>
      <p:sp>
        <p:nvSpPr>
          <p:cNvPr id="17" name="Text 11"/>
          <p:cNvSpPr/>
          <p:nvPr/>
        </p:nvSpPr>
        <p:spPr>
          <a:xfrm>
            <a:off x="793790" y="4207669"/>
            <a:ext cx="13042821" cy="206454"/>
          </a:xfrm>
          <a:prstGeom prst="rect">
            <a:avLst/>
          </a:prstGeom>
          <a:noFill/>
          <a:ln/>
        </p:spPr>
        <p:txBody>
          <a:bodyPr wrap="none" lIns="0" tIns="0" rIns="0" bIns="0" rtlCol="0" anchor="t"/>
          <a:lstStyle/>
          <a:p>
            <a:pPr algn="l" indent="0" marL="0">
              <a:lnSpc>
                <a:spcPts val="1600"/>
              </a:lnSpc>
              <a:buNone/>
            </a:pPr>
            <a:r>
              <a:rPr lang="en-US" sz="1000" dirty="0">
                <a:solidFill>
                  <a:srgbClr val="3C3939"/>
                </a:solidFill>
                <a:latin typeface="Roboto" pitchFamily="34" charset="0"/>
                <a:ea typeface="Roboto" pitchFamily="34" charset="-122"/>
                <a:cs typeface="Roboto" pitchFamily="34" charset="-120"/>
              </a:rPr>
              <a:t>Топпен бір ұлттық ойынды немесе тұрмыс құралын таңдап, төмендегі сұрақтарға жауап беріп </a:t>
            </a:r>
            <a:pPr algn="l" indent="0" marL="0">
              <a:lnSpc>
                <a:spcPts val="1600"/>
              </a:lnSpc>
              <a:buNone/>
            </a:pPr>
            <a:r>
              <a:rPr lang="en-US" sz="1000" b="1" dirty="0">
                <a:solidFill>
                  <a:srgbClr val="3C3939"/>
                </a:solidFill>
                <a:latin typeface="Roboto" pitchFamily="34" charset="0"/>
                <a:ea typeface="Roboto" pitchFamily="34" charset="-122"/>
                <a:cs typeface="Roboto" pitchFamily="34" charset="-120"/>
              </a:rPr>
              <a:t>шағын постер</a:t>
            </a:r>
            <a:pPr algn="l" indent="0" marL="0">
              <a:lnSpc>
                <a:spcPts val="1600"/>
              </a:lnSpc>
              <a:buNone/>
            </a:pPr>
            <a:r>
              <a:rPr lang="en-US" sz="1000" dirty="0">
                <a:solidFill>
                  <a:srgbClr val="3C3939"/>
                </a:solidFill>
                <a:latin typeface="Roboto" pitchFamily="34" charset="0"/>
                <a:ea typeface="Roboto" pitchFamily="34" charset="-122"/>
                <a:cs typeface="Roboto" pitchFamily="34" charset="-120"/>
              </a:rPr>
              <a:t> дайындаңыздар:</a:t>
            </a:r>
            <a:endParaRPr lang="en-US" sz="1000" dirty="0"/>
          </a:p>
        </p:txBody>
      </p:sp>
      <p:sp>
        <p:nvSpPr>
          <p:cNvPr id="18" name="Text 12"/>
          <p:cNvSpPr/>
          <p:nvPr/>
        </p:nvSpPr>
        <p:spPr>
          <a:xfrm>
            <a:off x="793790" y="4559141"/>
            <a:ext cx="128945" cy="161211"/>
          </a:xfrm>
          <a:prstGeom prst="rect">
            <a:avLst/>
          </a:prstGeom>
          <a:noFill/>
          <a:ln/>
        </p:spPr>
        <p:txBody>
          <a:bodyPr wrap="none" lIns="0" tIns="0" rIns="0" bIns="0" rtlCol="0" anchor="t"/>
          <a:lstStyle/>
          <a:p>
            <a:pPr algn="l" indent="0" marL="0">
              <a:lnSpc>
                <a:spcPts val="1600"/>
              </a:lnSpc>
              <a:buNone/>
            </a:pPr>
            <a:r>
              <a:rPr lang="en-US" sz="1000" dirty="0">
                <a:solidFill>
                  <a:srgbClr val="3C3939"/>
                </a:solidFill>
                <a:latin typeface="Raleway Light" pitchFamily="34" charset="0"/>
                <a:ea typeface="Raleway Light" pitchFamily="34" charset="-122"/>
                <a:cs typeface="Raleway Light" pitchFamily="34" charset="-120"/>
              </a:rPr>
              <a:t>01</a:t>
            </a:r>
            <a:endParaRPr lang="en-US" sz="1000" dirty="0"/>
          </a:p>
        </p:txBody>
      </p:sp>
      <p:sp>
        <p:nvSpPr>
          <p:cNvPr id="19" name="Shape 13"/>
          <p:cNvSpPr/>
          <p:nvPr/>
        </p:nvSpPr>
        <p:spPr>
          <a:xfrm>
            <a:off x="793790" y="4762976"/>
            <a:ext cx="4261604" cy="15240"/>
          </a:xfrm>
          <a:prstGeom prst="rect">
            <a:avLst/>
          </a:prstGeom>
          <a:solidFill>
            <a:srgbClr val="1B1B27"/>
          </a:solidFill>
          <a:ln/>
        </p:spPr>
      </p:sp>
      <p:sp>
        <p:nvSpPr>
          <p:cNvPr id="20" name="Text 14"/>
          <p:cNvSpPr/>
          <p:nvPr/>
        </p:nvSpPr>
        <p:spPr>
          <a:xfrm>
            <a:off x="793790" y="4857869"/>
            <a:ext cx="2633067" cy="201454"/>
          </a:xfrm>
          <a:prstGeom prst="rect">
            <a:avLst/>
          </a:prstGeom>
          <a:noFill/>
          <a:ln/>
        </p:spPr>
        <p:txBody>
          <a:bodyPr wrap="none" lIns="0" tIns="0" rIns="0" bIns="0" rtlCol="0" anchor="t"/>
          <a:lstStyle/>
          <a:p>
            <a:pPr algn="l" indent="0" marL="0">
              <a:lnSpc>
                <a:spcPts val="1550"/>
              </a:lnSpc>
              <a:buNone/>
            </a:pPr>
            <a:r>
              <a:rPr lang="en-US" sz="1250" dirty="0">
                <a:solidFill>
                  <a:srgbClr val="3C3939"/>
                </a:solidFill>
                <a:latin typeface="Raleway" pitchFamily="34" charset="0"/>
                <a:ea typeface="Raleway" pitchFamily="34" charset="-122"/>
                <a:cs typeface="Raleway" pitchFamily="34" charset="-120"/>
              </a:rPr>
              <a:t>Үйкеліс қай жерде пайда болады?</a:t>
            </a:r>
            <a:endParaRPr lang="en-US" sz="1250" dirty="0"/>
          </a:p>
        </p:txBody>
      </p:sp>
      <p:sp>
        <p:nvSpPr>
          <p:cNvPr id="21" name="Text 15"/>
          <p:cNvSpPr/>
          <p:nvPr/>
        </p:nvSpPr>
        <p:spPr>
          <a:xfrm>
            <a:off x="793790" y="5136713"/>
            <a:ext cx="4261604" cy="412909"/>
          </a:xfrm>
          <a:prstGeom prst="rect">
            <a:avLst/>
          </a:prstGeom>
          <a:noFill/>
          <a:ln/>
        </p:spPr>
        <p:txBody>
          <a:bodyPr wrap="square" lIns="0" tIns="0" rIns="0" bIns="0" rtlCol="0" anchor="t"/>
          <a:lstStyle/>
          <a:p>
            <a:pPr algn="l" indent="0" marL="0">
              <a:lnSpc>
                <a:spcPts val="1600"/>
              </a:lnSpc>
              <a:buNone/>
            </a:pPr>
            <a:r>
              <a:rPr lang="en-US" sz="1000" dirty="0">
                <a:solidFill>
                  <a:srgbClr val="3C3939"/>
                </a:solidFill>
                <a:latin typeface="Roboto" pitchFamily="34" charset="0"/>
                <a:ea typeface="Roboto" pitchFamily="34" charset="-122"/>
                <a:cs typeface="Roboto" pitchFamily="34" charset="-120"/>
              </a:rPr>
              <a:t>Таңдаған ойын/құралда үйкеліс күші қалай және қайда әсер ететінін анықтаңыз.</a:t>
            </a:r>
            <a:endParaRPr lang="en-US" sz="1000" dirty="0"/>
          </a:p>
        </p:txBody>
      </p:sp>
      <p:sp>
        <p:nvSpPr>
          <p:cNvPr id="22" name="Text 16"/>
          <p:cNvSpPr/>
          <p:nvPr/>
        </p:nvSpPr>
        <p:spPr>
          <a:xfrm>
            <a:off x="5184338" y="4559141"/>
            <a:ext cx="128945" cy="161211"/>
          </a:xfrm>
          <a:prstGeom prst="rect">
            <a:avLst/>
          </a:prstGeom>
          <a:noFill/>
          <a:ln/>
        </p:spPr>
        <p:txBody>
          <a:bodyPr wrap="none" lIns="0" tIns="0" rIns="0" bIns="0" rtlCol="0" anchor="t"/>
          <a:lstStyle/>
          <a:p>
            <a:pPr algn="l" indent="0" marL="0">
              <a:lnSpc>
                <a:spcPts val="1600"/>
              </a:lnSpc>
              <a:buNone/>
            </a:pPr>
            <a:r>
              <a:rPr lang="en-US" sz="1000" dirty="0">
                <a:solidFill>
                  <a:srgbClr val="3C3939"/>
                </a:solidFill>
                <a:latin typeface="Raleway Light" pitchFamily="34" charset="0"/>
                <a:ea typeface="Raleway Light" pitchFamily="34" charset="-122"/>
                <a:cs typeface="Raleway Light" pitchFamily="34" charset="-120"/>
              </a:rPr>
              <a:t>02</a:t>
            </a:r>
            <a:endParaRPr lang="en-US" sz="1000" dirty="0"/>
          </a:p>
        </p:txBody>
      </p:sp>
      <p:sp>
        <p:nvSpPr>
          <p:cNvPr id="23" name="Shape 17"/>
          <p:cNvSpPr/>
          <p:nvPr/>
        </p:nvSpPr>
        <p:spPr>
          <a:xfrm>
            <a:off x="5184338" y="4762976"/>
            <a:ext cx="4261604" cy="15240"/>
          </a:xfrm>
          <a:prstGeom prst="rect">
            <a:avLst/>
          </a:prstGeom>
          <a:solidFill>
            <a:srgbClr val="1B1B27"/>
          </a:solidFill>
          <a:ln/>
        </p:spPr>
      </p:sp>
      <p:sp>
        <p:nvSpPr>
          <p:cNvPr id="24" name="Text 18"/>
          <p:cNvSpPr/>
          <p:nvPr/>
        </p:nvSpPr>
        <p:spPr>
          <a:xfrm>
            <a:off x="5184338" y="4857869"/>
            <a:ext cx="2462212" cy="201454"/>
          </a:xfrm>
          <a:prstGeom prst="rect">
            <a:avLst/>
          </a:prstGeom>
          <a:noFill/>
          <a:ln/>
        </p:spPr>
        <p:txBody>
          <a:bodyPr wrap="none" lIns="0" tIns="0" rIns="0" bIns="0" rtlCol="0" anchor="t"/>
          <a:lstStyle/>
          <a:p>
            <a:pPr algn="l" indent="0" marL="0">
              <a:lnSpc>
                <a:spcPts val="1550"/>
              </a:lnSpc>
              <a:buNone/>
            </a:pPr>
            <a:r>
              <a:rPr lang="en-US" sz="1250" dirty="0">
                <a:solidFill>
                  <a:srgbClr val="3C3939"/>
                </a:solidFill>
                <a:latin typeface="Raleway" pitchFamily="34" charset="0"/>
                <a:ea typeface="Raleway" pitchFamily="34" charset="-122"/>
                <a:cs typeface="Raleway" pitchFamily="34" charset="-120"/>
              </a:rPr>
              <a:t>Қауіпсіздік пен тиімділікке әсері</a:t>
            </a:r>
            <a:endParaRPr lang="en-US" sz="1250" dirty="0"/>
          </a:p>
        </p:txBody>
      </p:sp>
      <p:sp>
        <p:nvSpPr>
          <p:cNvPr id="25" name="Text 19"/>
          <p:cNvSpPr/>
          <p:nvPr/>
        </p:nvSpPr>
        <p:spPr>
          <a:xfrm>
            <a:off x="5184338" y="5136713"/>
            <a:ext cx="4261604" cy="206454"/>
          </a:xfrm>
          <a:prstGeom prst="rect">
            <a:avLst/>
          </a:prstGeom>
          <a:noFill/>
          <a:ln/>
        </p:spPr>
        <p:txBody>
          <a:bodyPr wrap="none" lIns="0" tIns="0" rIns="0" bIns="0" rtlCol="0" anchor="t"/>
          <a:lstStyle/>
          <a:p>
            <a:pPr algn="l" indent="0" marL="0">
              <a:lnSpc>
                <a:spcPts val="1600"/>
              </a:lnSpc>
              <a:buNone/>
            </a:pPr>
            <a:r>
              <a:rPr lang="en-US" sz="1000" dirty="0">
                <a:solidFill>
                  <a:srgbClr val="3C3939"/>
                </a:solidFill>
                <a:latin typeface="Roboto" pitchFamily="34" charset="0"/>
                <a:ea typeface="Roboto" pitchFamily="34" charset="-122"/>
                <a:cs typeface="Roboto" pitchFamily="34" charset="-120"/>
              </a:rPr>
              <a:t>Үйкеліс қалай көмектесетінін немесе кедергі келтіретінін талдаңыз.</a:t>
            </a:r>
            <a:endParaRPr lang="en-US" sz="1000" dirty="0"/>
          </a:p>
        </p:txBody>
      </p:sp>
      <p:sp>
        <p:nvSpPr>
          <p:cNvPr id="26" name="Text 20"/>
          <p:cNvSpPr/>
          <p:nvPr/>
        </p:nvSpPr>
        <p:spPr>
          <a:xfrm>
            <a:off x="9574887" y="4559141"/>
            <a:ext cx="128945" cy="161211"/>
          </a:xfrm>
          <a:prstGeom prst="rect">
            <a:avLst/>
          </a:prstGeom>
          <a:noFill/>
          <a:ln/>
        </p:spPr>
        <p:txBody>
          <a:bodyPr wrap="none" lIns="0" tIns="0" rIns="0" bIns="0" rtlCol="0" anchor="t"/>
          <a:lstStyle/>
          <a:p>
            <a:pPr algn="l" indent="0" marL="0">
              <a:lnSpc>
                <a:spcPts val="1600"/>
              </a:lnSpc>
              <a:buNone/>
            </a:pPr>
            <a:r>
              <a:rPr lang="en-US" sz="1000" dirty="0">
                <a:solidFill>
                  <a:srgbClr val="3C3939"/>
                </a:solidFill>
                <a:latin typeface="Raleway Light" pitchFamily="34" charset="0"/>
                <a:ea typeface="Raleway Light" pitchFamily="34" charset="-122"/>
                <a:cs typeface="Raleway Light" pitchFamily="34" charset="-120"/>
              </a:rPr>
              <a:t>03</a:t>
            </a:r>
            <a:endParaRPr lang="en-US" sz="1000" dirty="0"/>
          </a:p>
        </p:txBody>
      </p:sp>
      <p:sp>
        <p:nvSpPr>
          <p:cNvPr id="27" name="Shape 21"/>
          <p:cNvSpPr/>
          <p:nvPr/>
        </p:nvSpPr>
        <p:spPr>
          <a:xfrm>
            <a:off x="9574887" y="4762976"/>
            <a:ext cx="4261723" cy="15240"/>
          </a:xfrm>
          <a:prstGeom prst="rect">
            <a:avLst/>
          </a:prstGeom>
          <a:solidFill>
            <a:srgbClr val="1B1B27"/>
          </a:solidFill>
          <a:ln/>
        </p:spPr>
      </p:sp>
      <p:sp>
        <p:nvSpPr>
          <p:cNvPr id="28" name="Text 22"/>
          <p:cNvSpPr/>
          <p:nvPr/>
        </p:nvSpPr>
        <p:spPr>
          <a:xfrm>
            <a:off x="9574887" y="4857869"/>
            <a:ext cx="2393275" cy="201454"/>
          </a:xfrm>
          <a:prstGeom prst="rect">
            <a:avLst/>
          </a:prstGeom>
          <a:noFill/>
          <a:ln/>
        </p:spPr>
        <p:txBody>
          <a:bodyPr wrap="none" lIns="0" tIns="0" rIns="0" bIns="0" rtlCol="0" anchor="t"/>
          <a:lstStyle/>
          <a:p>
            <a:pPr algn="l" indent="0" marL="0">
              <a:lnSpc>
                <a:spcPts val="1550"/>
              </a:lnSpc>
              <a:buNone/>
            </a:pPr>
            <a:r>
              <a:rPr lang="en-US" sz="1250" dirty="0">
                <a:solidFill>
                  <a:srgbClr val="3C3939"/>
                </a:solidFill>
                <a:latin typeface="Raleway" pitchFamily="34" charset="0"/>
                <a:ea typeface="Raleway" pitchFamily="34" charset="-122"/>
                <a:cs typeface="Raleway" pitchFamily="34" charset="-120"/>
              </a:rPr>
              <a:t>Бірлік пен ынтымақ байланысы</a:t>
            </a:r>
            <a:endParaRPr lang="en-US" sz="1250" dirty="0"/>
          </a:p>
        </p:txBody>
      </p:sp>
      <p:sp>
        <p:nvSpPr>
          <p:cNvPr id="29" name="Text 23"/>
          <p:cNvSpPr/>
          <p:nvPr/>
        </p:nvSpPr>
        <p:spPr>
          <a:xfrm>
            <a:off x="9574887" y="5136713"/>
            <a:ext cx="4261723" cy="206454"/>
          </a:xfrm>
          <a:prstGeom prst="rect">
            <a:avLst/>
          </a:prstGeom>
          <a:noFill/>
          <a:ln/>
        </p:spPr>
        <p:txBody>
          <a:bodyPr wrap="none" lIns="0" tIns="0" rIns="0" bIns="0" rtlCol="0" anchor="t"/>
          <a:lstStyle/>
          <a:p>
            <a:pPr algn="l" indent="0" marL="0">
              <a:lnSpc>
                <a:spcPts val="1600"/>
              </a:lnSpc>
              <a:buNone/>
            </a:pPr>
            <a:r>
              <a:rPr lang="en-US" sz="1000" dirty="0">
                <a:solidFill>
                  <a:srgbClr val="3C3939"/>
                </a:solidFill>
                <a:latin typeface="Roboto" pitchFamily="34" charset="0"/>
                <a:ea typeface="Roboto" pitchFamily="34" charset="-122"/>
                <a:cs typeface="Roboto" pitchFamily="34" charset="-120"/>
              </a:rPr>
              <a:t>Бұл әрекетте адамдар қалай бірлесіп жұмыс істейтінін көрсетіңіз.</a:t>
            </a:r>
            <a:endParaRPr lang="en-US" sz="1000" dirty="0"/>
          </a:p>
        </p:txBody>
      </p:sp>
      <p:sp>
        <p:nvSpPr>
          <p:cNvPr id="30" name="Text 24"/>
          <p:cNvSpPr/>
          <p:nvPr/>
        </p:nvSpPr>
        <p:spPr>
          <a:xfrm>
            <a:off x="987266" y="5984796"/>
            <a:ext cx="2383869" cy="201454"/>
          </a:xfrm>
          <a:prstGeom prst="rect">
            <a:avLst/>
          </a:prstGeom>
          <a:noFill/>
          <a:ln/>
        </p:spPr>
        <p:txBody>
          <a:bodyPr wrap="none" lIns="0" tIns="0" rIns="0" bIns="0" rtlCol="0" anchor="t"/>
          <a:lstStyle/>
          <a:p>
            <a:pPr algn="l" indent="0" marL="0">
              <a:lnSpc>
                <a:spcPts val="1550"/>
              </a:lnSpc>
              <a:buNone/>
            </a:pPr>
            <a:r>
              <a:rPr lang="en-US" sz="1250" dirty="0">
                <a:solidFill>
                  <a:srgbClr val="1B1B27"/>
                </a:solidFill>
                <a:latin typeface="Raleway" pitchFamily="34" charset="0"/>
                <a:ea typeface="Raleway" pitchFamily="34" charset="-122"/>
                <a:cs typeface="Raleway" pitchFamily="34" charset="-120"/>
              </a:rPr>
              <a:t>Постер мысалы: Көкпар ойыны</a:t>
            </a:r>
            <a:endParaRPr lang="en-US" sz="1250" dirty="0"/>
          </a:p>
        </p:txBody>
      </p:sp>
      <p:sp>
        <p:nvSpPr>
          <p:cNvPr id="31" name="Text 25"/>
          <p:cNvSpPr/>
          <p:nvPr/>
        </p:nvSpPr>
        <p:spPr>
          <a:xfrm>
            <a:off x="987266" y="6379726"/>
            <a:ext cx="12849344" cy="412909"/>
          </a:xfrm>
          <a:prstGeom prst="rect">
            <a:avLst/>
          </a:prstGeom>
          <a:noFill/>
          <a:ln/>
        </p:spPr>
        <p:txBody>
          <a:bodyPr wrap="square" lIns="0" tIns="0" rIns="0" bIns="0" rtlCol="0" anchor="t"/>
          <a:lstStyle/>
          <a:p>
            <a:pPr algn="l" indent="0" marL="0">
              <a:lnSpc>
                <a:spcPts val="1600"/>
              </a:lnSpc>
              <a:buNone/>
            </a:pPr>
            <a:r>
              <a:rPr lang="en-US" sz="1000" dirty="0">
                <a:solidFill>
                  <a:srgbClr val="3C3939"/>
                </a:solidFill>
                <a:latin typeface="Roboto" pitchFamily="34" charset="0"/>
                <a:ea typeface="Roboto" pitchFamily="34" charset="-122"/>
                <a:cs typeface="Roboto" pitchFamily="34" charset="-120"/>
              </a:rPr>
              <a:t>Көкпар ойынында аттың тұяғы мен жер арасындағы үйкеліс шабандоздың тайып кетпеуі үшін өте маңызды. Үйкеліс аттың қозғалысын тұрақтандырады және қауіпсіз ойын жүргізуге мүмкіндік береді. Бұл ойында </a:t>
            </a:r>
            <a:pPr algn="l" indent="0" marL="0">
              <a:lnSpc>
                <a:spcPts val="1600"/>
              </a:lnSpc>
              <a:buNone/>
            </a:pPr>
            <a:r>
              <a:rPr lang="en-US" sz="1000" b="1" dirty="0">
                <a:solidFill>
                  <a:srgbClr val="3C3939"/>
                </a:solidFill>
                <a:latin typeface="Roboto" pitchFamily="34" charset="0"/>
                <a:ea typeface="Roboto" pitchFamily="34" charset="-122"/>
                <a:cs typeface="Roboto" pitchFamily="34" charset="-120"/>
              </a:rPr>
              <a:t>бірлік</a:t>
            </a:r>
            <a:pPr algn="l" indent="0" marL="0">
              <a:lnSpc>
                <a:spcPts val="1600"/>
              </a:lnSpc>
              <a:buNone/>
            </a:pPr>
            <a:r>
              <a:rPr lang="en-US" sz="1000" dirty="0">
                <a:solidFill>
                  <a:srgbClr val="3C3939"/>
                </a:solidFill>
                <a:latin typeface="Roboto" pitchFamily="34" charset="0"/>
                <a:ea typeface="Roboto" pitchFamily="34" charset="-122"/>
                <a:cs typeface="Roboto" pitchFamily="34" charset="-120"/>
              </a:rPr>
              <a:t>, </a:t>
            </a:r>
            <a:pPr algn="l" indent="0" marL="0">
              <a:lnSpc>
                <a:spcPts val="1600"/>
              </a:lnSpc>
              <a:buNone/>
            </a:pPr>
            <a:r>
              <a:rPr lang="en-US" sz="1000" b="1" dirty="0">
                <a:solidFill>
                  <a:srgbClr val="3C3939"/>
                </a:solidFill>
                <a:latin typeface="Roboto" pitchFamily="34" charset="0"/>
                <a:ea typeface="Roboto" pitchFamily="34" charset="-122"/>
                <a:cs typeface="Roboto" pitchFamily="34" charset="-120"/>
              </a:rPr>
              <a:t>батылдық</a:t>
            </a:r>
            <a:pPr algn="l" indent="0" marL="0">
              <a:lnSpc>
                <a:spcPts val="1600"/>
              </a:lnSpc>
              <a:buNone/>
            </a:pPr>
            <a:r>
              <a:rPr lang="en-US" sz="1000" dirty="0">
                <a:solidFill>
                  <a:srgbClr val="3C3939"/>
                </a:solidFill>
                <a:latin typeface="Roboto" pitchFamily="34" charset="0"/>
                <a:ea typeface="Roboto" pitchFamily="34" charset="-122"/>
                <a:cs typeface="Roboto" pitchFamily="34" charset="-120"/>
              </a:rPr>
              <a:t> және </a:t>
            </a:r>
            <a:pPr algn="l" indent="0" marL="0">
              <a:lnSpc>
                <a:spcPts val="1600"/>
              </a:lnSpc>
              <a:buNone/>
            </a:pPr>
            <a:r>
              <a:rPr lang="en-US" sz="1000" b="1" dirty="0">
                <a:solidFill>
                  <a:srgbClr val="3C3939"/>
                </a:solidFill>
                <a:latin typeface="Roboto" pitchFamily="34" charset="0"/>
                <a:ea typeface="Roboto" pitchFamily="34" charset="-122"/>
                <a:cs typeface="Roboto" pitchFamily="34" charset="-120"/>
              </a:rPr>
              <a:t>ынтымақтастық</a:t>
            </a:r>
            <a:pPr algn="l" indent="0" marL="0">
              <a:lnSpc>
                <a:spcPts val="1600"/>
              </a:lnSpc>
              <a:buNone/>
            </a:pPr>
            <a:r>
              <a:rPr lang="en-US" sz="1000" dirty="0">
                <a:solidFill>
                  <a:srgbClr val="3C3939"/>
                </a:solidFill>
                <a:latin typeface="Roboto" pitchFamily="34" charset="0"/>
                <a:ea typeface="Roboto" pitchFamily="34" charset="-122"/>
                <a:cs typeface="Roboto" pitchFamily="34" charset="-120"/>
              </a:rPr>
              <a:t> сияқты ұлттық құндылықтар айқын көрінеді. Топ мүшелері бір мақсатқа жету үшін үйлесімді әрекет етеді.</a:t>
            </a:r>
            <a:endParaRPr lang="en-US" sz="1000" dirty="0"/>
          </a:p>
        </p:txBody>
      </p:sp>
      <p:sp>
        <p:nvSpPr>
          <p:cNvPr id="32" name="Shape 26"/>
          <p:cNvSpPr/>
          <p:nvPr/>
        </p:nvSpPr>
        <p:spPr>
          <a:xfrm>
            <a:off x="793790" y="5791319"/>
            <a:ext cx="15240" cy="1146334"/>
          </a:xfrm>
          <a:prstGeom prst="rect">
            <a:avLst/>
          </a:prstGeom>
          <a:solidFill>
            <a:srgbClr val="1B1B27"/>
          </a:solidFill>
          <a:ln/>
        </p:spPr>
      </p:sp>
      <p:sp>
        <p:nvSpPr>
          <p:cNvPr id="33" name="Shape 27"/>
          <p:cNvSpPr/>
          <p:nvPr/>
        </p:nvSpPr>
        <p:spPr>
          <a:xfrm>
            <a:off x="793790" y="7082671"/>
            <a:ext cx="13042821" cy="548045"/>
          </a:xfrm>
          <a:prstGeom prst="roundRect">
            <a:avLst>
              <a:gd name="adj" fmla="val 9887"/>
            </a:avLst>
          </a:prstGeom>
          <a:solidFill>
            <a:srgbClr val="D2D2E0"/>
          </a:solidFill>
          <a:ln/>
        </p:spPr>
      </p:sp>
      <p:pic>
        <p:nvPicPr>
          <p:cNvPr id="34" name="Image 4" descr="preencoded.png">    </p:cNvPr>
          <p:cNvPicPr>
            <a:picLocks noChangeAspect="1"/>
          </p:cNvPicPr>
          <p:nvPr/>
        </p:nvPicPr>
        <p:blipFill>
          <a:blip r:embed="rId5"/>
          <a:stretch>
            <a:fillRect/>
          </a:stretch>
        </p:blipFill>
        <p:spPr>
          <a:xfrm>
            <a:off x="922734" y="7275671"/>
            <a:ext cx="161211" cy="128945"/>
          </a:xfrm>
          <a:prstGeom prst="rect">
            <a:avLst/>
          </a:prstGeom>
        </p:spPr>
      </p:pic>
      <p:sp>
        <p:nvSpPr>
          <p:cNvPr id="35" name="Text 28"/>
          <p:cNvSpPr/>
          <p:nvPr/>
        </p:nvSpPr>
        <p:spPr>
          <a:xfrm>
            <a:off x="1212890" y="7243762"/>
            <a:ext cx="12494776" cy="206454"/>
          </a:xfrm>
          <a:prstGeom prst="rect">
            <a:avLst/>
          </a:prstGeom>
          <a:noFill/>
          <a:ln/>
        </p:spPr>
        <p:txBody>
          <a:bodyPr wrap="none" lIns="0" tIns="0" rIns="0" bIns="0" rtlCol="0" anchor="t"/>
          <a:lstStyle/>
          <a:p>
            <a:pPr algn="l" indent="0" marL="0">
              <a:lnSpc>
                <a:spcPts val="1600"/>
              </a:lnSpc>
              <a:buNone/>
            </a:pPr>
            <a:r>
              <a:rPr lang="en-US" sz="1000" b="1" dirty="0">
                <a:solidFill>
                  <a:srgbClr val="000000"/>
                </a:solidFill>
                <a:latin typeface="Roboto" pitchFamily="34" charset="0"/>
                <a:ea typeface="Roboto" pitchFamily="34" charset="-122"/>
                <a:cs typeface="Roboto" pitchFamily="34" charset="-120"/>
              </a:rPr>
              <a:t>Бағалау (2 балл):</a:t>
            </a:r>
            <a:pPr algn="l" indent="0" marL="0">
              <a:lnSpc>
                <a:spcPts val="1600"/>
              </a:lnSpc>
              <a:buNone/>
            </a:pPr>
            <a:r>
              <a:rPr lang="en-US" sz="1000" dirty="0">
                <a:solidFill>
                  <a:srgbClr val="000000"/>
                </a:solidFill>
                <a:latin typeface="Roboto" pitchFamily="34" charset="0"/>
                <a:ea typeface="Roboto" pitchFamily="34" charset="-122"/>
                <a:cs typeface="Roboto" pitchFamily="34" charset="-120"/>
              </a:rPr>
              <a:t> Үйкеліс рөлін түсіндіру – 1б | Құндылықтарды байланыстыру – 1б</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659844"/>
            <a:ext cx="5620226" cy="465177"/>
          </a:xfrm>
          <a:prstGeom prst="rect">
            <a:avLst/>
          </a:prstGeom>
          <a:noFill/>
          <a:ln/>
        </p:spPr>
        <p:txBody>
          <a:bodyPr wrap="none" lIns="0" tIns="0" rIns="0" bIns="0" rtlCol="0" anchor="t"/>
          <a:lstStyle/>
          <a:p>
            <a:pPr algn="l" indent="0" marL="0">
              <a:lnSpc>
                <a:spcPts val="3650"/>
              </a:lnSpc>
              <a:buNone/>
            </a:pPr>
            <a:r>
              <a:rPr lang="en-US" sz="2900" dirty="0">
                <a:solidFill>
                  <a:srgbClr val="1B1B27"/>
                </a:solidFill>
                <a:latin typeface="Raleway" pitchFamily="34" charset="0"/>
                <a:ea typeface="Raleway" pitchFamily="34" charset="-122"/>
                <a:cs typeface="Raleway" pitchFamily="34" charset="-120"/>
              </a:rPr>
              <a:t>3-Тапсырма: Деңгейлік есептер</a:t>
            </a:r>
            <a:endParaRPr lang="en-US" sz="2900" dirty="0"/>
          </a:p>
        </p:txBody>
      </p:sp>
      <p:sp>
        <p:nvSpPr>
          <p:cNvPr id="3" name="Text 1"/>
          <p:cNvSpPr/>
          <p:nvPr/>
        </p:nvSpPr>
        <p:spPr>
          <a:xfrm>
            <a:off x="793790" y="1422678"/>
            <a:ext cx="13042821" cy="238125"/>
          </a:xfrm>
          <a:prstGeom prst="rect">
            <a:avLst/>
          </a:prstGeom>
          <a:noFill/>
          <a:ln/>
        </p:spPr>
        <p:txBody>
          <a:bodyPr wrap="none" lIns="0" tIns="0" rIns="0" bIns="0" rtlCol="0" anchor="t"/>
          <a:lstStyle/>
          <a:p>
            <a:pPr algn="l" indent="0" marL="0">
              <a:lnSpc>
                <a:spcPts val="1850"/>
              </a:lnSpc>
              <a:buNone/>
            </a:pPr>
            <a:r>
              <a:rPr lang="en-US" sz="1150" dirty="0">
                <a:solidFill>
                  <a:srgbClr val="3C3939"/>
                </a:solidFill>
                <a:latin typeface="Roboto" pitchFamily="34" charset="0"/>
                <a:ea typeface="Roboto" pitchFamily="34" charset="-122"/>
                <a:cs typeface="Roboto" pitchFamily="34" charset="-120"/>
              </a:rPr>
              <a:t>Төменде үш деңгейдегі есептер берілген. Әрқайсысы үйкеліс туралы білімдеріңізді тексеруге және тереңдетуге арналған. Барлығы 5 балл.</a:t>
            </a:r>
            <a:endParaRPr lang="en-US" sz="1150" dirty="0"/>
          </a:p>
        </p:txBody>
      </p:sp>
      <p:sp>
        <p:nvSpPr>
          <p:cNvPr id="4" name="Shape 2"/>
          <p:cNvSpPr/>
          <p:nvPr/>
        </p:nvSpPr>
        <p:spPr>
          <a:xfrm>
            <a:off x="793790" y="2274689"/>
            <a:ext cx="4248388" cy="4495086"/>
          </a:xfrm>
          <a:prstGeom prst="roundRect">
            <a:avLst>
              <a:gd name="adj" fmla="val 1472"/>
            </a:avLst>
          </a:prstGeom>
          <a:solidFill>
            <a:srgbClr val="FFFFFF">
              <a:alpha val="95000"/>
            </a:srgbClr>
          </a:solidFill>
          <a:ln w="15240">
            <a:solidFill>
              <a:srgbClr val="C7C7D0"/>
            </a:solidFill>
            <a:prstDash val="solid"/>
          </a:ln>
        </p:spPr>
      </p:sp>
      <p:sp>
        <p:nvSpPr>
          <p:cNvPr id="5" name="Shape 3"/>
          <p:cNvSpPr/>
          <p:nvPr/>
        </p:nvSpPr>
        <p:spPr>
          <a:xfrm>
            <a:off x="809030" y="2289929"/>
            <a:ext cx="4217908" cy="148828"/>
          </a:xfrm>
          <a:prstGeom prst="roundRect">
            <a:avLst>
              <a:gd name="adj" fmla="val 29720"/>
            </a:avLst>
          </a:prstGeom>
          <a:solidFill>
            <a:srgbClr val="E1E1EA"/>
          </a:solidFill>
          <a:ln/>
        </p:spPr>
      </p:sp>
      <p:sp>
        <p:nvSpPr>
          <p:cNvPr id="6" name="Text 4"/>
          <p:cNvSpPr/>
          <p:nvPr/>
        </p:nvSpPr>
        <p:spPr>
          <a:xfrm>
            <a:off x="957858" y="2587585"/>
            <a:ext cx="2370892" cy="278963"/>
          </a:xfrm>
          <a:prstGeom prst="rect">
            <a:avLst/>
          </a:prstGeom>
          <a:noFill/>
          <a:ln/>
        </p:spPr>
        <p:txBody>
          <a:bodyPr wrap="none" lIns="0" tIns="0" rIns="0" bIns="0" rtlCol="0" anchor="t"/>
          <a:lstStyle/>
          <a:p>
            <a:pPr algn="l" indent="0" marL="0">
              <a:lnSpc>
                <a:spcPts val="2150"/>
              </a:lnSpc>
              <a:buNone/>
            </a:pPr>
            <a:r>
              <a:rPr lang="en-US" sz="1750" dirty="0">
                <a:solidFill>
                  <a:srgbClr val="3C3939"/>
                </a:solidFill>
                <a:latin typeface="Raleway" pitchFamily="34" charset="0"/>
                <a:ea typeface="Raleway" pitchFamily="34" charset="-122"/>
                <a:cs typeface="Raleway" pitchFamily="34" charset="-120"/>
              </a:rPr>
              <a:t>A-деңгей: Білу (1 балл)</a:t>
            </a:r>
            <a:endParaRPr lang="en-US" sz="1750" dirty="0"/>
          </a:p>
        </p:txBody>
      </p:sp>
      <p:sp>
        <p:nvSpPr>
          <p:cNvPr id="7" name="Text 5"/>
          <p:cNvSpPr/>
          <p:nvPr/>
        </p:nvSpPr>
        <p:spPr>
          <a:xfrm>
            <a:off x="957858" y="2926080"/>
            <a:ext cx="3546277" cy="232529"/>
          </a:xfrm>
          <a:prstGeom prst="rect">
            <a:avLst/>
          </a:prstGeom>
          <a:noFill/>
          <a:ln/>
        </p:spPr>
        <p:txBody>
          <a:bodyPr wrap="none" lIns="0" tIns="0" rIns="0" bIns="0" rtlCol="0" anchor="t"/>
          <a:lstStyle/>
          <a:p>
            <a:pPr algn="l" indent="0" marL="0">
              <a:lnSpc>
                <a:spcPts val="1800"/>
              </a:lnSpc>
              <a:buNone/>
            </a:pPr>
            <a:r>
              <a:rPr lang="en-US" sz="1450" dirty="0">
                <a:solidFill>
                  <a:srgbClr val="3C3939"/>
                </a:solidFill>
                <a:latin typeface="Raleway" pitchFamily="34" charset="0"/>
                <a:ea typeface="Raleway" pitchFamily="34" charset="-122"/>
                <a:cs typeface="Raleway" pitchFamily="34" charset="-120"/>
              </a:rPr>
              <a:t>Үйкелістің түрлеріне мысал келтіріңдер</a:t>
            </a:r>
            <a:endParaRPr lang="en-US" sz="1450" dirty="0"/>
          </a:p>
        </p:txBody>
      </p:sp>
      <p:sp>
        <p:nvSpPr>
          <p:cNvPr id="8" name="Text 6"/>
          <p:cNvSpPr/>
          <p:nvPr/>
        </p:nvSpPr>
        <p:spPr>
          <a:xfrm>
            <a:off x="957858" y="3247906"/>
            <a:ext cx="3920252" cy="714375"/>
          </a:xfrm>
          <a:prstGeom prst="rect">
            <a:avLst/>
          </a:prstGeom>
          <a:noFill/>
          <a:ln/>
        </p:spPr>
        <p:txBody>
          <a:bodyPr wrap="square" lIns="0" tIns="0" rIns="0" bIns="0" rtlCol="0" anchor="t"/>
          <a:lstStyle/>
          <a:p>
            <a:pPr algn="l" indent="0" marL="0">
              <a:lnSpc>
                <a:spcPts val="1850"/>
              </a:lnSpc>
              <a:buNone/>
            </a:pPr>
            <a:r>
              <a:rPr lang="en-US" sz="1150" dirty="0">
                <a:solidFill>
                  <a:srgbClr val="3C3939"/>
                </a:solidFill>
                <a:latin typeface="Roboto" pitchFamily="34" charset="0"/>
                <a:ea typeface="Roboto" pitchFamily="34" charset="-122"/>
                <a:cs typeface="Roboto" pitchFamily="34" charset="-120"/>
              </a:rPr>
              <a:t>Үш түрлі үйкелісті (тыныштық, сырғанау, домалау) сипаттап, әрқайсысына өмірден бір-бірден мысал келтіріңіз.</a:t>
            </a:r>
            <a:endParaRPr lang="en-US" sz="1150" dirty="0"/>
          </a:p>
        </p:txBody>
      </p:sp>
      <p:sp>
        <p:nvSpPr>
          <p:cNvPr id="9" name="Shape 7"/>
          <p:cNvSpPr/>
          <p:nvPr/>
        </p:nvSpPr>
        <p:spPr>
          <a:xfrm>
            <a:off x="1181100" y="4129683"/>
            <a:ext cx="3697010" cy="1743075"/>
          </a:xfrm>
          <a:prstGeom prst="roundRect">
            <a:avLst>
              <a:gd name="adj" fmla="val 3587"/>
            </a:avLst>
          </a:prstGeom>
          <a:noFill/>
          <a:ln w="7620">
            <a:solidFill>
              <a:srgbClr val="000000">
                <a:alpha val="8000"/>
              </a:srgbClr>
            </a:solidFill>
            <a:prstDash val="solid"/>
          </a:ln>
        </p:spPr>
      </p:sp>
      <p:sp>
        <p:nvSpPr>
          <p:cNvPr id="10" name="Shape 8"/>
          <p:cNvSpPr/>
          <p:nvPr/>
        </p:nvSpPr>
        <p:spPr>
          <a:xfrm>
            <a:off x="1188720" y="4137303"/>
            <a:ext cx="3681770" cy="431959"/>
          </a:xfrm>
          <a:prstGeom prst="rect">
            <a:avLst/>
          </a:prstGeom>
          <a:solidFill>
            <a:srgbClr val="FFFFFF">
              <a:alpha val="4000"/>
            </a:srgbClr>
          </a:solidFill>
          <a:ln/>
        </p:spPr>
      </p:sp>
      <p:sp>
        <p:nvSpPr>
          <p:cNvPr id="11" name="Text 9"/>
          <p:cNvSpPr/>
          <p:nvPr/>
        </p:nvSpPr>
        <p:spPr>
          <a:xfrm>
            <a:off x="1337667" y="4234220"/>
            <a:ext cx="1539359" cy="238125"/>
          </a:xfrm>
          <a:prstGeom prst="rect">
            <a:avLst/>
          </a:prstGeom>
          <a:noFill/>
          <a:ln/>
        </p:spPr>
        <p:txBody>
          <a:bodyPr wrap="none" lIns="0" tIns="0" rIns="0" bIns="0" rtlCol="0" anchor="t"/>
          <a:lstStyle/>
          <a:p>
            <a:pPr algn="l" indent="0" marL="0">
              <a:lnSpc>
                <a:spcPts val="1850"/>
              </a:lnSpc>
              <a:buNone/>
            </a:pPr>
            <a:r>
              <a:rPr lang="en-US" sz="1150" b="1" dirty="0">
                <a:solidFill>
                  <a:srgbClr val="3C3939"/>
                </a:solidFill>
                <a:latin typeface="Roboto" pitchFamily="34" charset="0"/>
                <a:ea typeface="Roboto" pitchFamily="34" charset="-122"/>
                <a:cs typeface="Roboto" pitchFamily="34" charset="-120"/>
              </a:rPr>
              <a:t>Үйкеліс түрі</a:t>
            </a:r>
            <a:endParaRPr lang="en-US" sz="1150" dirty="0"/>
          </a:p>
        </p:txBody>
      </p:sp>
      <p:sp>
        <p:nvSpPr>
          <p:cNvPr id="12" name="Text 10"/>
          <p:cNvSpPr/>
          <p:nvPr/>
        </p:nvSpPr>
        <p:spPr>
          <a:xfrm>
            <a:off x="3182303" y="4234220"/>
            <a:ext cx="1539359" cy="238125"/>
          </a:xfrm>
          <a:prstGeom prst="rect">
            <a:avLst/>
          </a:prstGeom>
          <a:noFill/>
          <a:ln/>
        </p:spPr>
        <p:txBody>
          <a:bodyPr wrap="none" lIns="0" tIns="0" rIns="0" bIns="0" rtlCol="0" anchor="t"/>
          <a:lstStyle/>
          <a:p>
            <a:pPr algn="l" indent="0" marL="0">
              <a:lnSpc>
                <a:spcPts val="1850"/>
              </a:lnSpc>
              <a:buNone/>
            </a:pPr>
            <a:r>
              <a:rPr lang="en-US" sz="1150" b="1" dirty="0">
                <a:solidFill>
                  <a:srgbClr val="3C3939"/>
                </a:solidFill>
                <a:latin typeface="Roboto" pitchFamily="34" charset="0"/>
                <a:ea typeface="Roboto" pitchFamily="34" charset="-122"/>
                <a:cs typeface="Roboto" pitchFamily="34" charset="-120"/>
              </a:rPr>
              <a:t>Мысал</a:t>
            </a:r>
            <a:endParaRPr lang="en-US" sz="1150" dirty="0"/>
          </a:p>
        </p:txBody>
      </p:sp>
      <p:sp>
        <p:nvSpPr>
          <p:cNvPr id="13" name="Shape 11"/>
          <p:cNvSpPr/>
          <p:nvPr/>
        </p:nvSpPr>
        <p:spPr>
          <a:xfrm>
            <a:off x="1188720" y="4569262"/>
            <a:ext cx="3681770" cy="431959"/>
          </a:xfrm>
          <a:prstGeom prst="rect">
            <a:avLst/>
          </a:prstGeom>
          <a:solidFill>
            <a:srgbClr val="000000">
              <a:alpha val="4000"/>
            </a:srgbClr>
          </a:solidFill>
          <a:ln/>
        </p:spPr>
      </p:sp>
      <p:sp>
        <p:nvSpPr>
          <p:cNvPr id="14" name="Text 12"/>
          <p:cNvSpPr/>
          <p:nvPr/>
        </p:nvSpPr>
        <p:spPr>
          <a:xfrm>
            <a:off x="1337667" y="4666178"/>
            <a:ext cx="1539359" cy="238125"/>
          </a:xfrm>
          <a:prstGeom prst="rect">
            <a:avLst/>
          </a:prstGeom>
          <a:noFill/>
          <a:ln/>
        </p:spPr>
        <p:txBody>
          <a:bodyPr wrap="none" lIns="0" tIns="0" rIns="0" bIns="0" rtlCol="0" anchor="t"/>
          <a:lstStyle/>
          <a:p>
            <a:pPr algn="l" indent="0" marL="0">
              <a:lnSpc>
                <a:spcPts val="1850"/>
              </a:lnSpc>
              <a:buNone/>
            </a:pPr>
            <a:r>
              <a:rPr lang="en-US" sz="1150" dirty="0">
                <a:solidFill>
                  <a:srgbClr val="3C3939"/>
                </a:solidFill>
                <a:latin typeface="Roboto" pitchFamily="34" charset="0"/>
                <a:ea typeface="Roboto" pitchFamily="34" charset="-122"/>
                <a:cs typeface="Roboto" pitchFamily="34" charset="-120"/>
              </a:rPr>
              <a:t>Тыныштық үйкелісі</a:t>
            </a:r>
            <a:endParaRPr lang="en-US" sz="1150" dirty="0"/>
          </a:p>
        </p:txBody>
      </p:sp>
      <p:sp>
        <p:nvSpPr>
          <p:cNvPr id="15" name="Text 13"/>
          <p:cNvSpPr/>
          <p:nvPr/>
        </p:nvSpPr>
        <p:spPr>
          <a:xfrm>
            <a:off x="3182303" y="4666178"/>
            <a:ext cx="1539359" cy="238125"/>
          </a:xfrm>
          <a:prstGeom prst="rect">
            <a:avLst/>
          </a:prstGeom>
          <a:noFill/>
          <a:ln/>
        </p:spPr>
        <p:txBody>
          <a:bodyPr wrap="none" lIns="0" tIns="0" rIns="0" bIns="0" rtlCol="0" anchor="t"/>
          <a:lstStyle/>
          <a:p>
            <a:pPr algn="l" indent="0" marL="0">
              <a:lnSpc>
                <a:spcPts val="1850"/>
              </a:lnSpc>
              <a:buNone/>
            </a:pPr>
            <a:endParaRPr lang="en-US" sz="1150" dirty="0"/>
          </a:p>
        </p:txBody>
      </p:sp>
      <p:sp>
        <p:nvSpPr>
          <p:cNvPr id="16" name="Shape 14"/>
          <p:cNvSpPr/>
          <p:nvPr/>
        </p:nvSpPr>
        <p:spPr>
          <a:xfrm>
            <a:off x="1188720" y="5001220"/>
            <a:ext cx="3681770" cy="431959"/>
          </a:xfrm>
          <a:prstGeom prst="rect">
            <a:avLst/>
          </a:prstGeom>
          <a:solidFill>
            <a:srgbClr val="FFFFFF">
              <a:alpha val="4000"/>
            </a:srgbClr>
          </a:solidFill>
          <a:ln/>
        </p:spPr>
      </p:sp>
      <p:sp>
        <p:nvSpPr>
          <p:cNvPr id="17" name="Text 15"/>
          <p:cNvSpPr/>
          <p:nvPr/>
        </p:nvSpPr>
        <p:spPr>
          <a:xfrm>
            <a:off x="1337667" y="5098137"/>
            <a:ext cx="1539359" cy="238125"/>
          </a:xfrm>
          <a:prstGeom prst="rect">
            <a:avLst/>
          </a:prstGeom>
          <a:noFill/>
          <a:ln/>
        </p:spPr>
        <p:txBody>
          <a:bodyPr wrap="none" lIns="0" tIns="0" rIns="0" bIns="0" rtlCol="0" anchor="t"/>
          <a:lstStyle/>
          <a:p>
            <a:pPr algn="l" indent="0" marL="0">
              <a:lnSpc>
                <a:spcPts val="1850"/>
              </a:lnSpc>
              <a:buNone/>
            </a:pPr>
            <a:r>
              <a:rPr lang="en-US" sz="1150" dirty="0">
                <a:solidFill>
                  <a:srgbClr val="3C3939"/>
                </a:solidFill>
                <a:latin typeface="Roboto" pitchFamily="34" charset="0"/>
                <a:ea typeface="Roboto" pitchFamily="34" charset="-122"/>
                <a:cs typeface="Roboto" pitchFamily="34" charset="-120"/>
              </a:rPr>
              <a:t>Сырғанау үйкелісі</a:t>
            </a:r>
            <a:endParaRPr lang="en-US" sz="1150" dirty="0"/>
          </a:p>
        </p:txBody>
      </p:sp>
      <p:sp>
        <p:nvSpPr>
          <p:cNvPr id="18" name="Text 16"/>
          <p:cNvSpPr/>
          <p:nvPr/>
        </p:nvSpPr>
        <p:spPr>
          <a:xfrm>
            <a:off x="3182303" y="5098137"/>
            <a:ext cx="1539359" cy="238125"/>
          </a:xfrm>
          <a:prstGeom prst="rect">
            <a:avLst/>
          </a:prstGeom>
          <a:noFill/>
          <a:ln/>
        </p:spPr>
        <p:txBody>
          <a:bodyPr wrap="none" lIns="0" tIns="0" rIns="0" bIns="0" rtlCol="0" anchor="t"/>
          <a:lstStyle/>
          <a:p>
            <a:pPr algn="l" indent="0" marL="0">
              <a:lnSpc>
                <a:spcPts val="1850"/>
              </a:lnSpc>
              <a:buNone/>
            </a:pPr>
            <a:endParaRPr lang="en-US" sz="1150" dirty="0"/>
          </a:p>
        </p:txBody>
      </p:sp>
      <p:sp>
        <p:nvSpPr>
          <p:cNvPr id="19" name="Shape 17"/>
          <p:cNvSpPr/>
          <p:nvPr/>
        </p:nvSpPr>
        <p:spPr>
          <a:xfrm>
            <a:off x="1188720" y="5433179"/>
            <a:ext cx="3681770" cy="431959"/>
          </a:xfrm>
          <a:prstGeom prst="rect">
            <a:avLst/>
          </a:prstGeom>
          <a:solidFill>
            <a:srgbClr val="000000">
              <a:alpha val="4000"/>
            </a:srgbClr>
          </a:solidFill>
          <a:ln/>
        </p:spPr>
      </p:sp>
      <p:sp>
        <p:nvSpPr>
          <p:cNvPr id="20" name="Text 18"/>
          <p:cNvSpPr/>
          <p:nvPr/>
        </p:nvSpPr>
        <p:spPr>
          <a:xfrm>
            <a:off x="1337667" y="5530096"/>
            <a:ext cx="1539359" cy="238125"/>
          </a:xfrm>
          <a:prstGeom prst="rect">
            <a:avLst/>
          </a:prstGeom>
          <a:noFill/>
          <a:ln/>
        </p:spPr>
        <p:txBody>
          <a:bodyPr wrap="none" lIns="0" tIns="0" rIns="0" bIns="0" rtlCol="0" anchor="t"/>
          <a:lstStyle/>
          <a:p>
            <a:pPr algn="l" indent="0" marL="0">
              <a:lnSpc>
                <a:spcPts val="1850"/>
              </a:lnSpc>
              <a:buNone/>
            </a:pPr>
            <a:r>
              <a:rPr lang="en-US" sz="1150" dirty="0">
                <a:solidFill>
                  <a:srgbClr val="3C3939"/>
                </a:solidFill>
                <a:latin typeface="Roboto" pitchFamily="34" charset="0"/>
                <a:ea typeface="Roboto" pitchFamily="34" charset="-122"/>
                <a:cs typeface="Roboto" pitchFamily="34" charset="-120"/>
              </a:rPr>
              <a:t>Домалау үйкелісі</a:t>
            </a:r>
            <a:endParaRPr lang="en-US" sz="1150" dirty="0"/>
          </a:p>
        </p:txBody>
      </p:sp>
      <p:sp>
        <p:nvSpPr>
          <p:cNvPr id="21" name="Text 19"/>
          <p:cNvSpPr/>
          <p:nvPr/>
        </p:nvSpPr>
        <p:spPr>
          <a:xfrm>
            <a:off x="3182303" y="5530096"/>
            <a:ext cx="1539359" cy="238125"/>
          </a:xfrm>
          <a:prstGeom prst="rect">
            <a:avLst/>
          </a:prstGeom>
          <a:noFill/>
          <a:ln/>
        </p:spPr>
        <p:txBody>
          <a:bodyPr wrap="none" lIns="0" tIns="0" rIns="0" bIns="0" rtlCol="0" anchor="t"/>
          <a:lstStyle/>
          <a:p>
            <a:pPr algn="l" indent="0" marL="0">
              <a:lnSpc>
                <a:spcPts val="1850"/>
              </a:lnSpc>
              <a:buNone/>
            </a:pPr>
            <a:endParaRPr lang="en-US" sz="1150" dirty="0"/>
          </a:p>
        </p:txBody>
      </p:sp>
      <p:sp>
        <p:nvSpPr>
          <p:cNvPr id="22" name="Text 20"/>
          <p:cNvSpPr/>
          <p:nvPr/>
        </p:nvSpPr>
        <p:spPr>
          <a:xfrm>
            <a:off x="1181100" y="6040160"/>
            <a:ext cx="3697010" cy="476250"/>
          </a:xfrm>
          <a:prstGeom prst="rect">
            <a:avLst/>
          </a:prstGeom>
          <a:noFill/>
          <a:ln/>
        </p:spPr>
        <p:txBody>
          <a:bodyPr wrap="square" lIns="0" tIns="0" rIns="0" bIns="0" rtlCol="0" anchor="t"/>
          <a:lstStyle/>
          <a:p>
            <a:pPr algn="l" indent="0" marL="0">
              <a:lnSpc>
                <a:spcPts val="1850"/>
              </a:lnSpc>
              <a:buNone/>
            </a:pPr>
            <a:r>
              <a:rPr lang="en-US" sz="1150" b="1" dirty="0">
                <a:solidFill>
                  <a:srgbClr val="3C3939"/>
                </a:solidFill>
                <a:latin typeface="Roboto" pitchFamily="34" charset="0"/>
                <a:ea typeface="Roboto" pitchFamily="34" charset="-122"/>
                <a:cs typeface="Roboto" pitchFamily="34" charset="-120"/>
              </a:rPr>
              <a:t>Бағалау:</a:t>
            </a:r>
            <a:pPr algn="l" indent="0" marL="0">
              <a:lnSpc>
                <a:spcPts val="1850"/>
              </a:lnSpc>
              <a:buNone/>
            </a:pPr>
            <a:r>
              <a:rPr lang="en-US" sz="1150" dirty="0">
                <a:solidFill>
                  <a:srgbClr val="3C3939"/>
                </a:solidFill>
                <a:latin typeface="Roboto" pitchFamily="34" charset="0"/>
                <a:ea typeface="Roboto" pitchFamily="34" charset="-122"/>
                <a:cs typeface="Roboto" pitchFamily="34" charset="-120"/>
              </a:rPr>
              <a:t> Барлық үш түріне дұрыс мысал келтірсе – 1 балл</a:t>
            </a:r>
            <a:endParaRPr lang="en-US" sz="1150" dirty="0"/>
          </a:p>
        </p:txBody>
      </p:sp>
      <p:sp>
        <p:nvSpPr>
          <p:cNvPr id="23" name="Shape 21"/>
          <p:cNvSpPr/>
          <p:nvPr/>
        </p:nvSpPr>
        <p:spPr>
          <a:xfrm>
            <a:off x="957858" y="4129683"/>
            <a:ext cx="15240" cy="2386727"/>
          </a:xfrm>
          <a:prstGeom prst="rect">
            <a:avLst/>
          </a:prstGeom>
          <a:solidFill>
            <a:srgbClr val="1B1B27"/>
          </a:solidFill>
          <a:ln/>
        </p:spPr>
      </p:sp>
      <p:sp>
        <p:nvSpPr>
          <p:cNvPr id="24" name="Shape 22"/>
          <p:cNvSpPr/>
          <p:nvPr/>
        </p:nvSpPr>
        <p:spPr>
          <a:xfrm>
            <a:off x="5191006" y="2051447"/>
            <a:ext cx="4248388" cy="4718328"/>
          </a:xfrm>
          <a:prstGeom prst="roundRect">
            <a:avLst>
              <a:gd name="adj" fmla="val 1472"/>
            </a:avLst>
          </a:prstGeom>
          <a:solidFill>
            <a:srgbClr val="FFFFFF">
              <a:alpha val="95000"/>
            </a:srgbClr>
          </a:solidFill>
          <a:ln w="15240">
            <a:solidFill>
              <a:srgbClr val="C7C7D0"/>
            </a:solidFill>
            <a:prstDash val="solid"/>
          </a:ln>
        </p:spPr>
      </p:sp>
      <p:sp>
        <p:nvSpPr>
          <p:cNvPr id="25" name="Shape 23"/>
          <p:cNvSpPr/>
          <p:nvPr/>
        </p:nvSpPr>
        <p:spPr>
          <a:xfrm>
            <a:off x="5206246" y="2066687"/>
            <a:ext cx="4217908" cy="148828"/>
          </a:xfrm>
          <a:prstGeom prst="roundRect">
            <a:avLst>
              <a:gd name="adj" fmla="val 29720"/>
            </a:avLst>
          </a:prstGeom>
          <a:solidFill>
            <a:srgbClr val="E1E1EA"/>
          </a:solidFill>
          <a:ln/>
        </p:spPr>
      </p:sp>
      <p:sp>
        <p:nvSpPr>
          <p:cNvPr id="26" name="Text 24"/>
          <p:cNvSpPr/>
          <p:nvPr/>
        </p:nvSpPr>
        <p:spPr>
          <a:xfrm>
            <a:off x="5355074" y="2364343"/>
            <a:ext cx="2616875" cy="278963"/>
          </a:xfrm>
          <a:prstGeom prst="rect">
            <a:avLst/>
          </a:prstGeom>
          <a:noFill/>
          <a:ln/>
        </p:spPr>
        <p:txBody>
          <a:bodyPr wrap="none" lIns="0" tIns="0" rIns="0" bIns="0" rtlCol="0" anchor="t"/>
          <a:lstStyle/>
          <a:p>
            <a:pPr algn="l" indent="0" marL="0">
              <a:lnSpc>
                <a:spcPts val="2150"/>
              </a:lnSpc>
              <a:buNone/>
            </a:pPr>
            <a:r>
              <a:rPr lang="en-US" sz="1750" dirty="0">
                <a:solidFill>
                  <a:srgbClr val="3C3939"/>
                </a:solidFill>
                <a:latin typeface="Raleway" pitchFamily="34" charset="0"/>
                <a:ea typeface="Raleway" pitchFamily="34" charset="-122"/>
                <a:cs typeface="Raleway" pitchFamily="34" charset="-120"/>
              </a:rPr>
              <a:t>B-деңгей: Түсіну (2 балл)</a:t>
            </a:r>
            <a:endParaRPr lang="en-US" sz="1750" dirty="0"/>
          </a:p>
        </p:txBody>
      </p:sp>
      <p:sp>
        <p:nvSpPr>
          <p:cNvPr id="27" name="Text 25"/>
          <p:cNvSpPr/>
          <p:nvPr/>
        </p:nvSpPr>
        <p:spPr>
          <a:xfrm>
            <a:off x="5355074" y="2702838"/>
            <a:ext cx="3660815" cy="232529"/>
          </a:xfrm>
          <a:prstGeom prst="rect">
            <a:avLst/>
          </a:prstGeom>
          <a:noFill/>
          <a:ln/>
        </p:spPr>
        <p:txBody>
          <a:bodyPr wrap="none" lIns="0" tIns="0" rIns="0" bIns="0" rtlCol="0" anchor="t"/>
          <a:lstStyle/>
          <a:p>
            <a:pPr algn="l" indent="0" marL="0">
              <a:lnSpc>
                <a:spcPts val="1800"/>
              </a:lnSpc>
              <a:buNone/>
            </a:pPr>
            <a:r>
              <a:rPr lang="en-US" sz="1450" dirty="0">
                <a:solidFill>
                  <a:srgbClr val="3C3939"/>
                </a:solidFill>
                <a:latin typeface="Raleway" pitchFamily="34" charset="0"/>
                <a:ea typeface="Raleway" pitchFamily="34" charset="-122"/>
                <a:cs typeface="Raleway" pitchFamily="34" charset="-120"/>
              </a:rPr>
              <a:t>Функционалдық сауаттылық тапсырмасы</a:t>
            </a:r>
            <a:endParaRPr lang="en-US" sz="1450" dirty="0"/>
          </a:p>
        </p:txBody>
      </p:sp>
      <p:sp>
        <p:nvSpPr>
          <p:cNvPr id="28" name="Text 26"/>
          <p:cNvSpPr/>
          <p:nvPr/>
        </p:nvSpPr>
        <p:spPr>
          <a:xfrm>
            <a:off x="5578316" y="3102769"/>
            <a:ext cx="3697010" cy="476250"/>
          </a:xfrm>
          <a:prstGeom prst="rect">
            <a:avLst/>
          </a:prstGeom>
          <a:noFill/>
          <a:ln/>
        </p:spPr>
        <p:txBody>
          <a:bodyPr wrap="square" lIns="0" tIns="0" rIns="0" bIns="0" rtlCol="0" anchor="t"/>
          <a:lstStyle/>
          <a:p>
            <a:pPr algn="l" indent="0" marL="0">
              <a:lnSpc>
                <a:spcPts val="1850"/>
              </a:lnSpc>
              <a:buNone/>
            </a:pPr>
            <a:r>
              <a:rPr lang="en-US" sz="1150" b="1" dirty="0">
                <a:solidFill>
                  <a:srgbClr val="3C3939"/>
                </a:solidFill>
                <a:latin typeface="Roboto" pitchFamily="34" charset="0"/>
                <a:ea typeface="Roboto" pitchFamily="34" charset="-122"/>
                <a:cs typeface="Roboto" pitchFamily="34" charset="-120"/>
              </a:rPr>
              <a:t>Жағдай:</a:t>
            </a:r>
            <a:pPr algn="l" indent="0" marL="0">
              <a:lnSpc>
                <a:spcPts val="1850"/>
              </a:lnSpc>
              <a:buNone/>
            </a:pPr>
            <a:r>
              <a:rPr lang="en-US" sz="1150" dirty="0">
                <a:solidFill>
                  <a:srgbClr val="3C3939"/>
                </a:solidFill>
                <a:latin typeface="Roboto" pitchFamily="34" charset="0"/>
                <a:ea typeface="Roboto" pitchFamily="34" charset="-122"/>
                <a:cs typeface="Roboto" pitchFamily="34" charset="-120"/>
              </a:rPr>
              <a:t> Қыста жол мұз болып қалды. Жол қызметкерлері мұздың үстіне құм сеуіп жүр.</a:t>
            </a:r>
            <a:endParaRPr lang="en-US" sz="1150" dirty="0"/>
          </a:p>
        </p:txBody>
      </p:sp>
      <p:sp>
        <p:nvSpPr>
          <p:cNvPr id="29" name="Shape 27"/>
          <p:cNvSpPr/>
          <p:nvPr/>
        </p:nvSpPr>
        <p:spPr>
          <a:xfrm>
            <a:off x="5355074" y="3102769"/>
            <a:ext cx="15240" cy="476250"/>
          </a:xfrm>
          <a:prstGeom prst="rect">
            <a:avLst/>
          </a:prstGeom>
          <a:solidFill>
            <a:srgbClr val="1B1B27"/>
          </a:solidFill>
          <a:ln/>
        </p:spPr>
      </p:sp>
      <p:sp>
        <p:nvSpPr>
          <p:cNvPr id="30" name="Text 28"/>
          <p:cNvSpPr/>
          <p:nvPr/>
        </p:nvSpPr>
        <p:spPr>
          <a:xfrm>
            <a:off x="5355074" y="3746421"/>
            <a:ext cx="3920252" cy="238125"/>
          </a:xfrm>
          <a:prstGeom prst="rect">
            <a:avLst/>
          </a:prstGeom>
          <a:noFill/>
          <a:ln/>
        </p:spPr>
        <p:txBody>
          <a:bodyPr wrap="none" lIns="0" tIns="0" rIns="0" bIns="0" rtlCol="0" anchor="t"/>
          <a:lstStyle/>
          <a:p>
            <a:pPr algn="l" indent="0" marL="0">
              <a:lnSpc>
                <a:spcPts val="1850"/>
              </a:lnSpc>
              <a:buNone/>
            </a:pPr>
            <a:r>
              <a:rPr lang="en-US" sz="1150" b="1" dirty="0">
                <a:solidFill>
                  <a:srgbClr val="3C3939"/>
                </a:solidFill>
                <a:latin typeface="Roboto" pitchFamily="34" charset="0"/>
                <a:ea typeface="Roboto" pitchFamily="34" charset="-122"/>
                <a:cs typeface="Roboto" pitchFamily="34" charset="-120"/>
              </a:rPr>
              <a:t>Сұрақтар:</a:t>
            </a:r>
            <a:endParaRPr lang="en-US" sz="1150" dirty="0"/>
          </a:p>
        </p:txBody>
      </p:sp>
      <p:sp>
        <p:nvSpPr>
          <p:cNvPr id="31" name="Text 29"/>
          <p:cNvSpPr/>
          <p:nvPr/>
        </p:nvSpPr>
        <p:spPr>
          <a:xfrm>
            <a:off x="5355074" y="4073843"/>
            <a:ext cx="3920252" cy="238125"/>
          </a:xfrm>
          <a:prstGeom prst="rect">
            <a:avLst/>
          </a:prstGeom>
          <a:noFill/>
          <a:ln/>
        </p:spPr>
        <p:txBody>
          <a:bodyPr wrap="none" lIns="0" tIns="0" rIns="0" bIns="0" rtlCol="0" anchor="t"/>
          <a:lstStyle/>
          <a:p>
            <a:pPr algn="l" marL="342900" indent="-342900">
              <a:lnSpc>
                <a:spcPts val="1850"/>
              </a:lnSpc>
              <a:buSzPct val="100000"/>
              <a:buFont typeface="+mj-lt"/>
              <a:buAutoNum type="arabicPeriod" startAt="1"/>
            </a:pPr>
            <a:r>
              <a:rPr lang="en-US" sz="1150" dirty="0">
                <a:solidFill>
                  <a:srgbClr val="3C3939"/>
                </a:solidFill>
                <a:latin typeface="Roboto" pitchFamily="34" charset="0"/>
                <a:ea typeface="Roboto" pitchFamily="34" charset="-122"/>
                <a:cs typeface="Roboto" pitchFamily="34" charset="-120"/>
              </a:rPr>
              <a:t>Неліктен құм себіледі? (Үйкелісті арттыру/азайту)</a:t>
            </a:r>
            <a:endParaRPr lang="en-US" sz="1150" dirty="0"/>
          </a:p>
        </p:txBody>
      </p:sp>
      <p:sp>
        <p:nvSpPr>
          <p:cNvPr id="32" name="Text 30"/>
          <p:cNvSpPr/>
          <p:nvPr/>
        </p:nvSpPr>
        <p:spPr>
          <a:xfrm>
            <a:off x="5355074" y="4363998"/>
            <a:ext cx="3920252" cy="238125"/>
          </a:xfrm>
          <a:prstGeom prst="rect">
            <a:avLst/>
          </a:prstGeom>
          <a:noFill/>
          <a:ln/>
        </p:spPr>
        <p:txBody>
          <a:bodyPr wrap="none" lIns="0" tIns="0" rIns="0" bIns="0" rtlCol="0" anchor="t"/>
          <a:lstStyle/>
          <a:p>
            <a:pPr algn="l" marL="342900" indent="-342900">
              <a:lnSpc>
                <a:spcPts val="1850"/>
              </a:lnSpc>
              <a:buSzPct val="100000"/>
              <a:buFont typeface="+mj-lt"/>
              <a:buAutoNum type="arabicPeriod" startAt="2"/>
            </a:pPr>
            <a:r>
              <a:rPr lang="en-US" sz="1150" dirty="0">
                <a:solidFill>
                  <a:srgbClr val="3C3939"/>
                </a:solidFill>
                <a:latin typeface="Roboto" pitchFamily="34" charset="0"/>
                <a:ea typeface="Roboto" pitchFamily="34" charset="-122"/>
                <a:cs typeface="Roboto" pitchFamily="34" charset="-120"/>
              </a:rPr>
              <a:t>Бұл қай үйкеліс түріне әсер етеді?</a:t>
            </a:r>
            <a:endParaRPr lang="en-US" sz="1150" dirty="0"/>
          </a:p>
        </p:txBody>
      </p:sp>
      <p:sp>
        <p:nvSpPr>
          <p:cNvPr id="33" name="Text 31"/>
          <p:cNvSpPr/>
          <p:nvPr/>
        </p:nvSpPr>
        <p:spPr>
          <a:xfrm>
            <a:off x="5355074" y="4654153"/>
            <a:ext cx="3920252" cy="476250"/>
          </a:xfrm>
          <a:prstGeom prst="rect">
            <a:avLst/>
          </a:prstGeom>
          <a:noFill/>
          <a:ln/>
        </p:spPr>
        <p:txBody>
          <a:bodyPr wrap="square" lIns="0" tIns="0" rIns="0" bIns="0" rtlCol="0" anchor="t"/>
          <a:lstStyle/>
          <a:p>
            <a:pPr algn="l" marL="342900" indent="-342900">
              <a:lnSpc>
                <a:spcPts val="1850"/>
              </a:lnSpc>
              <a:buSzPct val="100000"/>
              <a:buFont typeface="+mj-lt"/>
              <a:buAutoNum type="arabicPeriod" startAt="3"/>
            </a:pPr>
            <a:r>
              <a:rPr lang="en-US" sz="1150" dirty="0">
                <a:solidFill>
                  <a:srgbClr val="3C3939"/>
                </a:solidFill>
                <a:latin typeface="Roboto" pitchFamily="34" charset="0"/>
                <a:ea typeface="Roboto" pitchFamily="34" charset="-122"/>
                <a:cs typeface="Roboto" pitchFamily="34" charset="-120"/>
              </a:rPr>
              <a:t>Қай мамандықтардың қауіпсіздігі үшін бұл маңызды? (Кемінде 3 мамандық атаңыз)</a:t>
            </a:r>
            <a:endParaRPr lang="en-US" sz="1150" dirty="0"/>
          </a:p>
        </p:txBody>
      </p:sp>
      <p:sp>
        <p:nvSpPr>
          <p:cNvPr id="34" name="Text 32"/>
          <p:cNvSpPr/>
          <p:nvPr/>
        </p:nvSpPr>
        <p:spPr>
          <a:xfrm>
            <a:off x="5355074" y="5219700"/>
            <a:ext cx="3920252" cy="476250"/>
          </a:xfrm>
          <a:prstGeom prst="rect">
            <a:avLst/>
          </a:prstGeom>
          <a:noFill/>
          <a:ln/>
        </p:spPr>
        <p:txBody>
          <a:bodyPr wrap="square" lIns="0" tIns="0" rIns="0" bIns="0" rtlCol="0" anchor="t"/>
          <a:lstStyle/>
          <a:p>
            <a:pPr algn="l" indent="0" marL="0">
              <a:lnSpc>
                <a:spcPts val="1850"/>
              </a:lnSpc>
              <a:buNone/>
            </a:pPr>
            <a:r>
              <a:rPr lang="en-US" sz="1150" b="1" dirty="0">
                <a:solidFill>
                  <a:srgbClr val="3C3939"/>
                </a:solidFill>
                <a:latin typeface="Roboto" pitchFamily="34" charset="0"/>
                <a:ea typeface="Roboto" pitchFamily="34" charset="-122"/>
                <a:cs typeface="Roboto" pitchFamily="34" charset="-120"/>
              </a:rPr>
              <a:t>Бағалау:</a:t>
            </a:r>
            <a:pPr algn="l" indent="0" marL="0">
              <a:lnSpc>
                <a:spcPts val="1850"/>
              </a:lnSpc>
              <a:buNone/>
            </a:pPr>
            <a:r>
              <a:rPr lang="en-US" sz="1150" dirty="0">
                <a:solidFill>
                  <a:srgbClr val="3C3939"/>
                </a:solidFill>
                <a:latin typeface="Roboto" pitchFamily="34" charset="0"/>
                <a:ea typeface="Roboto" pitchFamily="34" charset="-122"/>
                <a:cs typeface="Roboto" pitchFamily="34" charset="-120"/>
              </a:rPr>
              <a:t> Үйкелісті арттыру себебін түсіндіру – 1б | Үйкеліс түрі мен мамандықтарды көрсету – 1б</a:t>
            </a:r>
            <a:endParaRPr lang="en-US" sz="1150" dirty="0"/>
          </a:p>
        </p:txBody>
      </p:sp>
      <p:sp>
        <p:nvSpPr>
          <p:cNvPr id="35" name="Shape 33"/>
          <p:cNvSpPr/>
          <p:nvPr/>
        </p:nvSpPr>
        <p:spPr>
          <a:xfrm>
            <a:off x="9588222" y="1828205"/>
            <a:ext cx="4248388" cy="4941570"/>
          </a:xfrm>
          <a:prstGeom prst="roundRect">
            <a:avLst>
              <a:gd name="adj" fmla="val 1472"/>
            </a:avLst>
          </a:prstGeom>
          <a:solidFill>
            <a:srgbClr val="FFFFFF">
              <a:alpha val="95000"/>
            </a:srgbClr>
          </a:solidFill>
          <a:ln w="15240">
            <a:solidFill>
              <a:srgbClr val="C7C7D0"/>
            </a:solidFill>
            <a:prstDash val="solid"/>
          </a:ln>
        </p:spPr>
      </p:sp>
      <p:sp>
        <p:nvSpPr>
          <p:cNvPr id="36" name="Shape 34"/>
          <p:cNvSpPr/>
          <p:nvPr/>
        </p:nvSpPr>
        <p:spPr>
          <a:xfrm>
            <a:off x="9603462" y="1843445"/>
            <a:ext cx="4217908" cy="148828"/>
          </a:xfrm>
          <a:prstGeom prst="roundRect">
            <a:avLst>
              <a:gd name="adj" fmla="val 29720"/>
            </a:avLst>
          </a:prstGeom>
          <a:solidFill>
            <a:srgbClr val="E1E1EA"/>
          </a:solidFill>
          <a:ln/>
        </p:spPr>
      </p:sp>
      <p:sp>
        <p:nvSpPr>
          <p:cNvPr id="37" name="Text 35"/>
          <p:cNvSpPr/>
          <p:nvPr/>
        </p:nvSpPr>
        <p:spPr>
          <a:xfrm>
            <a:off x="9752290" y="2141101"/>
            <a:ext cx="2676287" cy="278963"/>
          </a:xfrm>
          <a:prstGeom prst="rect">
            <a:avLst/>
          </a:prstGeom>
          <a:noFill/>
          <a:ln/>
        </p:spPr>
        <p:txBody>
          <a:bodyPr wrap="none" lIns="0" tIns="0" rIns="0" bIns="0" rtlCol="0" anchor="t"/>
          <a:lstStyle/>
          <a:p>
            <a:pPr algn="l" indent="0" marL="0">
              <a:lnSpc>
                <a:spcPts val="2150"/>
              </a:lnSpc>
              <a:buNone/>
            </a:pPr>
            <a:r>
              <a:rPr lang="en-US" sz="1750" dirty="0">
                <a:solidFill>
                  <a:srgbClr val="3C3939"/>
                </a:solidFill>
                <a:latin typeface="Raleway" pitchFamily="34" charset="0"/>
                <a:ea typeface="Raleway" pitchFamily="34" charset="-122"/>
                <a:cs typeface="Raleway" pitchFamily="34" charset="-120"/>
              </a:rPr>
              <a:t>C-деңгей: Талдау (2 балл)</a:t>
            </a:r>
            <a:endParaRPr lang="en-US" sz="1750" dirty="0"/>
          </a:p>
        </p:txBody>
      </p:sp>
      <p:sp>
        <p:nvSpPr>
          <p:cNvPr id="38" name="Text 36"/>
          <p:cNvSpPr/>
          <p:nvPr/>
        </p:nvSpPr>
        <p:spPr>
          <a:xfrm>
            <a:off x="9752290" y="2479596"/>
            <a:ext cx="2433042" cy="232529"/>
          </a:xfrm>
          <a:prstGeom prst="rect">
            <a:avLst/>
          </a:prstGeom>
          <a:noFill/>
          <a:ln/>
        </p:spPr>
        <p:txBody>
          <a:bodyPr wrap="none" lIns="0" tIns="0" rIns="0" bIns="0" rtlCol="0" anchor="t"/>
          <a:lstStyle/>
          <a:p>
            <a:pPr algn="l" indent="0" marL="0">
              <a:lnSpc>
                <a:spcPts val="1800"/>
              </a:lnSpc>
              <a:buNone/>
            </a:pPr>
            <a:r>
              <a:rPr lang="en-US" sz="1450" dirty="0">
                <a:solidFill>
                  <a:srgbClr val="3C3939"/>
                </a:solidFill>
                <a:latin typeface="Raleway" pitchFamily="34" charset="0"/>
                <a:ea typeface="Raleway" pitchFamily="34" charset="-122"/>
                <a:cs typeface="Raleway" pitchFamily="34" charset="-120"/>
              </a:rPr>
              <a:t>Ойлау және түсіндіру есебі</a:t>
            </a:r>
            <a:endParaRPr lang="en-US" sz="1450" dirty="0"/>
          </a:p>
        </p:txBody>
      </p:sp>
      <p:sp>
        <p:nvSpPr>
          <p:cNvPr id="39" name="Text 37"/>
          <p:cNvSpPr/>
          <p:nvPr/>
        </p:nvSpPr>
        <p:spPr>
          <a:xfrm>
            <a:off x="9975533" y="2879527"/>
            <a:ext cx="3697010" cy="476250"/>
          </a:xfrm>
          <a:prstGeom prst="rect">
            <a:avLst/>
          </a:prstGeom>
          <a:noFill/>
          <a:ln/>
        </p:spPr>
        <p:txBody>
          <a:bodyPr wrap="square" lIns="0" tIns="0" rIns="0" bIns="0" rtlCol="0" anchor="t"/>
          <a:lstStyle/>
          <a:p>
            <a:pPr algn="l" indent="0" marL="0">
              <a:lnSpc>
                <a:spcPts val="1850"/>
              </a:lnSpc>
              <a:buNone/>
            </a:pPr>
            <a:r>
              <a:rPr lang="en-US" sz="1150" b="1" dirty="0">
                <a:solidFill>
                  <a:srgbClr val="3C3939"/>
                </a:solidFill>
                <a:latin typeface="Roboto" pitchFamily="34" charset="0"/>
                <a:ea typeface="Roboto" pitchFamily="34" charset="-122"/>
                <a:cs typeface="Roboto" pitchFamily="34" charset="-120"/>
              </a:rPr>
              <a:t>Жағдай:</a:t>
            </a:r>
            <a:pPr algn="l" indent="0" marL="0">
              <a:lnSpc>
                <a:spcPts val="1850"/>
              </a:lnSpc>
              <a:buNone/>
            </a:pPr>
            <a:r>
              <a:rPr lang="en-US" sz="1150" dirty="0">
                <a:solidFill>
                  <a:srgbClr val="3C3939"/>
                </a:solidFill>
                <a:latin typeface="Roboto" pitchFamily="34" charset="0"/>
                <a:ea typeface="Roboto" pitchFamily="34" charset="-122"/>
                <a:cs typeface="Roboto" pitchFamily="34" charset="-120"/>
              </a:rPr>
              <a:t> Автокөлік тежегішті басқаннан кейін бірден тоқтамайды. Кейде бірнеше метр жүреді.</a:t>
            </a:r>
            <a:endParaRPr lang="en-US" sz="1150" dirty="0"/>
          </a:p>
        </p:txBody>
      </p:sp>
      <p:sp>
        <p:nvSpPr>
          <p:cNvPr id="40" name="Shape 38"/>
          <p:cNvSpPr/>
          <p:nvPr/>
        </p:nvSpPr>
        <p:spPr>
          <a:xfrm>
            <a:off x="9752290" y="2879527"/>
            <a:ext cx="15240" cy="476250"/>
          </a:xfrm>
          <a:prstGeom prst="rect">
            <a:avLst/>
          </a:prstGeom>
          <a:solidFill>
            <a:srgbClr val="1B1B27"/>
          </a:solidFill>
          <a:ln/>
        </p:spPr>
      </p:sp>
      <p:sp>
        <p:nvSpPr>
          <p:cNvPr id="41" name="Text 39"/>
          <p:cNvSpPr/>
          <p:nvPr/>
        </p:nvSpPr>
        <p:spPr>
          <a:xfrm>
            <a:off x="9752290" y="3523178"/>
            <a:ext cx="3920252" cy="238125"/>
          </a:xfrm>
          <a:prstGeom prst="rect">
            <a:avLst/>
          </a:prstGeom>
          <a:noFill/>
          <a:ln/>
        </p:spPr>
        <p:txBody>
          <a:bodyPr wrap="none" lIns="0" tIns="0" rIns="0" bIns="0" rtlCol="0" anchor="t"/>
          <a:lstStyle/>
          <a:p>
            <a:pPr algn="l" indent="0" marL="0">
              <a:lnSpc>
                <a:spcPts val="1850"/>
              </a:lnSpc>
              <a:buNone/>
            </a:pPr>
            <a:r>
              <a:rPr lang="en-US" sz="1150" b="1" dirty="0">
                <a:solidFill>
                  <a:srgbClr val="3C3939"/>
                </a:solidFill>
                <a:latin typeface="Roboto" pitchFamily="34" charset="0"/>
                <a:ea typeface="Roboto" pitchFamily="34" charset="-122"/>
                <a:cs typeface="Roboto" pitchFamily="34" charset="-120"/>
              </a:rPr>
              <a:t>Сұрақтар:</a:t>
            </a:r>
            <a:endParaRPr lang="en-US" sz="1150" dirty="0"/>
          </a:p>
        </p:txBody>
      </p:sp>
      <p:sp>
        <p:nvSpPr>
          <p:cNvPr id="42" name="Text 40"/>
          <p:cNvSpPr/>
          <p:nvPr/>
        </p:nvSpPr>
        <p:spPr>
          <a:xfrm>
            <a:off x="9752290" y="3850600"/>
            <a:ext cx="3920252" cy="476250"/>
          </a:xfrm>
          <a:prstGeom prst="rect">
            <a:avLst/>
          </a:prstGeom>
          <a:noFill/>
          <a:ln/>
        </p:spPr>
        <p:txBody>
          <a:bodyPr wrap="square" lIns="0" tIns="0" rIns="0" bIns="0" rtlCol="0" anchor="t"/>
          <a:lstStyle/>
          <a:p>
            <a:pPr algn="l" marL="342900" indent="-342900">
              <a:lnSpc>
                <a:spcPts val="1850"/>
              </a:lnSpc>
              <a:buSzPct val="100000"/>
              <a:buFont typeface="+mj-lt"/>
              <a:buAutoNum type="arabicPeriod" startAt="1"/>
            </a:pPr>
            <a:r>
              <a:rPr lang="en-US" sz="1150" dirty="0">
                <a:solidFill>
                  <a:srgbClr val="3C3939"/>
                </a:solidFill>
                <a:latin typeface="Roboto" pitchFamily="34" charset="0"/>
                <a:ea typeface="Roboto" pitchFamily="34" charset="-122"/>
                <a:cs typeface="Roboto" pitchFamily="34" charset="-120"/>
              </a:rPr>
              <a:t>Бұл құбылысты </a:t>
            </a:r>
            <a:pPr algn="l" indent="0" marL="0">
              <a:lnSpc>
                <a:spcPts val="1850"/>
              </a:lnSpc>
              <a:buNone/>
            </a:pPr>
            <a:r>
              <a:rPr lang="en-US" sz="1150" b="1" dirty="0">
                <a:solidFill>
                  <a:srgbClr val="3C3939"/>
                </a:solidFill>
                <a:latin typeface="Roboto" pitchFamily="34" charset="0"/>
                <a:ea typeface="Roboto" pitchFamily="34" charset="-122"/>
                <a:cs typeface="Roboto" pitchFamily="34" charset="-120"/>
              </a:rPr>
              <a:t>үйкеліс</a:t>
            </a:r>
            <a:pPr algn="l" indent="0" marL="0">
              <a:lnSpc>
                <a:spcPts val="1850"/>
              </a:lnSpc>
              <a:buNone/>
            </a:pPr>
            <a:r>
              <a:rPr lang="en-US" sz="1150" dirty="0">
                <a:solidFill>
                  <a:srgbClr val="3C3939"/>
                </a:solidFill>
                <a:latin typeface="Roboto" pitchFamily="34" charset="0"/>
                <a:ea typeface="Roboto" pitchFamily="34" charset="-122"/>
                <a:cs typeface="Roboto" pitchFamily="34" charset="-120"/>
              </a:rPr>
              <a:t> және </a:t>
            </a:r>
            <a:pPr algn="l" indent="0" marL="0">
              <a:lnSpc>
                <a:spcPts val="1850"/>
              </a:lnSpc>
              <a:buNone/>
            </a:pPr>
            <a:r>
              <a:rPr lang="en-US" sz="1150" b="1" dirty="0">
                <a:solidFill>
                  <a:srgbClr val="3C3939"/>
                </a:solidFill>
                <a:latin typeface="Roboto" pitchFamily="34" charset="0"/>
                <a:ea typeface="Roboto" pitchFamily="34" charset="-122"/>
                <a:cs typeface="Roboto" pitchFamily="34" charset="-120"/>
              </a:rPr>
              <a:t>инерция</a:t>
            </a:r>
            <a:pPr algn="l" indent="0" marL="0">
              <a:lnSpc>
                <a:spcPts val="1850"/>
              </a:lnSpc>
              <a:buNone/>
            </a:pPr>
            <a:r>
              <a:rPr lang="en-US" sz="1150" dirty="0">
                <a:solidFill>
                  <a:srgbClr val="3C3939"/>
                </a:solidFill>
                <a:latin typeface="Roboto" pitchFamily="34" charset="0"/>
                <a:ea typeface="Roboto" pitchFamily="34" charset="-122"/>
                <a:cs typeface="Roboto" pitchFamily="34" charset="-120"/>
              </a:rPr>
              <a:t> ұғымдары арқылы толық түсіндіріңіз</a:t>
            </a:r>
            <a:endParaRPr lang="en-US" sz="1150" dirty="0"/>
          </a:p>
        </p:txBody>
      </p:sp>
      <p:sp>
        <p:nvSpPr>
          <p:cNvPr id="43" name="Text 41"/>
          <p:cNvSpPr/>
          <p:nvPr/>
        </p:nvSpPr>
        <p:spPr>
          <a:xfrm>
            <a:off x="9752290" y="4378881"/>
            <a:ext cx="3920252" cy="476250"/>
          </a:xfrm>
          <a:prstGeom prst="rect">
            <a:avLst/>
          </a:prstGeom>
          <a:noFill/>
          <a:ln/>
        </p:spPr>
        <p:txBody>
          <a:bodyPr wrap="square" lIns="0" tIns="0" rIns="0" bIns="0" rtlCol="0" anchor="t"/>
          <a:lstStyle/>
          <a:p>
            <a:pPr algn="l" marL="342900" indent="-342900">
              <a:lnSpc>
                <a:spcPts val="1850"/>
              </a:lnSpc>
              <a:buSzPct val="100000"/>
              <a:buFont typeface="+mj-lt"/>
              <a:buAutoNum type="arabicPeriod" startAt="2"/>
            </a:pPr>
            <a:r>
              <a:rPr lang="en-US" sz="1150" dirty="0">
                <a:solidFill>
                  <a:srgbClr val="3C3939"/>
                </a:solidFill>
                <a:latin typeface="Roboto" pitchFamily="34" charset="0"/>
                <a:ea typeface="Roboto" pitchFamily="34" charset="-122"/>
                <a:cs typeface="Roboto" pitchFamily="34" charset="-120"/>
              </a:rPr>
              <a:t>Үйкеліс жеткіліксіз болса (мысалы, мұз бетінде) қандай қауіп туады?</a:t>
            </a:r>
            <a:endParaRPr lang="en-US" sz="1150" dirty="0"/>
          </a:p>
        </p:txBody>
      </p:sp>
      <p:sp>
        <p:nvSpPr>
          <p:cNvPr id="44" name="Text 42"/>
          <p:cNvSpPr/>
          <p:nvPr/>
        </p:nvSpPr>
        <p:spPr>
          <a:xfrm>
            <a:off x="9752290" y="4907161"/>
            <a:ext cx="3920252" cy="952500"/>
          </a:xfrm>
          <a:prstGeom prst="rect">
            <a:avLst/>
          </a:prstGeom>
          <a:noFill/>
          <a:ln/>
        </p:spPr>
        <p:txBody>
          <a:bodyPr wrap="square" lIns="0" tIns="0" rIns="0" bIns="0" rtlCol="0" anchor="t"/>
          <a:lstStyle/>
          <a:p>
            <a:pPr algn="l" marL="342900" indent="-342900">
              <a:lnSpc>
                <a:spcPts val="1850"/>
              </a:lnSpc>
              <a:buSzPct val="100000"/>
              <a:buFont typeface="+mj-lt"/>
              <a:buAutoNum type="arabicPeriod" startAt="3"/>
            </a:pPr>
            <a:r>
              <a:rPr lang="en-US" sz="1150" dirty="0">
                <a:solidFill>
                  <a:srgbClr val="3C3939"/>
                </a:solidFill>
                <a:latin typeface="Roboto" pitchFamily="34" charset="0"/>
                <a:ea typeface="Roboto" pitchFamily="34" charset="-122"/>
                <a:cs typeface="Roboto" pitchFamily="34" charset="-120"/>
              </a:rPr>
              <a:t>Бұл қауіпті азайту үшін қандай техникалық шаралар қолданылады? (Кемінде 3 шараны атаңыз: қысқы шина, жол жабыны, протектор, ABS жүйесі т.б.)</a:t>
            </a:r>
            <a:endParaRPr lang="en-US" sz="1150" dirty="0"/>
          </a:p>
        </p:txBody>
      </p:sp>
      <p:sp>
        <p:nvSpPr>
          <p:cNvPr id="45" name="Text 43"/>
          <p:cNvSpPr/>
          <p:nvPr/>
        </p:nvSpPr>
        <p:spPr>
          <a:xfrm>
            <a:off x="9752290" y="5948958"/>
            <a:ext cx="3920252" cy="476250"/>
          </a:xfrm>
          <a:prstGeom prst="rect">
            <a:avLst/>
          </a:prstGeom>
          <a:noFill/>
          <a:ln/>
        </p:spPr>
        <p:txBody>
          <a:bodyPr wrap="square" lIns="0" tIns="0" rIns="0" bIns="0" rtlCol="0" anchor="t"/>
          <a:lstStyle/>
          <a:p>
            <a:pPr algn="l" indent="0" marL="0">
              <a:lnSpc>
                <a:spcPts val="1850"/>
              </a:lnSpc>
              <a:buNone/>
            </a:pPr>
            <a:r>
              <a:rPr lang="en-US" sz="1150" b="1" dirty="0">
                <a:solidFill>
                  <a:srgbClr val="3C3939"/>
                </a:solidFill>
                <a:latin typeface="Roboto" pitchFamily="34" charset="0"/>
                <a:ea typeface="Roboto" pitchFamily="34" charset="-122"/>
                <a:cs typeface="Roboto" pitchFamily="34" charset="-120"/>
              </a:rPr>
              <a:t>Бағалау:</a:t>
            </a:r>
            <a:pPr algn="l" indent="0" marL="0">
              <a:lnSpc>
                <a:spcPts val="1850"/>
              </a:lnSpc>
              <a:buNone/>
            </a:pPr>
            <a:r>
              <a:rPr lang="en-US" sz="1150" dirty="0">
                <a:solidFill>
                  <a:srgbClr val="3C3939"/>
                </a:solidFill>
                <a:latin typeface="Roboto" pitchFamily="34" charset="0"/>
                <a:ea typeface="Roboto" pitchFamily="34" charset="-122"/>
                <a:cs typeface="Roboto" pitchFamily="34" charset="-120"/>
              </a:rPr>
              <a:t> Құбылысты түсіндіру – 1б | Қауіптер мен шараларды көрсету – 1б</a:t>
            </a:r>
            <a:endParaRPr lang="en-US" sz="1150" dirty="0"/>
          </a:p>
        </p:txBody>
      </p:sp>
      <p:sp>
        <p:nvSpPr>
          <p:cNvPr id="46" name="Shape 44"/>
          <p:cNvSpPr/>
          <p:nvPr/>
        </p:nvSpPr>
        <p:spPr>
          <a:xfrm>
            <a:off x="793790" y="6937177"/>
            <a:ext cx="13042821" cy="632460"/>
          </a:xfrm>
          <a:prstGeom prst="roundRect">
            <a:avLst>
              <a:gd name="adj" fmla="val 9885"/>
            </a:avLst>
          </a:prstGeom>
          <a:solidFill>
            <a:srgbClr val="D2D2E0"/>
          </a:solidFill>
          <a:ln/>
        </p:spPr>
      </p:sp>
      <p:pic>
        <p:nvPicPr>
          <p:cNvPr id="47" name="Image 0" descr="preencoded.png">    </p:cNvPr>
          <p:cNvPicPr>
            <a:picLocks noChangeAspect="1"/>
          </p:cNvPicPr>
          <p:nvPr/>
        </p:nvPicPr>
        <p:blipFill>
          <a:blip r:embed="rId1"/>
          <a:stretch>
            <a:fillRect/>
          </a:stretch>
        </p:blipFill>
        <p:spPr>
          <a:xfrm>
            <a:off x="942618" y="7160538"/>
            <a:ext cx="185976" cy="148828"/>
          </a:xfrm>
          <a:prstGeom prst="rect">
            <a:avLst/>
          </a:prstGeom>
        </p:spPr>
      </p:pic>
      <p:sp>
        <p:nvSpPr>
          <p:cNvPr id="48" name="Text 45"/>
          <p:cNvSpPr/>
          <p:nvPr/>
        </p:nvSpPr>
        <p:spPr>
          <a:xfrm>
            <a:off x="1277422" y="7123152"/>
            <a:ext cx="12410361" cy="238125"/>
          </a:xfrm>
          <a:prstGeom prst="rect">
            <a:avLst/>
          </a:prstGeom>
          <a:noFill/>
          <a:ln/>
        </p:spPr>
        <p:txBody>
          <a:bodyPr wrap="none" lIns="0" tIns="0" rIns="0" bIns="0" rtlCol="0" anchor="t"/>
          <a:lstStyle/>
          <a:p>
            <a:pPr algn="l" indent="0" marL="0">
              <a:lnSpc>
                <a:spcPts val="1850"/>
              </a:lnSpc>
              <a:buNone/>
            </a:pPr>
            <a:r>
              <a:rPr lang="en-US" sz="1150" b="1" dirty="0">
                <a:solidFill>
                  <a:srgbClr val="000000"/>
                </a:solidFill>
                <a:latin typeface="Roboto" pitchFamily="34" charset="0"/>
                <a:ea typeface="Roboto" pitchFamily="34" charset="-122"/>
                <a:cs typeface="Roboto" pitchFamily="34" charset="-120"/>
              </a:rPr>
              <a:t>Жалпы бағалау:</a:t>
            </a:r>
            <a:pPr algn="l" indent="0" marL="0">
              <a:lnSpc>
                <a:spcPts val="1850"/>
              </a:lnSpc>
              <a:buNone/>
            </a:pPr>
            <a:r>
              <a:rPr lang="en-US" sz="1150" dirty="0">
                <a:solidFill>
                  <a:srgbClr val="000000"/>
                </a:solidFill>
                <a:latin typeface="Roboto" pitchFamily="34" charset="0"/>
                <a:ea typeface="Roboto" pitchFamily="34" charset="-122"/>
                <a:cs typeface="Roboto" pitchFamily="34" charset="-120"/>
              </a:rPr>
              <a:t> Барлық үш деңгей бойынша жинаған ұпайларыңызды қосыңыз. Максимум 5 балл.</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710446"/>
            <a:ext cx="6329839" cy="403146"/>
          </a:xfrm>
          <a:prstGeom prst="rect">
            <a:avLst/>
          </a:prstGeom>
          <a:noFill/>
          <a:ln/>
        </p:spPr>
        <p:txBody>
          <a:bodyPr wrap="none" lIns="0" tIns="0" rIns="0" bIns="0" rtlCol="0" anchor="t"/>
          <a:lstStyle/>
          <a:p>
            <a:pPr algn="l" indent="0" marL="0">
              <a:lnSpc>
                <a:spcPts val="3150"/>
              </a:lnSpc>
              <a:buNone/>
            </a:pPr>
            <a:r>
              <a:rPr lang="en-US" sz="2500" dirty="0">
                <a:solidFill>
                  <a:srgbClr val="1B1B27"/>
                </a:solidFill>
                <a:latin typeface="Raleway" pitchFamily="34" charset="0"/>
                <a:ea typeface="Raleway" pitchFamily="34" charset="-122"/>
                <a:cs typeface="Raleway" pitchFamily="34" charset="-120"/>
              </a:rPr>
              <a:t>Сабақты қорытындылау және рефлексия</a:t>
            </a:r>
            <a:endParaRPr lang="en-US" sz="2500" dirty="0"/>
          </a:p>
        </p:txBody>
      </p:sp>
      <p:sp>
        <p:nvSpPr>
          <p:cNvPr id="3" name="Text 1"/>
          <p:cNvSpPr/>
          <p:nvPr/>
        </p:nvSpPr>
        <p:spPr>
          <a:xfrm>
            <a:off x="793790" y="1371600"/>
            <a:ext cx="13042821" cy="206454"/>
          </a:xfrm>
          <a:prstGeom prst="rect">
            <a:avLst/>
          </a:prstGeom>
          <a:noFill/>
          <a:ln/>
        </p:spPr>
        <p:txBody>
          <a:bodyPr wrap="none" lIns="0" tIns="0" rIns="0" bIns="0" rtlCol="0" anchor="t"/>
          <a:lstStyle/>
          <a:p>
            <a:pPr algn="l" indent="0" marL="0">
              <a:lnSpc>
                <a:spcPts val="1600"/>
              </a:lnSpc>
              <a:buNone/>
            </a:pPr>
            <a:r>
              <a:rPr lang="en-US" sz="1000" dirty="0">
                <a:solidFill>
                  <a:srgbClr val="3C3939"/>
                </a:solidFill>
                <a:latin typeface="Roboto" pitchFamily="34" charset="0"/>
                <a:ea typeface="Roboto" pitchFamily="34" charset="-122"/>
                <a:cs typeface="Roboto" pitchFamily="34" charset="-120"/>
              </a:rPr>
              <a:t>Сабақтың соңында біз үйренгенімізді бекітіп, өз білімімізді бағалаймыз. Бірлік пен ынтымақтастықтың маңызын түсінеміз.</a:t>
            </a:r>
            <a:endParaRPr lang="en-US" sz="1000" dirty="0"/>
          </a:p>
        </p:txBody>
      </p:sp>
      <p:sp>
        <p:nvSpPr>
          <p:cNvPr id="4" name="Text 2"/>
          <p:cNvSpPr/>
          <p:nvPr/>
        </p:nvSpPr>
        <p:spPr>
          <a:xfrm>
            <a:off x="793790" y="1852017"/>
            <a:ext cx="2100143" cy="241816"/>
          </a:xfrm>
          <a:prstGeom prst="rect">
            <a:avLst/>
          </a:prstGeom>
          <a:noFill/>
          <a:ln/>
        </p:spPr>
        <p:txBody>
          <a:bodyPr wrap="none" lIns="0" tIns="0" rIns="0" bIns="0" rtlCol="0" anchor="t"/>
          <a:lstStyle/>
          <a:p>
            <a:pPr algn="l" indent="0" marL="0">
              <a:lnSpc>
                <a:spcPts val="1900"/>
              </a:lnSpc>
              <a:buNone/>
            </a:pPr>
            <a:r>
              <a:rPr lang="en-US" sz="1500" dirty="0">
                <a:solidFill>
                  <a:srgbClr val="1B1B27"/>
                </a:solidFill>
                <a:latin typeface="Raleway" pitchFamily="34" charset="0"/>
                <a:ea typeface="Raleway" pitchFamily="34" charset="-122"/>
                <a:cs typeface="Raleway" pitchFamily="34" charset="-120"/>
              </a:rPr>
              <a:t>Қысқа тест (3–4 минут)</a:t>
            </a:r>
            <a:endParaRPr lang="en-US" sz="1500" dirty="0"/>
          </a:p>
        </p:txBody>
      </p:sp>
      <p:sp>
        <p:nvSpPr>
          <p:cNvPr id="5" name="Shape 3"/>
          <p:cNvSpPr/>
          <p:nvPr/>
        </p:nvSpPr>
        <p:spPr>
          <a:xfrm>
            <a:off x="793790" y="2238851"/>
            <a:ext cx="290155" cy="290155"/>
          </a:xfrm>
          <a:prstGeom prst="roundRect">
            <a:avLst>
              <a:gd name="adj" fmla="val 18674"/>
            </a:avLst>
          </a:prstGeom>
          <a:solidFill>
            <a:srgbClr val="E1E1EA"/>
          </a:solidFill>
          <a:ln w="7620">
            <a:solidFill>
              <a:srgbClr val="C7C7D0"/>
            </a:solidFill>
            <a:prstDash val="solid"/>
          </a:ln>
        </p:spPr>
      </p:sp>
      <p:sp>
        <p:nvSpPr>
          <p:cNvPr id="6" name="Text 4"/>
          <p:cNvSpPr/>
          <p:nvPr/>
        </p:nvSpPr>
        <p:spPr>
          <a:xfrm>
            <a:off x="842070" y="2262961"/>
            <a:ext cx="193477" cy="241816"/>
          </a:xfrm>
          <a:prstGeom prst="rect">
            <a:avLst/>
          </a:prstGeom>
          <a:noFill/>
          <a:ln/>
        </p:spPr>
        <p:txBody>
          <a:bodyPr wrap="none" lIns="0" tIns="0" rIns="0" bIns="0" rtlCol="0" anchor="t"/>
          <a:lstStyle/>
          <a:p>
            <a:pPr algn="ctr" indent="0" marL="0">
              <a:lnSpc>
                <a:spcPts val="1500"/>
              </a:lnSpc>
              <a:buNone/>
            </a:pPr>
            <a:r>
              <a:rPr lang="en-US" sz="1500" dirty="0">
                <a:solidFill>
                  <a:srgbClr val="3C3939"/>
                </a:solidFill>
                <a:latin typeface="Raleway" pitchFamily="34" charset="0"/>
                <a:ea typeface="Raleway" pitchFamily="34" charset="-122"/>
                <a:cs typeface="Raleway" pitchFamily="34" charset="-120"/>
              </a:rPr>
              <a:t>1</a:t>
            </a:r>
            <a:endParaRPr lang="en-US" sz="1500" dirty="0"/>
          </a:p>
        </p:txBody>
      </p:sp>
      <p:sp>
        <p:nvSpPr>
          <p:cNvPr id="7" name="Text 5"/>
          <p:cNvSpPr/>
          <p:nvPr/>
        </p:nvSpPr>
        <p:spPr>
          <a:xfrm>
            <a:off x="1212890" y="2283143"/>
            <a:ext cx="2051923" cy="201454"/>
          </a:xfrm>
          <a:prstGeom prst="rect">
            <a:avLst/>
          </a:prstGeom>
          <a:noFill/>
          <a:ln/>
        </p:spPr>
        <p:txBody>
          <a:bodyPr wrap="none" lIns="0" tIns="0" rIns="0" bIns="0" rtlCol="0" anchor="t"/>
          <a:lstStyle/>
          <a:p>
            <a:pPr algn="l" indent="0" marL="0">
              <a:lnSpc>
                <a:spcPts val="1550"/>
              </a:lnSpc>
              <a:buNone/>
            </a:pPr>
            <a:r>
              <a:rPr lang="en-US" sz="1250" dirty="0">
                <a:solidFill>
                  <a:srgbClr val="3C3939"/>
                </a:solidFill>
                <a:latin typeface="Raleway" pitchFamily="34" charset="0"/>
                <a:ea typeface="Raleway" pitchFamily="34" charset="-122"/>
                <a:cs typeface="Raleway" pitchFamily="34" charset="-120"/>
              </a:rPr>
              <a:t>Үйкелістің үш түрін атаңыз</a:t>
            </a:r>
            <a:endParaRPr lang="en-US" sz="1250" dirty="0"/>
          </a:p>
        </p:txBody>
      </p:sp>
      <p:sp>
        <p:nvSpPr>
          <p:cNvPr id="8" name="Text 6"/>
          <p:cNvSpPr/>
          <p:nvPr/>
        </p:nvSpPr>
        <p:spPr>
          <a:xfrm>
            <a:off x="1212890" y="2613541"/>
            <a:ext cx="5945029" cy="206454"/>
          </a:xfrm>
          <a:prstGeom prst="rect">
            <a:avLst/>
          </a:prstGeom>
          <a:noFill/>
          <a:ln/>
        </p:spPr>
        <p:txBody>
          <a:bodyPr wrap="none" lIns="0" tIns="0" rIns="0" bIns="0" rtlCol="0" anchor="t"/>
          <a:lstStyle/>
          <a:p>
            <a:pPr algn="l" indent="0" marL="0">
              <a:lnSpc>
                <a:spcPts val="1600"/>
              </a:lnSpc>
              <a:buNone/>
            </a:pPr>
            <a:r>
              <a:rPr lang="en-US" sz="1000" dirty="0">
                <a:solidFill>
                  <a:srgbClr val="3C3939"/>
                </a:solidFill>
                <a:latin typeface="Roboto" pitchFamily="34" charset="0"/>
                <a:ea typeface="Roboto" pitchFamily="34" charset="-122"/>
                <a:cs typeface="Roboto" pitchFamily="34" charset="-120"/>
              </a:rPr>
              <a:t>Әрқайсысын қысқаша сипаттап, бір-бір мысал келтіріңіз.</a:t>
            </a:r>
            <a:endParaRPr lang="en-US" sz="1000" dirty="0"/>
          </a:p>
        </p:txBody>
      </p:sp>
      <p:sp>
        <p:nvSpPr>
          <p:cNvPr id="9" name="Shape 7"/>
          <p:cNvSpPr/>
          <p:nvPr/>
        </p:nvSpPr>
        <p:spPr>
          <a:xfrm>
            <a:off x="793790" y="3078004"/>
            <a:ext cx="290155" cy="290155"/>
          </a:xfrm>
          <a:prstGeom prst="roundRect">
            <a:avLst>
              <a:gd name="adj" fmla="val 18674"/>
            </a:avLst>
          </a:prstGeom>
          <a:solidFill>
            <a:srgbClr val="E1E1EA"/>
          </a:solidFill>
          <a:ln w="7620">
            <a:solidFill>
              <a:srgbClr val="C7C7D0"/>
            </a:solidFill>
            <a:prstDash val="solid"/>
          </a:ln>
        </p:spPr>
      </p:sp>
      <p:sp>
        <p:nvSpPr>
          <p:cNvPr id="10" name="Text 8"/>
          <p:cNvSpPr/>
          <p:nvPr/>
        </p:nvSpPr>
        <p:spPr>
          <a:xfrm>
            <a:off x="842070" y="3102114"/>
            <a:ext cx="193477" cy="241816"/>
          </a:xfrm>
          <a:prstGeom prst="rect">
            <a:avLst/>
          </a:prstGeom>
          <a:noFill/>
          <a:ln/>
        </p:spPr>
        <p:txBody>
          <a:bodyPr wrap="none" lIns="0" tIns="0" rIns="0" bIns="0" rtlCol="0" anchor="t"/>
          <a:lstStyle/>
          <a:p>
            <a:pPr algn="ctr" indent="0" marL="0">
              <a:lnSpc>
                <a:spcPts val="1500"/>
              </a:lnSpc>
              <a:buNone/>
            </a:pPr>
            <a:r>
              <a:rPr lang="en-US" sz="1500" dirty="0">
                <a:solidFill>
                  <a:srgbClr val="3C3939"/>
                </a:solidFill>
                <a:latin typeface="Raleway" pitchFamily="34" charset="0"/>
                <a:ea typeface="Raleway" pitchFamily="34" charset="-122"/>
                <a:cs typeface="Raleway" pitchFamily="34" charset="-120"/>
              </a:rPr>
              <a:t>2</a:t>
            </a:r>
            <a:endParaRPr lang="en-US" sz="1500" dirty="0"/>
          </a:p>
        </p:txBody>
      </p:sp>
      <p:sp>
        <p:nvSpPr>
          <p:cNvPr id="11" name="Text 9"/>
          <p:cNvSpPr/>
          <p:nvPr/>
        </p:nvSpPr>
        <p:spPr>
          <a:xfrm>
            <a:off x="1212890" y="3122295"/>
            <a:ext cx="4000857" cy="201454"/>
          </a:xfrm>
          <a:prstGeom prst="rect">
            <a:avLst/>
          </a:prstGeom>
          <a:noFill/>
          <a:ln/>
        </p:spPr>
        <p:txBody>
          <a:bodyPr wrap="none" lIns="0" tIns="0" rIns="0" bIns="0" rtlCol="0" anchor="t"/>
          <a:lstStyle/>
          <a:p>
            <a:pPr algn="l" indent="0" marL="0">
              <a:lnSpc>
                <a:spcPts val="1550"/>
              </a:lnSpc>
              <a:buNone/>
            </a:pPr>
            <a:r>
              <a:rPr lang="en-US" sz="1250" dirty="0">
                <a:solidFill>
                  <a:srgbClr val="3C3939"/>
                </a:solidFill>
                <a:latin typeface="Raleway" pitchFamily="34" charset="0"/>
                <a:ea typeface="Raleway" pitchFamily="34" charset="-122"/>
                <a:cs typeface="Raleway" pitchFamily="34" charset="-120"/>
              </a:rPr>
              <a:t>Тыныштық пен сырғанау үйкелісінің айырмашылығы</a:t>
            </a:r>
            <a:endParaRPr lang="en-US" sz="1250" dirty="0"/>
          </a:p>
        </p:txBody>
      </p:sp>
      <p:sp>
        <p:nvSpPr>
          <p:cNvPr id="12" name="Text 10"/>
          <p:cNvSpPr/>
          <p:nvPr/>
        </p:nvSpPr>
        <p:spPr>
          <a:xfrm>
            <a:off x="1212890" y="3452693"/>
            <a:ext cx="5945029" cy="206454"/>
          </a:xfrm>
          <a:prstGeom prst="rect">
            <a:avLst/>
          </a:prstGeom>
          <a:noFill/>
          <a:ln/>
        </p:spPr>
        <p:txBody>
          <a:bodyPr wrap="none" lIns="0" tIns="0" rIns="0" bIns="0" rtlCol="0" anchor="t"/>
          <a:lstStyle/>
          <a:p>
            <a:pPr algn="l" indent="0" marL="0">
              <a:lnSpc>
                <a:spcPts val="1600"/>
              </a:lnSpc>
              <a:buNone/>
            </a:pPr>
            <a:r>
              <a:rPr lang="en-US" sz="1000" dirty="0">
                <a:solidFill>
                  <a:srgbClr val="3C3939"/>
                </a:solidFill>
                <a:latin typeface="Roboto" pitchFamily="34" charset="0"/>
                <a:ea typeface="Roboto" pitchFamily="34" charset="-122"/>
                <a:cs typeface="Roboto" pitchFamily="34" charset="-120"/>
              </a:rPr>
              <a:t>Бұл екі үйкеліс түрінің қашан пайда болатынын және қайсысы күштірек екенін түсіндіріңіз.</a:t>
            </a:r>
            <a:endParaRPr lang="en-US" sz="1000" dirty="0"/>
          </a:p>
        </p:txBody>
      </p:sp>
      <p:sp>
        <p:nvSpPr>
          <p:cNvPr id="13" name="Shape 11"/>
          <p:cNvSpPr/>
          <p:nvPr/>
        </p:nvSpPr>
        <p:spPr>
          <a:xfrm>
            <a:off x="793790" y="3917156"/>
            <a:ext cx="290155" cy="290155"/>
          </a:xfrm>
          <a:prstGeom prst="roundRect">
            <a:avLst>
              <a:gd name="adj" fmla="val 18674"/>
            </a:avLst>
          </a:prstGeom>
          <a:solidFill>
            <a:srgbClr val="E1E1EA"/>
          </a:solidFill>
          <a:ln w="7620">
            <a:solidFill>
              <a:srgbClr val="C7C7D0"/>
            </a:solidFill>
            <a:prstDash val="solid"/>
          </a:ln>
        </p:spPr>
      </p:sp>
      <p:sp>
        <p:nvSpPr>
          <p:cNvPr id="14" name="Text 12"/>
          <p:cNvSpPr/>
          <p:nvPr/>
        </p:nvSpPr>
        <p:spPr>
          <a:xfrm>
            <a:off x="842070" y="3941266"/>
            <a:ext cx="193477" cy="241816"/>
          </a:xfrm>
          <a:prstGeom prst="rect">
            <a:avLst/>
          </a:prstGeom>
          <a:noFill/>
          <a:ln/>
        </p:spPr>
        <p:txBody>
          <a:bodyPr wrap="none" lIns="0" tIns="0" rIns="0" bIns="0" rtlCol="0" anchor="t"/>
          <a:lstStyle/>
          <a:p>
            <a:pPr algn="ctr" indent="0" marL="0">
              <a:lnSpc>
                <a:spcPts val="1500"/>
              </a:lnSpc>
              <a:buNone/>
            </a:pPr>
            <a:r>
              <a:rPr lang="en-US" sz="1500" dirty="0">
                <a:solidFill>
                  <a:srgbClr val="3C3939"/>
                </a:solidFill>
                <a:latin typeface="Raleway" pitchFamily="34" charset="0"/>
                <a:ea typeface="Raleway" pitchFamily="34" charset="-122"/>
                <a:cs typeface="Raleway" pitchFamily="34" charset="-120"/>
              </a:rPr>
              <a:t>3</a:t>
            </a:r>
            <a:endParaRPr lang="en-US" sz="1500" dirty="0"/>
          </a:p>
        </p:txBody>
      </p:sp>
      <p:sp>
        <p:nvSpPr>
          <p:cNvPr id="15" name="Text 13"/>
          <p:cNvSpPr/>
          <p:nvPr/>
        </p:nvSpPr>
        <p:spPr>
          <a:xfrm>
            <a:off x="1212890" y="3961448"/>
            <a:ext cx="2669858" cy="201454"/>
          </a:xfrm>
          <a:prstGeom prst="rect">
            <a:avLst/>
          </a:prstGeom>
          <a:noFill/>
          <a:ln/>
        </p:spPr>
        <p:txBody>
          <a:bodyPr wrap="none" lIns="0" tIns="0" rIns="0" bIns="0" rtlCol="0" anchor="t"/>
          <a:lstStyle/>
          <a:p>
            <a:pPr algn="l" indent="0" marL="0">
              <a:lnSpc>
                <a:spcPts val="1550"/>
              </a:lnSpc>
              <a:buNone/>
            </a:pPr>
            <a:r>
              <a:rPr lang="en-US" sz="1250" dirty="0">
                <a:solidFill>
                  <a:srgbClr val="3C3939"/>
                </a:solidFill>
                <a:latin typeface="Raleway" pitchFamily="34" charset="0"/>
                <a:ea typeface="Raleway" pitchFamily="34" charset="-122"/>
                <a:cs typeface="Raleway" pitchFamily="34" charset="-120"/>
              </a:rPr>
              <a:t>Домалау үйкелісінің артықшылығы</a:t>
            </a:r>
            <a:endParaRPr lang="en-US" sz="1250" dirty="0"/>
          </a:p>
        </p:txBody>
      </p:sp>
      <p:sp>
        <p:nvSpPr>
          <p:cNvPr id="16" name="Text 14"/>
          <p:cNvSpPr/>
          <p:nvPr/>
        </p:nvSpPr>
        <p:spPr>
          <a:xfrm>
            <a:off x="1212890" y="4291846"/>
            <a:ext cx="5945029" cy="206454"/>
          </a:xfrm>
          <a:prstGeom prst="rect">
            <a:avLst/>
          </a:prstGeom>
          <a:noFill/>
          <a:ln/>
        </p:spPr>
        <p:txBody>
          <a:bodyPr wrap="none" lIns="0" tIns="0" rIns="0" bIns="0" rtlCol="0" anchor="t"/>
          <a:lstStyle/>
          <a:p>
            <a:pPr algn="l" indent="0" marL="0">
              <a:lnSpc>
                <a:spcPts val="1600"/>
              </a:lnSpc>
              <a:buNone/>
            </a:pPr>
            <a:r>
              <a:rPr lang="en-US" sz="1000" dirty="0">
                <a:solidFill>
                  <a:srgbClr val="3C3939"/>
                </a:solidFill>
                <a:latin typeface="Roboto" pitchFamily="34" charset="0"/>
                <a:ea typeface="Roboto" pitchFamily="34" charset="-122"/>
                <a:cs typeface="Roboto" pitchFamily="34" charset="-120"/>
              </a:rPr>
              <a:t>Неліктен техникалық құрылғыларда домалау үйкелісі жиі қолданылатынын негіздеңіз.</a:t>
            </a:r>
            <a:endParaRPr lang="en-US" sz="1000" dirty="0"/>
          </a:p>
        </p:txBody>
      </p:sp>
      <p:sp>
        <p:nvSpPr>
          <p:cNvPr id="17" name="Text 15"/>
          <p:cNvSpPr/>
          <p:nvPr/>
        </p:nvSpPr>
        <p:spPr>
          <a:xfrm>
            <a:off x="7480102" y="1852017"/>
            <a:ext cx="3311485" cy="241816"/>
          </a:xfrm>
          <a:prstGeom prst="rect">
            <a:avLst/>
          </a:prstGeom>
          <a:noFill/>
          <a:ln/>
        </p:spPr>
        <p:txBody>
          <a:bodyPr wrap="none" lIns="0" tIns="0" rIns="0" bIns="0" rtlCol="0" anchor="t"/>
          <a:lstStyle/>
          <a:p>
            <a:pPr algn="l" indent="0" marL="0">
              <a:lnSpc>
                <a:spcPts val="1900"/>
              </a:lnSpc>
              <a:buNone/>
            </a:pPr>
            <a:r>
              <a:rPr lang="en-US" sz="1500" dirty="0">
                <a:solidFill>
                  <a:srgbClr val="1B1B27"/>
                </a:solidFill>
                <a:latin typeface="Raleway" pitchFamily="34" charset="0"/>
                <a:ea typeface="Raleway" pitchFamily="34" charset="-122"/>
                <a:cs typeface="Raleway" pitchFamily="34" charset="-120"/>
              </a:rPr>
              <a:t>Өзін-өзі бағалау: «Бағдаршам» әдісі</a:t>
            </a:r>
            <a:endParaRPr lang="en-US" sz="1500" dirty="0"/>
          </a:p>
        </p:txBody>
      </p:sp>
      <p:sp>
        <p:nvSpPr>
          <p:cNvPr id="18" name="Shape 16"/>
          <p:cNvSpPr/>
          <p:nvPr/>
        </p:nvSpPr>
        <p:spPr>
          <a:xfrm>
            <a:off x="7480102" y="2238851"/>
            <a:ext cx="6364129" cy="809982"/>
          </a:xfrm>
          <a:prstGeom prst="roundRect">
            <a:avLst>
              <a:gd name="adj" fmla="val 6689"/>
            </a:avLst>
          </a:prstGeom>
          <a:solidFill>
            <a:srgbClr val="E1E1EA"/>
          </a:solidFill>
          <a:ln w="7620">
            <a:solidFill>
              <a:srgbClr val="C7C7D0"/>
            </a:solidFill>
            <a:prstDash val="solid"/>
          </a:ln>
        </p:spPr>
      </p:sp>
      <p:sp>
        <p:nvSpPr>
          <p:cNvPr id="19" name="Text 17"/>
          <p:cNvSpPr/>
          <p:nvPr/>
        </p:nvSpPr>
        <p:spPr>
          <a:xfrm>
            <a:off x="7616666" y="2375416"/>
            <a:ext cx="1612583" cy="201454"/>
          </a:xfrm>
          <a:prstGeom prst="rect">
            <a:avLst/>
          </a:prstGeom>
          <a:noFill/>
          <a:ln/>
        </p:spPr>
        <p:txBody>
          <a:bodyPr wrap="none" lIns="0" tIns="0" rIns="0" bIns="0" rtlCol="0" anchor="t"/>
          <a:lstStyle/>
          <a:p>
            <a:pPr algn="l" indent="0" marL="0">
              <a:lnSpc>
                <a:spcPts val="1550"/>
              </a:lnSpc>
              <a:buNone/>
            </a:pPr>
            <a:r>
              <a:rPr lang="en-US" sz="1250" dirty="0">
                <a:solidFill>
                  <a:srgbClr val="000000"/>
                </a:solidFill>
                <a:latin typeface="Raleway" pitchFamily="34" charset="0"/>
                <a:ea typeface="Raleway" pitchFamily="34" charset="-122"/>
                <a:cs typeface="Raleway" pitchFamily="34" charset="-120"/>
              </a:rPr>
              <a:t>🔴</a:t>
            </a:r>
            <a:pPr algn="l" indent="0" marL="0">
              <a:lnSpc>
                <a:spcPts val="1550"/>
              </a:lnSpc>
              <a:buNone/>
            </a:pPr>
            <a:r>
              <a:rPr lang="en-US" sz="1250" dirty="0">
                <a:solidFill>
                  <a:srgbClr val="3C3939"/>
                </a:solidFill>
                <a:latin typeface="Raleway" pitchFamily="34" charset="0"/>
                <a:ea typeface="Raleway" pitchFamily="34" charset="-122"/>
                <a:cs typeface="Raleway" pitchFamily="34" charset="-120"/>
              </a:rPr>
              <a:t> Қызыл</a:t>
            </a:r>
            <a:endParaRPr lang="en-US" sz="1250" dirty="0"/>
          </a:p>
        </p:txBody>
      </p:sp>
      <p:sp>
        <p:nvSpPr>
          <p:cNvPr id="20" name="Text 18"/>
          <p:cNvSpPr/>
          <p:nvPr/>
        </p:nvSpPr>
        <p:spPr>
          <a:xfrm>
            <a:off x="7616666" y="2705814"/>
            <a:ext cx="6090999" cy="206454"/>
          </a:xfrm>
          <a:prstGeom prst="rect">
            <a:avLst/>
          </a:prstGeom>
          <a:noFill/>
          <a:ln/>
        </p:spPr>
        <p:txBody>
          <a:bodyPr wrap="none" lIns="0" tIns="0" rIns="0" bIns="0" rtlCol="0" anchor="t"/>
          <a:lstStyle/>
          <a:p>
            <a:pPr algn="l" indent="0" marL="0">
              <a:lnSpc>
                <a:spcPts val="1600"/>
              </a:lnSpc>
              <a:buNone/>
            </a:pPr>
            <a:r>
              <a:rPr lang="en-US" sz="1000" dirty="0">
                <a:solidFill>
                  <a:srgbClr val="3C3939"/>
                </a:solidFill>
                <a:latin typeface="Roboto" pitchFamily="34" charset="0"/>
                <a:ea typeface="Roboto" pitchFamily="34" charset="-122"/>
                <a:cs typeface="Roboto" pitchFamily="34" charset="-120"/>
              </a:rPr>
              <a:t>Тақырып маған түсініксіз. Қосымша түсініктеме қажет.</a:t>
            </a:r>
            <a:endParaRPr lang="en-US" sz="1000" dirty="0"/>
          </a:p>
        </p:txBody>
      </p:sp>
      <p:sp>
        <p:nvSpPr>
          <p:cNvPr id="21" name="Shape 19"/>
          <p:cNvSpPr/>
          <p:nvPr/>
        </p:nvSpPr>
        <p:spPr>
          <a:xfrm>
            <a:off x="7480102" y="3177778"/>
            <a:ext cx="6364129" cy="809982"/>
          </a:xfrm>
          <a:prstGeom prst="roundRect">
            <a:avLst>
              <a:gd name="adj" fmla="val 6689"/>
            </a:avLst>
          </a:prstGeom>
          <a:solidFill>
            <a:srgbClr val="E1E1EA"/>
          </a:solidFill>
          <a:ln w="7620">
            <a:solidFill>
              <a:srgbClr val="C7C7D0"/>
            </a:solidFill>
            <a:prstDash val="solid"/>
          </a:ln>
        </p:spPr>
      </p:sp>
      <p:sp>
        <p:nvSpPr>
          <p:cNvPr id="22" name="Text 20"/>
          <p:cNvSpPr/>
          <p:nvPr/>
        </p:nvSpPr>
        <p:spPr>
          <a:xfrm>
            <a:off x="7616666" y="3314343"/>
            <a:ext cx="1612583" cy="201454"/>
          </a:xfrm>
          <a:prstGeom prst="rect">
            <a:avLst/>
          </a:prstGeom>
          <a:noFill/>
          <a:ln/>
        </p:spPr>
        <p:txBody>
          <a:bodyPr wrap="none" lIns="0" tIns="0" rIns="0" bIns="0" rtlCol="0" anchor="t"/>
          <a:lstStyle/>
          <a:p>
            <a:pPr algn="l" indent="0" marL="0">
              <a:lnSpc>
                <a:spcPts val="1550"/>
              </a:lnSpc>
              <a:buNone/>
            </a:pPr>
            <a:r>
              <a:rPr lang="en-US" sz="1250" dirty="0">
                <a:solidFill>
                  <a:srgbClr val="000000"/>
                </a:solidFill>
                <a:latin typeface="Raleway" pitchFamily="34" charset="0"/>
                <a:ea typeface="Raleway" pitchFamily="34" charset="-122"/>
                <a:cs typeface="Raleway" pitchFamily="34" charset="-120"/>
              </a:rPr>
              <a:t>🟡</a:t>
            </a:r>
            <a:pPr algn="l" indent="0" marL="0">
              <a:lnSpc>
                <a:spcPts val="1550"/>
              </a:lnSpc>
              <a:buNone/>
            </a:pPr>
            <a:r>
              <a:rPr lang="en-US" sz="1250" dirty="0">
                <a:solidFill>
                  <a:srgbClr val="3C3939"/>
                </a:solidFill>
                <a:latin typeface="Raleway" pitchFamily="34" charset="0"/>
                <a:ea typeface="Raleway" pitchFamily="34" charset="-122"/>
                <a:cs typeface="Raleway" pitchFamily="34" charset="-120"/>
              </a:rPr>
              <a:t> Сары</a:t>
            </a:r>
            <a:endParaRPr lang="en-US" sz="1250" dirty="0"/>
          </a:p>
        </p:txBody>
      </p:sp>
      <p:sp>
        <p:nvSpPr>
          <p:cNvPr id="23" name="Text 21"/>
          <p:cNvSpPr/>
          <p:nvPr/>
        </p:nvSpPr>
        <p:spPr>
          <a:xfrm>
            <a:off x="7616666" y="3644741"/>
            <a:ext cx="6090999" cy="206454"/>
          </a:xfrm>
          <a:prstGeom prst="rect">
            <a:avLst/>
          </a:prstGeom>
          <a:noFill/>
          <a:ln/>
        </p:spPr>
        <p:txBody>
          <a:bodyPr wrap="none" lIns="0" tIns="0" rIns="0" bIns="0" rtlCol="0" anchor="t"/>
          <a:lstStyle/>
          <a:p>
            <a:pPr algn="l" indent="0" marL="0">
              <a:lnSpc>
                <a:spcPts val="1600"/>
              </a:lnSpc>
              <a:buNone/>
            </a:pPr>
            <a:r>
              <a:rPr lang="en-US" sz="1000" dirty="0">
                <a:solidFill>
                  <a:srgbClr val="3C3939"/>
                </a:solidFill>
                <a:latin typeface="Roboto" pitchFamily="34" charset="0"/>
                <a:ea typeface="Roboto" pitchFamily="34" charset="-122"/>
                <a:cs typeface="Roboto" pitchFamily="34" charset="-120"/>
              </a:rPr>
              <a:t>Жартылай түсіндім. Кейбір сұрақтарым бар.</a:t>
            </a:r>
            <a:endParaRPr lang="en-US" sz="1000" dirty="0"/>
          </a:p>
        </p:txBody>
      </p:sp>
      <p:sp>
        <p:nvSpPr>
          <p:cNvPr id="24" name="Shape 22"/>
          <p:cNvSpPr/>
          <p:nvPr/>
        </p:nvSpPr>
        <p:spPr>
          <a:xfrm>
            <a:off x="7480102" y="4116705"/>
            <a:ext cx="6364129" cy="809982"/>
          </a:xfrm>
          <a:prstGeom prst="roundRect">
            <a:avLst>
              <a:gd name="adj" fmla="val 6689"/>
            </a:avLst>
          </a:prstGeom>
          <a:solidFill>
            <a:srgbClr val="E1E1EA"/>
          </a:solidFill>
          <a:ln w="7620">
            <a:solidFill>
              <a:srgbClr val="C7C7D0"/>
            </a:solidFill>
            <a:prstDash val="solid"/>
          </a:ln>
        </p:spPr>
      </p:sp>
      <p:sp>
        <p:nvSpPr>
          <p:cNvPr id="25" name="Text 23"/>
          <p:cNvSpPr/>
          <p:nvPr/>
        </p:nvSpPr>
        <p:spPr>
          <a:xfrm>
            <a:off x="7616666" y="4253270"/>
            <a:ext cx="1612583" cy="201454"/>
          </a:xfrm>
          <a:prstGeom prst="rect">
            <a:avLst/>
          </a:prstGeom>
          <a:noFill/>
          <a:ln/>
        </p:spPr>
        <p:txBody>
          <a:bodyPr wrap="none" lIns="0" tIns="0" rIns="0" bIns="0" rtlCol="0" anchor="t"/>
          <a:lstStyle/>
          <a:p>
            <a:pPr algn="l" indent="0" marL="0">
              <a:lnSpc>
                <a:spcPts val="1550"/>
              </a:lnSpc>
              <a:buNone/>
            </a:pPr>
            <a:r>
              <a:rPr lang="en-US" sz="1250" dirty="0">
                <a:solidFill>
                  <a:srgbClr val="000000"/>
                </a:solidFill>
                <a:latin typeface="Raleway" pitchFamily="34" charset="0"/>
                <a:ea typeface="Raleway" pitchFamily="34" charset="-122"/>
                <a:cs typeface="Raleway" pitchFamily="34" charset="-120"/>
              </a:rPr>
              <a:t>🟢</a:t>
            </a:r>
            <a:pPr algn="l" indent="0" marL="0">
              <a:lnSpc>
                <a:spcPts val="1550"/>
              </a:lnSpc>
              <a:buNone/>
            </a:pPr>
            <a:r>
              <a:rPr lang="en-US" sz="1250" dirty="0">
                <a:solidFill>
                  <a:srgbClr val="3C3939"/>
                </a:solidFill>
                <a:latin typeface="Raleway" pitchFamily="34" charset="0"/>
                <a:ea typeface="Raleway" pitchFamily="34" charset="-122"/>
                <a:cs typeface="Raleway" pitchFamily="34" charset="-120"/>
              </a:rPr>
              <a:t> Жасыл</a:t>
            </a:r>
            <a:endParaRPr lang="en-US" sz="1250" dirty="0"/>
          </a:p>
        </p:txBody>
      </p:sp>
      <p:sp>
        <p:nvSpPr>
          <p:cNvPr id="26" name="Text 24"/>
          <p:cNvSpPr/>
          <p:nvPr/>
        </p:nvSpPr>
        <p:spPr>
          <a:xfrm>
            <a:off x="7616666" y="4583668"/>
            <a:ext cx="6090999" cy="206454"/>
          </a:xfrm>
          <a:prstGeom prst="rect">
            <a:avLst/>
          </a:prstGeom>
          <a:noFill/>
          <a:ln/>
        </p:spPr>
        <p:txBody>
          <a:bodyPr wrap="none" lIns="0" tIns="0" rIns="0" bIns="0" rtlCol="0" anchor="t"/>
          <a:lstStyle/>
          <a:p>
            <a:pPr algn="l" indent="0" marL="0">
              <a:lnSpc>
                <a:spcPts val="1600"/>
              </a:lnSpc>
              <a:buNone/>
            </a:pPr>
            <a:r>
              <a:rPr lang="en-US" sz="1000" dirty="0">
                <a:solidFill>
                  <a:srgbClr val="3C3939"/>
                </a:solidFill>
                <a:latin typeface="Roboto" pitchFamily="34" charset="0"/>
                <a:ea typeface="Roboto" pitchFamily="34" charset="-122"/>
                <a:cs typeface="Roboto" pitchFamily="34" charset="-120"/>
              </a:rPr>
              <a:t>Толық түсіндім. Басқаларға түсіндіре аламын.</a:t>
            </a:r>
            <a:endParaRPr lang="en-US" sz="1000" dirty="0"/>
          </a:p>
        </p:txBody>
      </p:sp>
      <p:sp>
        <p:nvSpPr>
          <p:cNvPr id="27" name="Text 25"/>
          <p:cNvSpPr/>
          <p:nvPr/>
        </p:nvSpPr>
        <p:spPr>
          <a:xfrm>
            <a:off x="793790" y="5265182"/>
            <a:ext cx="2491859" cy="241816"/>
          </a:xfrm>
          <a:prstGeom prst="rect">
            <a:avLst/>
          </a:prstGeom>
          <a:noFill/>
          <a:ln/>
        </p:spPr>
        <p:txBody>
          <a:bodyPr wrap="none" lIns="0" tIns="0" rIns="0" bIns="0" rtlCol="0" anchor="t"/>
          <a:lstStyle/>
          <a:p>
            <a:pPr algn="l" indent="0" marL="0">
              <a:lnSpc>
                <a:spcPts val="1900"/>
              </a:lnSpc>
              <a:buNone/>
            </a:pPr>
            <a:r>
              <a:rPr lang="en-US" sz="1500" dirty="0">
                <a:solidFill>
                  <a:srgbClr val="1B1B27"/>
                </a:solidFill>
                <a:latin typeface="Raleway" pitchFamily="34" charset="0"/>
                <a:ea typeface="Raleway" pitchFamily="34" charset="-122"/>
                <a:cs typeface="Raleway" pitchFamily="34" charset="-120"/>
              </a:rPr>
              <a:t>Құндылықтарға рефлексия</a:t>
            </a:r>
            <a:endParaRPr lang="en-US" sz="1500" dirty="0"/>
          </a:p>
        </p:txBody>
      </p:sp>
      <p:sp>
        <p:nvSpPr>
          <p:cNvPr id="28" name="Text 26"/>
          <p:cNvSpPr/>
          <p:nvPr/>
        </p:nvSpPr>
        <p:spPr>
          <a:xfrm>
            <a:off x="987266" y="5845493"/>
            <a:ext cx="12849344" cy="206454"/>
          </a:xfrm>
          <a:prstGeom prst="rect">
            <a:avLst/>
          </a:prstGeom>
          <a:noFill/>
          <a:ln/>
        </p:spPr>
        <p:txBody>
          <a:bodyPr wrap="none" lIns="0" tIns="0" rIns="0" bIns="0" rtlCol="0" anchor="t"/>
          <a:lstStyle/>
          <a:p>
            <a:pPr algn="l" indent="0" marL="0">
              <a:lnSpc>
                <a:spcPts val="1600"/>
              </a:lnSpc>
              <a:buNone/>
            </a:pPr>
            <a:r>
              <a:rPr lang="en-US" sz="1000" b="1" dirty="0">
                <a:solidFill>
                  <a:srgbClr val="3C3939"/>
                </a:solidFill>
                <a:latin typeface="Roboto" pitchFamily="34" charset="0"/>
                <a:ea typeface="Roboto" pitchFamily="34" charset="-122"/>
                <a:cs typeface="Roboto" pitchFamily="34" charset="-120"/>
              </a:rPr>
              <a:t>«Бірлік түбі – береке» дәйексөзіне қайта оралайық:</a:t>
            </a:r>
            <a:endParaRPr lang="en-US" sz="1000" dirty="0"/>
          </a:p>
        </p:txBody>
      </p:sp>
      <p:sp>
        <p:nvSpPr>
          <p:cNvPr id="29" name="Text 27"/>
          <p:cNvSpPr/>
          <p:nvPr/>
        </p:nvSpPr>
        <p:spPr>
          <a:xfrm>
            <a:off x="987266" y="6196965"/>
            <a:ext cx="12849344" cy="206454"/>
          </a:xfrm>
          <a:prstGeom prst="rect">
            <a:avLst/>
          </a:prstGeom>
          <a:noFill/>
          <a:ln/>
        </p:spPr>
        <p:txBody>
          <a:bodyPr wrap="none" lIns="0" tIns="0" rIns="0" bIns="0" rtlCol="0" anchor="t"/>
          <a:lstStyle/>
          <a:p>
            <a:pPr algn="l" indent="0" marL="0">
              <a:lnSpc>
                <a:spcPts val="1600"/>
              </a:lnSpc>
              <a:buNone/>
            </a:pPr>
            <a:r>
              <a:rPr lang="en-US" sz="1000" dirty="0">
                <a:solidFill>
                  <a:srgbClr val="3C3939"/>
                </a:solidFill>
                <a:latin typeface="Roboto" pitchFamily="34" charset="0"/>
                <a:ea typeface="Roboto" pitchFamily="34" charset="-122"/>
                <a:cs typeface="Roboto" pitchFamily="34" charset="-120"/>
              </a:rPr>
              <a:t>Бүгінгі сабақта біз бірлік пен ынтымақты қалай көрсеттік? Зерттеу мен есептерді орындауда кім сізге көмектесті? Сіз кімге көмек бердіңіз?</a:t>
            </a:r>
            <a:endParaRPr lang="en-US" sz="1000" dirty="0"/>
          </a:p>
        </p:txBody>
      </p:sp>
      <p:sp>
        <p:nvSpPr>
          <p:cNvPr id="30" name="Shape 28"/>
          <p:cNvSpPr/>
          <p:nvPr/>
        </p:nvSpPr>
        <p:spPr>
          <a:xfrm>
            <a:off x="793790" y="5700474"/>
            <a:ext cx="15240" cy="847963"/>
          </a:xfrm>
          <a:prstGeom prst="rect">
            <a:avLst/>
          </a:prstGeom>
          <a:solidFill>
            <a:srgbClr val="1B1B27"/>
          </a:solidFill>
          <a:ln/>
        </p:spPr>
      </p:sp>
      <p:pic>
        <p:nvPicPr>
          <p:cNvPr id="31" name="Image 0" descr="preencoded.png">    </p:cNvPr>
          <p:cNvPicPr>
            <a:picLocks noChangeAspect="1"/>
          </p:cNvPicPr>
          <p:nvPr/>
        </p:nvPicPr>
        <p:blipFill>
          <a:blip r:embed="rId1"/>
          <a:stretch>
            <a:fillRect/>
          </a:stretch>
        </p:blipFill>
        <p:spPr>
          <a:xfrm>
            <a:off x="793790" y="6693456"/>
            <a:ext cx="4261604" cy="825579"/>
          </a:xfrm>
          <a:prstGeom prst="rect">
            <a:avLst/>
          </a:prstGeom>
        </p:spPr>
      </p:pic>
      <p:sp>
        <p:nvSpPr>
          <p:cNvPr id="32" name="Text 29"/>
          <p:cNvSpPr/>
          <p:nvPr/>
        </p:nvSpPr>
        <p:spPr>
          <a:xfrm>
            <a:off x="922734" y="6822400"/>
            <a:ext cx="4003715" cy="412909"/>
          </a:xfrm>
          <a:prstGeom prst="rect">
            <a:avLst/>
          </a:prstGeom>
          <a:noFill/>
          <a:ln/>
        </p:spPr>
        <p:txBody>
          <a:bodyPr wrap="square" lIns="0" tIns="0" rIns="0" bIns="0" rtlCol="0" anchor="t"/>
          <a:lstStyle/>
          <a:p>
            <a:pPr algn="l" indent="0" marL="0">
              <a:lnSpc>
                <a:spcPts val="1600"/>
              </a:lnSpc>
              <a:buNone/>
            </a:pPr>
            <a:r>
              <a:rPr lang="en-US" sz="1000" dirty="0">
                <a:solidFill>
                  <a:srgbClr val="3C3939"/>
                </a:solidFill>
                <a:latin typeface="Roboto" pitchFamily="34" charset="0"/>
                <a:ea typeface="Roboto" pitchFamily="34" charset="-122"/>
                <a:cs typeface="Roboto" pitchFamily="34" charset="-120"/>
              </a:rPr>
              <a:t>«Жұптық жұмыста серігім маған беттердің айырмашылығын түсінуге көмектесті.»</a:t>
            </a:r>
            <a:endParaRPr lang="en-US" sz="1000" dirty="0"/>
          </a:p>
        </p:txBody>
      </p:sp>
      <p:pic>
        <p:nvPicPr>
          <p:cNvPr id="33" name="Image 1" descr="preencoded.png">    </p:cNvPr>
          <p:cNvPicPr>
            <a:picLocks noChangeAspect="1"/>
          </p:cNvPicPr>
          <p:nvPr/>
        </p:nvPicPr>
        <p:blipFill>
          <a:blip r:embed="rId2"/>
          <a:stretch>
            <a:fillRect/>
          </a:stretch>
        </p:blipFill>
        <p:spPr>
          <a:xfrm>
            <a:off x="5184338" y="6693456"/>
            <a:ext cx="4261604" cy="825579"/>
          </a:xfrm>
          <a:prstGeom prst="rect">
            <a:avLst/>
          </a:prstGeom>
        </p:spPr>
      </p:pic>
      <p:sp>
        <p:nvSpPr>
          <p:cNvPr id="34" name="Text 30"/>
          <p:cNvSpPr/>
          <p:nvPr/>
        </p:nvSpPr>
        <p:spPr>
          <a:xfrm>
            <a:off x="5313283" y="6822400"/>
            <a:ext cx="4003715" cy="412909"/>
          </a:xfrm>
          <a:prstGeom prst="rect">
            <a:avLst/>
          </a:prstGeom>
          <a:noFill/>
          <a:ln/>
        </p:spPr>
        <p:txBody>
          <a:bodyPr wrap="square" lIns="0" tIns="0" rIns="0" bIns="0" rtlCol="0" anchor="t"/>
          <a:lstStyle/>
          <a:p>
            <a:pPr algn="l" indent="0" marL="0">
              <a:lnSpc>
                <a:spcPts val="1600"/>
              </a:lnSpc>
              <a:buNone/>
            </a:pPr>
            <a:r>
              <a:rPr lang="en-US" sz="1000" dirty="0">
                <a:solidFill>
                  <a:srgbClr val="3C3939"/>
                </a:solidFill>
                <a:latin typeface="Roboto" pitchFamily="34" charset="0"/>
                <a:ea typeface="Roboto" pitchFamily="34" charset="-122"/>
                <a:cs typeface="Roboto" pitchFamily="34" charset="-120"/>
              </a:rPr>
              <a:t>«Топтық постер жасауда әркімнің пікірі маңызды болды. Бірге жұмыс істегенде оңай болды!»</a:t>
            </a:r>
            <a:endParaRPr lang="en-US" sz="1000" dirty="0"/>
          </a:p>
        </p:txBody>
      </p:sp>
      <p:pic>
        <p:nvPicPr>
          <p:cNvPr id="35" name="Image 2" descr="preencoded.png">    </p:cNvPr>
          <p:cNvPicPr>
            <a:picLocks noChangeAspect="1"/>
          </p:cNvPicPr>
          <p:nvPr/>
        </p:nvPicPr>
        <p:blipFill>
          <a:blip r:embed="rId3"/>
          <a:stretch>
            <a:fillRect/>
          </a:stretch>
        </p:blipFill>
        <p:spPr>
          <a:xfrm>
            <a:off x="9574887" y="6693456"/>
            <a:ext cx="4261723" cy="825579"/>
          </a:xfrm>
          <a:prstGeom prst="rect">
            <a:avLst/>
          </a:prstGeom>
        </p:spPr>
      </p:pic>
      <p:sp>
        <p:nvSpPr>
          <p:cNvPr id="36" name="Text 31"/>
          <p:cNvSpPr/>
          <p:nvPr/>
        </p:nvSpPr>
        <p:spPr>
          <a:xfrm>
            <a:off x="9703832" y="6822400"/>
            <a:ext cx="4003834" cy="412909"/>
          </a:xfrm>
          <a:prstGeom prst="rect">
            <a:avLst/>
          </a:prstGeom>
          <a:noFill/>
          <a:ln/>
        </p:spPr>
        <p:txBody>
          <a:bodyPr wrap="square" lIns="0" tIns="0" rIns="0" bIns="0" rtlCol="0" anchor="t"/>
          <a:lstStyle/>
          <a:p>
            <a:pPr algn="l" indent="0" marL="0">
              <a:lnSpc>
                <a:spcPts val="1600"/>
              </a:lnSpc>
              <a:buNone/>
            </a:pPr>
            <a:r>
              <a:rPr lang="en-US" sz="1000" dirty="0">
                <a:solidFill>
                  <a:srgbClr val="3C3939"/>
                </a:solidFill>
                <a:latin typeface="Roboto" pitchFamily="34" charset="0"/>
                <a:ea typeface="Roboto" pitchFamily="34" charset="-122"/>
                <a:cs typeface="Roboto" pitchFamily="34" charset="-120"/>
              </a:rPr>
              <a:t>«Есептерді шешуде бір-бірімізге түсіндіріп отырдық. Бұл өте пайдалы еді.»</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725686"/>
            <a:ext cx="5010507" cy="403146"/>
          </a:xfrm>
          <a:prstGeom prst="rect">
            <a:avLst/>
          </a:prstGeom>
          <a:noFill/>
          <a:ln/>
        </p:spPr>
        <p:txBody>
          <a:bodyPr wrap="none" lIns="0" tIns="0" rIns="0" bIns="0" rtlCol="0" anchor="t"/>
          <a:lstStyle/>
          <a:p>
            <a:pPr algn="l" indent="0" marL="0">
              <a:lnSpc>
                <a:spcPts val="3150"/>
              </a:lnSpc>
              <a:buNone/>
            </a:pPr>
            <a:r>
              <a:rPr lang="en-US" sz="2500" dirty="0">
                <a:solidFill>
                  <a:srgbClr val="1B1B27"/>
                </a:solidFill>
                <a:latin typeface="Raleway" pitchFamily="34" charset="0"/>
                <a:ea typeface="Raleway" pitchFamily="34" charset="-122"/>
                <a:cs typeface="Raleway" pitchFamily="34" charset="-120"/>
              </a:rPr>
              <a:t>Үйге тапсырма: Зерттеу жұмысы</a:t>
            </a:r>
            <a:endParaRPr lang="en-US" sz="2500" dirty="0"/>
          </a:p>
        </p:txBody>
      </p:sp>
      <p:sp>
        <p:nvSpPr>
          <p:cNvPr id="3" name="Text 1"/>
          <p:cNvSpPr/>
          <p:nvPr/>
        </p:nvSpPr>
        <p:spPr>
          <a:xfrm>
            <a:off x="793790" y="1386840"/>
            <a:ext cx="13042821" cy="206454"/>
          </a:xfrm>
          <a:prstGeom prst="rect">
            <a:avLst/>
          </a:prstGeom>
          <a:noFill/>
          <a:ln/>
        </p:spPr>
        <p:txBody>
          <a:bodyPr wrap="none" lIns="0" tIns="0" rIns="0" bIns="0" rtlCol="0" anchor="t"/>
          <a:lstStyle/>
          <a:p>
            <a:pPr algn="l" indent="0" marL="0">
              <a:lnSpc>
                <a:spcPts val="1600"/>
              </a:lnSpc>
              <a:buNone/>
            </a:pPr>
            <a:r>
              <a:rPr lang="en-US" sz="1000" dirty="0">
                <a:solidFill>
                  <a:srgbClr val="3C3939"/>
                </a:solidFill>
                <a:latin typeface="Roboto" pitchFamily="34" charset="0"/>
                <a:ea typeface="Roboto" pitchFamily="34" charset="-122"/>
                <a:cs typeface="Roboto" pitchFamily="34" charset="-120"/>
              </a:rPr>
              <a:t>Үйде немесе мектеп аймағында үйкеліс күшінің мысалдарын іздеп, жасанды интеллект көмегімен талдау жасайсыз. Бұл заманауи технологияны білім алуда қолдануды үйренесіз.</a:t>
            </a:r>
            <a:endParaRPr lang="en-US" sz="1000" dirty="0"/>
          </a:p>
        </p:txBody>
      </p:sp>
      <p:pic>
        <p:nvPicPr>
          <p:cNvPr id="4" name="Image 0" descr="preencoded.png">    </p:cNvPr>
          <p:cNvPicPr>
            <a:picLocks noChangeAspect="1"/>
          </p:cNvPicPr>
          <p:nvPr/>
        </p:nvPicPr>
        <p:blipFill>
          <a:blip r:embed="rId1"/>
          <a:stretch>
            <a:fillRect/>
          </a:stretch>
        </p:blipFill>
        <p:spPr>
          <a:xfrm>
            <a:off x="793790" y="1738313"/>
            <a:ext cx="644962" cy="1025366"/>
          </a:xfrm>
          <a:prstGeom prst="rect">
            <a:avLst/>
          </a:prstGeom>
        </p:spPr>
      </p:pic>
      <p:sp>
        <p:nvSpPr>
          <p:cNvPr id="5" name="Text 2"/>
          <p:cNvSpPr/>
          <p:nvPr/>
        </p:nvSpPr>
        <p:spPr>
          <a:xfrm>
            <a:off x="1567696" y="1867257"/>
            <a:ext cx="12268914" cy="483632"/>
          </a:xfrm>
          <a:prstGeom prst="rect">
            <a:avLst/>
          </a:prstGeom>
          <a:noFill/>
          <a:ln/>
        </p:spPr>
        <p:txBody>
          <a:bodyPr wrap="square" lIns="0" tIns="0" rIns="0" bIns="0" rtlCol="0" anchor="t"/>
          <a:lstStyle/>
          <a:p>
            <a:pPr algn="l" indent="0" marL="0">
              <a:lnSpc>
                <a:spcPts val="1900"/>
              </a:lnSpc>
              <a:buNone/>
            </a:pPr>
            <a:r>
              <a:rPr lang="en-US" sz="1500" dirty="0">
                <a:solidFill>
                  <a:srgbClr val="3C3939"/>
                </a:solidFill>
                <a:latin typeface="Raleway" pitchFamily="34" charset="0"/>
                <a:ea typeface="Raleway" pitchFamily="34" charset="-122"/>
                <a:cs typeface="Raleway" pitchFamily="34" charset="-120"/>
              </a:rPr>
              <a:t>1-қадам: Мысалдарды іздеу және фотоға түсіру: Үйіңізде, аулада немесе мектепте үйкеліс күші әсер ететін </a:t>
            </a:r>
            <a:pPr algn="l" indent="0" marL="0">
              <a:lnSpc>
                <a:spcPts val="1900"/>
              </a:lnSpc>
              <a:buNone/>
            </a:pPr>
            <a:r>
              <a:rPr lang="en-US" sz="1500" b="1" dirty="0">
                <a:solidFill>
                  <a:srgbClr val="3C3939"/>
                </a:solidFill>
                <a:latin typeface="Raleway" pitchFamily="34" charset="0"/>
                <a:ea typeface="Raleway" pitchFamily="34" charset="-122"/>
                <a:cs typeface="Raleway" pitchFamily="34" charset="-120"/>
              </a:rPr>
              <a:t>кемінде 5 жағдайды</a:t>
            </a:r>
            <a:pPr algn="l" indent="0" marL="0">
              <a:lnSpc>
                <a:spcPts val="1900"/>
              </a:lnSpc>
              <a:buNone/>
            </a:pPr>
            <a:r>
              <a:rPr lang="en-US" sz="1500" dirty="0">
                <a:solidFill>
                  <a:srgbClr val="3C3939"/>
                </a:solidFill>
                <a:latin typeface="Raleway" pitchFamily="34" charset="0"/>
                <a:ea typeface="Raleway" pitchFamily="34" charset="-122"/>
                <a:cs typeface="Raleway" pitchFamily="34" charset="-120"/>
              </a:rPr>
              <a:t> тауып, фотоға түсіріңіз.</a:t>
            </a:r>
            <a:endParaRPr lang="en-US" sz="1500" dirty="0"/>
          </a:p>
        </p:txBody>
      </p:sp>
      <p:sp>
        <p:nvSpPr>
          <p:cNvPr id="6" name="Text 3"/>
          <p:cNvSpPr/>
          <p:nvPr/>
        </p:nvSpPr>
        <p:spPr>
          <a:xfrm>
            <a:off x="1567696" y="2428280"/>
            <a:ext cx="12268914" cy="206454"/>
          </a:xfrm>
          <a:prstGeom prst="rect">
            <a:avLst/>
          </a:prstGeom>
          <a:noFill/>
          <a:ln/>
        </p:spPr>
        <p:txBody>
          <a:bodyPr wrap="none" lIns="0" tIns="0" rIns="0" bIns="0" rtlCol="0" anchor="t"/>
          <a:lstStyle/>
          <a:p>
            <a:pPr algn="l" marL="342900" indent="-342900">
              <a:lnSpc>
                <a:spcPts val="1600"/>
              </a:lnSpc>
              <a:buSzPct val="100000"/>
              <a:buChar char="•"/>
            </a:pPr>
            <a:r>
              <a:rPr lang="en-US" sz="1000" dirty="0">
                <a:solidFill>
                  <a:srgbClr val="3C3939"/>
                </a:solidFill>
                <a:latin typeface="Roboto" pitchFamily="34" charset="0"/>
                <a:ea typeface="Roboto" pitchFamily="34" charset="-122"/>
                <a:cs typeface="Roboto" pitchFamily="34" charset="-120"/>
              </a:rPr>
              <a:t>Есік ілмегі, Велосипед дөңгелегі, Баспалдақ, Кілем, Аяқ киім табаны, Терезе шеңбері, Құрылыс құралдары</a:t>
            </a:r>
            <a:endParaRPr lang="en-US" sz="1000" dirty="0"/>
          </a:p>
        </p:txBody>
      </p:sp>
      <p:pic>
        <p:nvPicPr>
          <p:cNvPr id="7" name="Image 1" descr="preencoded.png">    </p:cNvPr>
          <p:cNvPicPr>
            <a:picLocks noChangeAspect="1"/>
          </p:cNvPicPr>
          <p:nvPr/>
        </p:nvPicPr>
        <p:blipFill>
          <a:blip r:embed="rId2"/>
          <a:stretch>
            <a:fillRect/>
          </a:stretch>
        </p:blipFill>
        <p:spPr>
          <a:xfrm>
            <a:off x="793790" y="2763679"/>
            <a:ext cx="644962" cy="1135023"/>
          </a:xfrm>
          <a:prstGeom prst="rect">
            <a:avLst/>
          </a:prstGeom>
        </p:spPr>
      </p:pic>
      <p:sp>
        <p:nvSpPr>
          <p:cNvPr id="8" name="Text 4"/>
          <p:cNvSpPr/>
          <p:nvPr/>
        </p:nvSpPr>
        <p:spPr>
          <a:xfrm>
            <a:off x="1567696" y="2892623"/>
            <a:ext cx="9718953" cy="241816"/>
          </a:xfrm>
          <a:prstGeom prst="rect">
            <a:avLst/>
          </a:prstGeom>
          <a:noFill/>
          <a:ln/>
        </p:spPr>
        <p:txBody>
          <a:bodyPr wrap="none" lIns="0" tIns="0" rIns="0" bIns="0" rtlCol="0" anchor="t"/>
          <a:lstStyle/>
          <a:p>
            <a:pPr algn="l" indent="0" marL="0">
              <a:lnSpc>
                <a:spcPts val="1900"/>
              </a:lnSpc>
              <a:buNone/>
            </a:pPr>
            <a:r>
              <a:rPr lang="en-US" sz="1500" dirty="0">
                <a:solidFill>
                  <a:srgbClr val="3C3939"/>
                </a:solidFill>
                <a:latin typeface="Raleway" pitchFamily="34" charset="0"/>
                <a:ea typeface="Raleway" pitchFamily="34" charset="-122"/>
                <a:cs typeface="Raleway" pitchFamily="34" charset="-120"/>
              </a:rPr>
              <a:t>2-қадам: ИИ-ға сұрақ қою: ChatGPT немесе басқа жасанды интеллект қызметіне мына сұрақты жазыңыз:</a:t>
            </a:r>
            <a:endParaRPr lang="en-US" sz="1500" dirty="0"/>
          </a:p>
        </p:txBody>
      </p:sp>
      <p:sp>
        <p:nvSpPr>
          <p:cNvPr id="9" name="Text 5"/>
          <p:cNvSpPr/>
          <p:nvPr/>
        </p:nvSpPr>
        <p:spPr>
          <a:xfrm>
            <a:off x="1761173" y="3279458"/>
            <a:ext cx="12075438" cy="412909"/>
          </a:xfrm>
          <a:prstGeom prst="rect">
            <a:avLst/>
          </a:prstGeom>
          <a:noFill/>
          <a:ln/>
        </p:spPr>
        <p:txBody>
          <a:bodyPr wrap="square" lIns="0" tIns="0" rIns="0" bIns="0" rtlCol="0" anchor="t"/>
          <a:lstStyle/>
          <a:p>
            <a:pPr algn="l" indent="0" marL="0">
              <a:lnSpc>
                <a:spcPts val="1600"/>
              </a:lnSpc>
              <a:buNone/>
            </a:pPr>
            <a:r>
              <a:rPr lang="en-US" sz="1000" dirty="0">
                <a:solidFill>
                  <a:srgbClr val="3C3939"/>
                </a:solidFill>
                <a:latin typeface="Roboto" pitchFamily="34" charset="0"/>
                <a:ea typeface="Roboto" pitchFamily="34" charset="-122"/>
                <a:cs typeface="Roboto" pitchFamily="34" charset="-120"/>
              </a:rPr>
              <a:t>«Мына жағдайларда (фотоларды сипаттап жаз: мысалы, есік ілмегі, велосипед дөңгелегі т.б.) қандай үйкеліс түрі (тыныштық, сырғанау, домалау) басым және оның техника қауіпсіздігі үшін маңызы қандай?»</a:t>
            </a:r>
            <a:endParaRPr lang="en-US" sz="1000" dirty="0"/>
          </a:p>
        </p:txBody>
      </p:sp>
      <p:sp>
        <p:nvSpPr>
          <p:cNvPr id="10" name="Shape 6"/>
          <p:cNvSpPr/>
          <p:nvPr/>
        </p:nvSpPr>
        <p:spPr>
          <a:xfrm>
            <a:off x="1567696" y="3279458"/>
            <a:ext cx="15240" cy="412909"/>
          </a:xfrm>
          <a:prstGeom prst="rect">
            <a:avLst/>
          </a:prstGeom>
          <a:solidFill>
            <a:srgbClr val="1B1B27"/>
          </a:solidFill>
          <a:ln/>
        </p:spPr>
      </p:sp>
      <p:pic>
        <p:nvPicPr>
          <p:cNvPr id="11" name="Image 2" descr="preencoded.png">    </p:cNvPr>
          <p:cNvPicPr>
            <a:picLocks noChangeAspect="1"/>
          </p:cNvPicPr>
          <p:nvPr/>
        </p:nvPicPr>
        <p:blipFill>
          <a:blip r:embed="rId3"/>
          <a:stretch>
            <a:fillRect/>
          </a:stretch>
        </p:blipFill>
        <p:spPr>
          <a:xfrm>
            <a:off x="793790" y="3898702"/>
            <a:ext cx="644962" cy="1570553"/>
          </a:xfrm>
          <a:prstGeom prst="rect">
            <a:avLst/>
          </a:prstGeom>
        </p:spPr>
      </p:pic>
      <p:sp>
        <p:nvSpPr>
          <p:cNvPr id="12" name="Text 7"/>
          <p:cNvSpPr/>
          <p:nvPr/>
        </p:nvSpPr>
        <p:spPr>
          <a:xfrm>
            <a:off x="1567696" y="4027646"/>
            <a:ext cx="2319933" cy="241816"/>
          </a:xfrm>
          <a:prstGeom prst="rect">
            <a:avLst/>
          </a:prstGeom>
          <a:noFill/>
          <a:ln/>
        </p:spPr>
        <p:txBody>
          <a:bodyPr wrap="none" lIns="0" tIns="0" rIns="0" bIns="0" rtlCol="0" anchor="t"/>
          <a:lstStyle/>
          <a:p>
            <a:pPr algn="l" indent="0" marL="0">
              <a:lnSpc>
                <a:spcPts val="1900"/>
              </a:lnSpc>
              <a:buNone/>
            </a:pPr>
            <a:r>
              <a:rPr lang="en-US" sz="1500" dirty="0">
                <a:solidFill>
                  <a:srgbClr val="3C3939"/>
                </a:solidFill>
                <a:latin typeface="Raleway" pitchFamily="34" charset="0"/>
                <a:ea typeface="Raleway" pitchFamily="34" charset="-122"/>
                <a:cs typeface="Raleway" pitchFamily="34" charset="-120"/>
              </a:rPr>
              <a:t>3-қадам: Конспект жасау</a:t>
            </a:r>
            <a:endParaRPr lang="en-US" sz="1500" dirty="0"/>
          </a:p>
        </p:txBody>
      </p:sp>
      <p:sp>
        <p:nvSpPr>
          <p:cNvPr id="13" name="Text 8"/>
          <p:cNvSpPr/>
          <p:nvPr/>
        </p:nvSpPr>
        <p:spPr>
          <a:xfrm>
            <a:off x="1567696" y="4346853"/>
            <a:ext cx="12268914" cy="206454"/>
          </a:xfrm>
          <a:prstGeom prst="rect">
            <a:avLst/>
          </a:prstGeom>
          <a:noFill/>
          <a:ln/>
        </p:spPr>
        <p:txBody>
          <a:bodyPr wrap="none" lIns="0" tIns="0" rIns="0" bIns="0" rtlCol="0" anchor="t"/>
          <a:lstStyle/>
          <a:p>
            <a:pPr algn="l" indent="0" marL="0">
              <a:lnSpc>
                <a:spcPts val="1600"/>
              </a:lnSpc>
              <a:buNone/>
            </a:pPr>
            <a:r>
              <a:rPr lang="en-US" sz="1000" dirty="0">
                <a:solidFill>
                  <a:srgbClr val="3C3939"/>
                </a:solidFill>
                <a:latin typeface="Roboto" pitchFamily="34" charset="0"/>
                <a:ea typeface="Roboto" pitchFamily="34" charset="-122"/>
                <a:cs typeface="Roboto" pitchFamily="34" charset="-120"/>
              </a:rPr>
              <a:t>ИИ берген жауапты өз сөзіңізбен дәптерге жазыңыз. Әр объект үшін төмендегіні көрсетіңіз:</a:t>
            </a:r>
            <a:endParaRPr lang="en-US" sz="1000" dirty="0"/>
          </a:p>
        </p:txBody>
      </p:sp>
      <p:sp>
        <p:nvSpPr>
          <p:cNvPr id="14" name="Text 9"/>
          <p:cNvSpPr/>
          <p:nvPr/>
        </p:nvSpPr>
        <p:spPr>
          <a:xfrm>
            <a:off x="1567696" y="4630698"/>
            <a:ext cx="12268914" cy="206454"/>
          </a:xfrm>
          <a:prstGeom prst="rect">
            <a:avLst/>
          </a:prstGeom>
          <a:noFill/>
          <a:ln/>
        </p:spPr>
        <p:txBody>
          <a:bodyPr wrap="none" lIns="0" tIns="0" rIns="0" bIns="0" rtlCol="0" anchor="t"/>
          <a:lstStyle/>
          <a:p>
            <a:pPr algn="l" marL="342900" indent="-342900">
              <a:lnSpc>
                <a:spcPts val="1600"/>
              </a:lnSpc>
              <a:buSzPct val="100000"/>
              <a:buChar char="•"/>
            </a:pPr>
            <a:r>
              <a:rPr lang="en-US" sz="1000" b="1" dirty="0">
                <a:solidFill>
                  <a:srgbClr val="3C3939"/>
                </a:solidFill>
                <a:latin typeface="Roboto" pitchFamily="34" charset="0"/>
                <a:ea typeface="Roboto" pitchFamily="34" charset="-122"/>
                <a:cs typeface="Roboto" pitchFamily="34" charset="-120"/>
              </a:rPr>
              <a:t>Объектінің аты:</a:t>
            </a:r>
            <a:pPr algn="l" indent="0" marL="0">
              <a:lnSpc>
                <a:spcPts val="1600"/>
              </a:lnSpc>
              <a:buNone/>
            </a:pPr>
            <a:r>
              <a:rPr lang="en-US" sz="1000" dirty="0">
                <a:solidFill>
                  <a:srgbClr val="3C3939"/>
                </a:solidFill>
                <a:latin typeface="Roboto" pitchFamily="34" charset="0"/>
                <a:ea typeface="Roboto" pitchFamily="34" charset="-122"/>
                <a:cs typeface="Roboto" pitchFamily="34" charset="-120"/>
              </a:rPr>
              <a:t> (мысалы, велосипед дөңгелегі)</a:t>
            </a:r>
            <a:endParaRPr lang="en-US" sz="1000" dirty="0"/>
          </a:p>
        </p:txBody>
      </p:sp>
      <p:sp>
        <p:nvSpPr>
          <p:cNvPr id="15" name="Text 10"/>
          <p:cNvSpPr/>
          <p:nvPr/>
        </p:nvSpPr>
        <p:spPr>
          <a:xfrm>
            <a:off x="1567696" y="4882277"/>
            <a:ext cx="12268914" cy="206454"/>
          </a:xfrm>
          <a:prstGeom prst="rect">
            <a:avLst/>
          </a:prstGeom>
          <a:noFill/>
          <a:ln/>
        </p:spPr>
        <p:txBody>
          <a:bodyPr wrap="none" lIns="0" tIns="0" rIns="0" bIns="0" rtlCol="0" anchor="t"/>
          <a:lstStyle/>
          <a:p>
            <a:pPr algn="l" marL="342900" indent="-342900">
              <a:lnSpc>
                <a:spcPts val="1600"/>
              </a:lnSpc>
              <a:buSzPct val="100000"/>
              <a:buChar char="•"/>
            </a:pPr>
            <a:r>
              <a:rPr lang="en-US" sz="1000" b="1" dirty="0">
                <a:solidFill>
                  <a:srgbClr val="3C3939"/>
                </a:solidFill>
                <a:latin typeface="Roboto" pitchFamily="34" charset="0"/>
                <a:ea typeface="Roboto" pitchFamily="34" charset="-122"/>
                <a:cs typeface="Roboto" pitchFamily="34" charset="-120"/>
              </a:rPr>
              <a:t>Үйкеліс түрі:</a:t>
            </a:r>
            <a:pPr algn="l" indent="0" marL="0">
              <a:lnSpc>
                <a:spcPts val="1600"/>
              </a:lnSpc>
              <a:buNone/>
            </a:pPr>
            <a:r>
              <a:rPr lang="en-US" sz="1000" dirty="0">
                <a:solidFill>
                  <a:srgbClr val="3C3939"/>
                </a:solidFill>
                <a:latin typeface="Roboto" pitchFamily="34" charset="0"/>
                <a:ea typeface="Roboto" pitchFamily="34" charset="-122"/>
                <a:cs typeface="Roboto" pitchFamily="34" charset="-120"/>
              </a:rPr>
              <a:t> (домалау үйкелісі)</a:t>
            </a:r>
            <a:endParaRPr lang="en-US" sz="1000" dirty="0"/>
          </a:p>
        </p:txBody>
      </p:sp>
      <p:sp>
        <p:nvSpPr>
          <p:cNvPr id="16" name="Text 11"/>
          <p:cNvSpPr/>
          <p:nvPr/>
        </p:nvSpPr>
        <p:spPr>
          <a:xfrm>
            <a:off x="1567696" y="5133856"/>
            <a:ext cx="12268914" cy="206454"/>
          </a:xfrm>
          <a:prstGeom prst="rect">
            <a:avLst/>
          </a:prstGeom>
          <a:noFill/>
          <a:ln/>
        </p:spPr>
        <p:txBody>
          <a:bodyPr wrap="none" lIns="0" tIns="0" rIns="0" bIns="0" rtlCol="0" anchor="t"/>
          <a:lstStyle/>
          <a:p>
            <a:pPr algn="l" marL="342900" indent="-342900">
              <a:lnSpc>
                <a:spcPts val="1600"/>
              </a:lnSpc>
              <a:buSzPct val="100000"/>
              <a:buChar char="•"/>
            </a:pPr>
            <a:r>
              <a:rPr lang="en-US" sz="1000" b="1" dirty="0">
                <a:solidFill>
                  <a:srgbClr val="3C3939"/>
                </a:solidFill>
                <a:latin typeface="Roboto" pitchFamily="34" charset="0"/>
                <a:ea typeface="Roboto" pitchFamily="34" charset="-122"/>
                <a:cs typeface="Roboto" pitchFamily="34" charset="-120"/>
              </a:rPr>
              <a:t>Маңызы:</a:t>
            </a:r>
            <a:pPr algn="l" indent="0" marL="0">
              <a:lnSpc>
                <a:spcPts val="1600"/>
              </a:lnSpc>
              <a:buNone/>
            </a:pPr>
            <a:r>
              <a:rPr lang="en-US" sz="1000" dirty="0">
                <a:solidFill>
                  <a:srgbClr val="3C3939"/>
                </a:solidFill>
                <a:latin typeface="Roboto" pitchFamily="34" charset="0"/>
                <a:ea typeface="Roboto" pitchFamily="34" charset="-122"/>
                <a:cs typeface="Roboto" pitchFamily="34" charset="-120"/>
              </a:rPr>
              <a:t> (тегіс қозғалыс үшін үйкелісті азайтады, энергия үнемдейді)</a:t>
            </a:r>
            <a:endParaRPr lang="en-US" sz="1000" dirty="0"/>
          </a:p>
        </p:txBody>
      </p:sp>
      <p:pic>
        <p:nvPicPr>
          <p:cNvPr id="17" name="Image 3" descr="preencoded.png">    </p:cNvPr>
          <p:cNvPicPr>
            <a:picLocks noChangeAspect="1"/>
          </p:cNvPicPr>
          <p:nvPr/>
        </p:nvPicPr>
        <p:blipFill>
          <a:blip r:embed="rId4"/>
          <a:stretch>
            <a:fillRect/>
          </a:stretch>
        </p:blipFill>
        <p:spPr>
          <a:xfrm>
            <a:off x="793790" y="5469255"/>
            <a:ext cx="644962" cy="783550"/>
          </a:xfrm>
          <a:prstGeom prst="rect">
            <a:avLst/>
          </a:prstGeom>
        </p:spPr>
      </p:pic>
      <p:sp>
        <p:nvSpPr>
          <p:cNvPr id="18" name="Text 12"/>
          <p:cNvSpPr/>
          <p:nvPr/>
        </p:nvSpPr>
        <p:spPr>
          <a:xfrm>
            <a:off x="1567696" y="5598200"/>
            <a:ext cx="2689265" cy="241816"/>
          </a:xfrm>
          <a:prstGeom prst="rect">
            <a:avLst/>
          </a:prstGeom>
          <a:noFill/>
          <a:ln/>
        </p:spPr>
        <p:txBody>
          <a:bodyPr wrap="none" lIns="0" tIns="0" rIns="0" bIns="0" rtlCol="0" anchor="t"/>
          <a:lstStyle/>
          <a:p>
            <a:pPr algn="l" indent="0" marL="0">
              <a:lnSpc>
                <a:spcPts val="1900"/>
              </a:lnSpc>
              <a:buNone/>
            </a:pPr>
            <a:r>
              <a:rPr lang="en-US" sz="1500" dirty="0">
                <a:solidFill>
                  <a:srgbClr val="3C3939"/>
                </a:solidFill>
                <a:latin typeface="Raleway" pitchFamily="34" charset="0"/>
                <a:ea typeface="Raleway" pitchFamily="34" charset="-122"/>
                <a:cs typeface="Raleway" pitchFamily="34" charset="-120"/>
              </a:rPr>
              <a:t>4-қадам: Сыныпта таныстыру</a:t>
            </a:r>
            <a:endParaRPr lang="en-US" sz="1500" dirty="0"/>
          </a:p>
        </p:txBody>
      </p:sp>
      <p:sp>
        <p:nvSpPr>
          <p:cNvPr id="19" name="Text 13"/>
          <p:cNvSpPr/>
          <p:nvPr/>
        </p:nvSpPr>
        <p:spPr>
          <a:xfrm>
            <a:off x="1567696" y="5917406"/>
            <a:ext cx="12268914" cy="206454"/>
          </a:xfrm>
          <a:prstGeom prst="rect">
            <a:avLst/>
          </a:prstGeom>
          <a:noFill/>
          <a:ln/>
        </p:spPr>
        <p:txBody>
          <a:bodyPr wrap="none" lIns="0" tIns="0" rIns="0" bIns="0" rtlCol="0" anchor="t"/>
          <a:lstStyle/>
          <a:p>
            <a:pPr algn="l" indent="0" marL="0">
              <a:lnSpc>
                <a:spcPts val="1600"/>
              </a:lnSpc>
              <a:buNone/>
            </a:pPr>
            <a:r>
              <a:rPr lang="en-US" sz="1000" dirty="0">
                <a:solidFill>
                  <a:srgbClr val="3C3939"/>
                </a:solidFill>
                <a:latin typeface="Roboto" pitchFamily="34" charset="0"/>
                <a:ea typeface="Roboto" pitchFamily="34" charset="-122"/>
                <a:cs typeface="Roboto" pitchFamily="34" charset="-120"/>
              </a:rPr>
              <a:t>Келесі сабақта 1–2 мысалыңызды сыныптастарыңызға таныстыруға дайын болыңыз. Фотоны көрсетіп, үйкеліс түрін және оның маңызын түсіндіріңіз.</a:t>
            </a:r>
            <a:endParaRPr lang="en-US" sz="1000" dirty="0"/>
          </a:p>
        </p:txBody>
      </p:sp>
      <p:sp>
        <p:nvSpPr>
          <p:cNvPr id="20" name="Shape 14"/>
          <p:cNvSpPr/>
          <p:nvPr/>
        </p:nvSpPr>
        <p:spPr>
          <a:xfrm>
            <a:off x="793790" y="6397823"/>
            <a:ext cx="13042821" cy="754499"/>
          </a:xfrm>
          <a:prstGeom prst="roundRect">
            <a:avLst>
              <a:gd name="adj" fmla="val 7181"/>
            </a:avLst>
          </a:prstGeom>
          <a:solidFill>
            <a:srgbClr val="D2D2E0"/>
          </a:solidFill>
          <a:ln/>
        </p:spPr>
      </p:sp>
      <p:pic>
        <p:nvPicPr>
          <p:cNvPr id="21" name="Image 4" descr="preencoded.png">    </p:cNvPr>
          <p:cNvPicPr>
            <a:picLocks noChangeAspect="1"/>
          </p:cNvPicPr>
          <p:nvPr/>
        </p:nvPicPr>
        <p:blipFill>
          <a:blip r:embed="rId5"/>
          <a:stretch>
            <a:fillRect/>
          </a:stretch>
        </p:blipFill>
        <p:spPr>
          <a:xfrm>
            <a:off x="922734" y="6590824"/>
            <a:ext cx="161211" cy="128945"/>
          </a:xfrm>
          <a:prstGeom prst="rect">
            <a:avLst/>
          </a:prstGeom>
        </p:spPr>
      </p:pic>
      <p:sp>
        <p:nvSpPr>
          <p:cNvPr id="22" name="Text 15"/>
          <p:cNvSpPr/>
          <p:nvPr/>
        </p:nvSpPr>
        <p:spPr>
          <a:xfrm>
            <a:off x="1212890" y="6558915"/>
            <a:ext cx="12494776" cy="412909"/>
          </a:xfrm>
          <a:prstGeom prst="rect">
            <a:avLst/>
          </a:prstGeom>
          <a:noFill/>
          <a:ln/>
        </p:spPr>
        <p:txBody>
          <a:bodyPr wrap="square" lIns="0" tIns="0" rIns="0" bIns="0" rtlCol="0" anchor="t"/>
          <a:lstStyle/>
          <a:p>
            <a:pPr algn="l" indent="0" marL="0">
              <a:lnSpc>
                <a:spcPts val="1600"/>
              </a:lnSpc>
              <a:buNone/>
            </a:pPr>
            <a:r>
              <a:rPr lang="en-US" sz="1000" b="1" dirty="0">
                <a:solidFill>
                  <a:srgbClr val="000000"/>
                </a:solidFill>
                <a:latin typeface="Roboto" pitchFamily="34" charset="0"/>
                <a:ea typeface="Roboto" pitchFamily="34" charset="-122"/>
                <a:cs typeface="Roboto" pitchFamily="34" charset="-120"/>
              </a:rPr>
              <a:t>Маңызды ескертпе:</a:t>
            </a:r>
            <a:pPr algn="l" indent="0" marL="0">
              <a:lnSpc>
                <a:spcPts val="1600"/>
              </a:lnSpc>
              <a:buNone/>
            </a:pPr>
            <a:r>
              <a:rPr lang="en-US" sz="1000" dirty="0">
                <a:solidFill>
                  <a:srgbClr val="000000"/>
                </a:solidFill>
                <a:latin typeface="Roboto" pitchFamily="34" charset="0"/>
                <a:ea typeface="Roboto" pitchFamily="34" charset="-122"/>
                <a:cs typeface="Roboto" pitchFamily="34" charset="-120"/>
              </a:rPr>
              <a:t> Жасанды интеллектті </a:t>
            </a:r>
            <a:pPr algn="l" indent="0" marL="0">
              <a:lnSpc>
                <a:spcPts val="1600"/>
              </a:lnSpc>
              <a:buNone/>
            </a:pPr>
            <a:r>
              <a:rPr lang="en-US" sz="1000" b="1" dirty="0">
                <a:solidFill>
                  <a:srgbClr val="000000"/>
                </a:solidFill>
                <a:latin typeface="Roboto" pitchFamily="34" charset="0"/>
                <a:ea typeface="Roboto" pitchFamily="34" charset="-122"/>
                <a:cs typeface="Roboto" pitchFamily="34" charset="-120"/>
              </a:rPr>
              <a:t>қауіпсіз</a:t>
            </a:r>
            <a:pPr algn="l" indent="0" marL="0">
              <a:lnSpc>
                <a:spcPts val="1600"/>
              </a:lnSpc>
              <a:buNone/>
            </a:pPr>
            <a:r>
              <a:rPr lang="en-US" sz="1000" dirty="0">
                <a:solidFill>
                  <a:srgbClr val="000000"/>
                </a:solidFill>
                <a:latin typeface="Roboto" pitchFamily="34" charset="0"/>
                <a:ea typeface="Roboto" pitchFamily="34" charset="-122"/>
                <a:cs typeface="Roboto" pitchFamily="34" charset="-120"/>
              </a:rPr>
              <a:t> және </a:t>
            </a:r>
            <a:pPr algn="l" indent="0" marL="0">
              <a:lnSpc>
                <a:spcPts val="1600"/>
              </a:lnSpc>
              <a:buNone/>
            </a:pPr>
            <a:r>
              <a:rPr lang="en-US" sz="1000" b="1" dirty="0">
                <a:solidFill>
                  <a:srgbClr val="000000"/>
                </a:solidFill>
                <a:latin typeface="Roboto" pitchFamily="34" charset="0"/>
                <a:ea typeface="Roboto" pitchFamily="34" charset="-122"/>
                <a:cs typeface="Roboto" pitchFamily="34" charset="-120"/>
              </a:rPr>
              <a:t>сыпайы</a:t>
            </a:r>
            <a:pPr algn="l" indent="0" marL="0">
              <a:lnSpc>
                <a:spcPts val="1600"/>
              </a:lnSpc>
              <a:buNone/>
            </a:pPr>
            <a:r>
              <a:rPr lang="en-US" sz="1000" dirty="0">
                <a:solidFill>
                  <a:srgbClr val="000000"/>
                </a:solidFill>
                <a:latin typeface="Roboto" pitchFamily="34" charset="0"/>
                <a:ea typeface="Roboto" pitchFamily="34" charset="-122"/>
                <a:cs typeface="Roboto" pitchFamily="34" charset="-120"/>
              </a:rPr>
              <a:t> пайдаланыңыз. ИИ – бұл көмекші құрал, бірақ түсіну және өз ойыңызды қалыптастыру сізге байланысты. ИИ-дан алған жауапты мұқият оқып, өзіңіз түсінгеннен кейін ғана жазыңыз.</a:t>
            </a:r>
            <a:endParaRPr lang="en-US" sz="1000" dirty="0"/>
          </a:p>
        </p:txBody>
      </p:sp>
      <p:sp>
        <p:nvSpPr>
          <p:cNvPr id="23" name="Text 16"/>
          <p:cNvSpPr/>
          <p:nvPr/>
        </p:nvSpPr>
        <p:spPr>
          <a:xfrm>
            <a:off x="793790" y="7297341"/>
            <a:ext cx="13042821" cy="206454"/>
          </a:xfrm>
          <a:prstGeom prst="rect">
            <a:avLst/>
          </a:prstGeom>
          <a:noFill/>
          <a:ln/>
        </p:spPr>
        <p:txBody>
          <a:bodyPr wrap="none" lIns="0" tIns="0" rIns="0" bIns="0" rtlCol="0" anchor="t"/>
          <a:lstStyle/>
          <a:p>
            <a:pPr algn="l" indent="0" marL="0">
              <a:lnSpc>
                <a:spcPts val="1600"/>
              </a:lnSpc>
              <a:buNone/>
            </a:pPr>
            <a:r>
              <a:rPr lang="en-US" sz="1000" b="1" dirty="0">
                <a:solidFill>
                  <a:srgbClr val="3C3939"/>
                </a:solidFill>
                <a:latin typeface="Roboto" pitchFamily="34" charset="0"/>
                <a:ea typeface="Roboto" pitchFamily="34" charset="-122"/>
                <a:cs typeface="Roboto" pitchFamily="34" charset="-120"/>
              </a:rPr>
              <a:t>Сәттілік тілейміз!</a:t>
            </a:r>
            <a:pPr algn="l" indent="0" marL="0">
              <a:lnSpc>
                <a:spcPts val="1600"/>
              </a:lnSpc>
              <a:buNone/>
            </a:pPr>
            <a:r>
              <a:rPr lang="en-US" sz="1000" dirty="0">
                <a:solidFill>
                  <a:srgbClr val="3C3939"/>
                </a:solidFill>
                <a:latin typeface="Roboto" pitchFamily="34" charset="0"/>
                <a:ea typeface="Roboto" pitchFamily="34" charset="-122"/>
                <a:cs typeface="Roboto" pitchFamily="34" charset="-120"/>
              </a:rPr>
              <a:t> Зерттеуіңіз қызықты және пайдалы болсын. Келесі сабақта кездескенше! </a:t>
            </a:r>
            <a:pPr algn="l" indent="0" marL="0">
              <a:lnSpc>
                <a:spcPts val="1600"/>
              </a:lnSpc>
              <a:buNone/>
            </a:pPr>
            <a:r>
              <a:rPr lang="en-US" sz="1000" dirty="0">
                <a:solidFill>
                  <a:srgbClr val="000000"/>
                </a:solidFill>
                <a:latin typeface="Roboto" pitchFamily="34" charset="0"/>
                <a:ea typeface="Roboto" pitchFamily="34" charset="-122"/>
                <a:cs typeface="Roboto" pitchFamily="34" charset="-120"/>
              </a:rPr>
              <a: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2025-12-07T07:49:23Z</dcterms:created>
  <dcterms:modified xsi:type="dcterms:W3CDTF">2025-12-07T07:49:23Z</dcterms:modified>
</cp:coreProperties>
</file>